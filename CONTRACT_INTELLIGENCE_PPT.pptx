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5033" autoAdjust="0"/>
  </p:normalViewPr>
  <p:slideViewPr>
    <p:cSldViewPr snapToGrid="0">
      <p:cViewPr varScale="1">
        <p:scale>
          <a:sx n="75" d="100"/>
          <a:sy n="75" d="100"/>
        </p:scale>
        <p:origin x="58" y="2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Good morning. Let me begin with one question: which contract term governs today? A rate may appear in a base agreement, change in an amendment, change again in a corrected version, and still look perfectly valid in every file. In healthcare, choosing the wrong version can affect a payment, a negotiation, or an audit. CIP was built to determine the governing answer - and prove it.</a:t>
            </a:r>
          </a:p>
          <a:p>
            <a:endParaRPr/>
          </a:p>
          <a:p>
            <a:r>
              <a:t>Transition: To understand why that is difficult, we first need to understand the contract estate.</a:t>
            </a:r>
          </a:p>
          <a:p>
            <a:endParaRPr/>
          </a:p>
          <a:p>
            <a:r>
              <a:t>Delivery: Open slowly. Pause after the question.</a:t>
            </a:r>
          </a:p>
          <a:p>
            <a:endParaRPr/>
          </a:p>
          <a:p>
            <a:r>
              <a:t>[Sources]</a:t>
            </a:r>
          </a:p>
          <a:p>
            <a:r>
              <a:t>- APPLICATION_SHOWCASE.md - What This Application Is</a:t>
            </a:r>
          </a:p>
          <a:p>
            <a:r>
              <a:t>- PIPELINE_SHOWCASE.md - The Vision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implemented corpus already contains more than 10,500 documents, about 408,000 pages, 27 gigabytes of source material, and 328 providers. But volume is only the visible problem. The deeper problem is structural: versions, amendment chains, repeated numbering, scanned pages, inconsistent names, and missing current-state metadata. A normal search can find several plausible answers. It cannot tell us which answer is legally and temporally valid now.</a:t>
            </a:r>
          </a:p>
          <a:p>
            <a:endParaRPr/>
          </a:p>
          <a:p>
            <a:r>
              <a:t>Transition: One provider makes that complexity tangible.</a:t>
            </a:r>
          </a:p>
          <a:p>
            <a:endParaRPr/>
          </a:p>
          <a:p>
            <a:r>
              <a:t>Delivery: Use the four figures as anchors; do not read every line.</a:t>
            </a:r>
          </a:p>
          <a:p>
            <a:endParaRPr/>
          </a:p>
          <a:p>
            <a:r>
              <a:t>[Sources]</a:t>
            </a:r>
          </a:p>
          <a:p>
            <a:r>
              <a:t>- PPT_CONTENT_OUTLINE.md - Contract Landscape</a:t>
            </a:r>
          </a:p>
          <a:p>
            <a:r>
              <a:t>- COMPETITION_WINNER.md - Supersession Problem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Mercy General illustrates the real problem: 109 files, four base agreements, 66 sub-contract IDs, and parallel contract chains. An analyst cannot simply search for a rate. They must identify plausible files, reconstruct the amendment history, separate parallel versions, and often ask a contract expert which document was executed. That creates more than a thousand possible interpretation paths. The danger is not only lost time. A stale but plausible answer can apply a superseded reimbursement term, miss a renewal window, or leave an audit trail that has to be rebuilt manually.</a:t>
            </a:r>
          </a:p>
          <a:p>
            <a:endParaRPr/>
          </a:p>
          <a:p>
            <a:r>
              <a:t>Transition: So the solution could not be a chatbot placed on top of a folder of PDFs.</a:t>
            </a:r>
          </a:p>
          <a:p>
            <a:endParaRPr/>
          </a:p>
          <a:p>
            <a:r>
              <a:t>Delivery: Tell this as a human investigation, moving left to right.</a:t>
            </a:r>
          </a:p>
          <a:p>
            <a:endParaRPr/>
          </a:p>
          <a:p>
            <a:r>
              <a:t>[Sources]</a:t>
            </a:r>
          </a:p>
          <a:p>
            <a:r>
              <a:t>- COMPETITION_WINNER.md - Mercy General and Supersession Problem</a:t>
            </a:r>
          </a:p>
          <a:p>
            <a:r>
              <a:t>- PPT_CONTENT_OUTLINE.md - Deep Dive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Our design has three jobs. First, digitize each contract and its supporting documents once. Second, continuously resolve relationships, dates, supersession, and current-effective state. Third, reuse that governed intelligence across questions, comparisons, renewals, and portfolio analytics. The governing principle is simple: deterministic logic where possible, AI where necessary, and evidence at every step.</a:t>
            </a:r>
          </a:p>
          <a:p>
            <a:endParaRPr/>
          </a:p>
          <a:p>
            <a:r>
              <a:t>Transition: The data pipeline is what turns that principle into an enterprise foundation.</a:t>
            </a:r>
          </a:p>
          <a:p>
            <a:endParaRPr/>
          </a:p>
          <a:p>
            <a:r>
              <a:t>Delivery: Emphasize the three verbs: digitize, resolve, reuse.</a:t>
            </a:r>
          </a:p>
          <a:p>
            <a:endParaRPr/>
          </a:p>
          <a:p>
            <a:r>
              <a:t>[Sources]</a:t>
            </a:r>
          </a:p>
          <a:p>
            <a:r>
              <a:t>- PIPELINE_SHOWCASE.md - Digitize Once, Reuse Everywhere</a:t>
            </a:r>
          </a:p>
          <a:p>
            <a:r>
              <a:t>- APPLICATION_SHOWCASE.md - Architecture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This diagram shows the complete data journey. On the left are the source documents: contracts, amendments, exhibits, rate sheets, and reference files. In ingestion, Auto Loader detects new or changed files, OCR converts scanned pages to text, and layout extraction preserves tables and page structure. Processing then chunks the text, extracts metadata, recognizes clauses and entities, normalizes inconsistent rate terminology, and links amendments. The result is structured contract data: providers, contracts, rates, obligations, compliance terms, deadlines, and events. That data is stored in three complementary forms - processed files in the lake, governed relational tables, and vector embeddings for semantic retrieval. The serving layer combines search, natural-language processing, ranking, business rules, calculations, and confidence checks. Only after all of that does the application receive intelligence-ready data. Underneath are sixteen orchestrated stages and forty-five governed Delta tables. Checkpoints, file hashes, distributed OCR, incremental MERGE, and changed-unit re-indexing mean we process what changed rather than rebuild everything. More than 10,500 documents are implemented today; the same pipeline supports incremental expansion toward 30,000-plus.</a:t>
            </a:r>
          </a:p>
          <a:p>
            <a:endParaRPr dirty="0"/>
          </a:p>
          <a:p>
            <a:r>
              <a:rPr dirty="0"/>
              <a:t>Transition: But scalable extraction still does not answer the hardest question: which version governs?</a:t>
            </a:r>
          </a:p>
          <a:p>
            <a:endParaRPr dirty="0"/>
          </a:p>
          <a:p>
            <a:r>
              <a:rPr dirty="0"/>
              <a:t>Delivery: Walk across the diagram in seven stages. Slow down on structured state and incremental scale.</a:t>
            </a:r>
          </a:p>
          <a:p>
            <a:endParaRPr dirty="0"/>
          </a:p>
          <a:p>
            <a:r>
              <a:rPr dirty="0"/>
              <a:t>[Sources]</a:t>
            </a:r>
          </a:p>
          <a:p>
            <a:r>
              <a:rPr dirty="0"/>
              <a:t>- </a:t>
            </a:r>
            <a:r>
              <a:rPr dirty="0" err="1"/>
              <a:t>PIPELINE_SHOWCASE.md</a:t>
            </a:r>
            <a:r>
              <a:rPr dirty="0"/>
              <a:t> - Technology Stack and 16 Pipeline Stages</a:t>
            </a:r>
          </a:p>
          <a:p>
            <a:r>
              <a:rPr dirty="0"/>
              <a:t>- </a:t>
            </a:r>
            <a:r>
              <a:rPr dirty="0" err="1"/>
              <a:t>PPT_CONTENT_OUTLINE.md</a:t>
            </a:r>
            <a:r>
              <a:rPr dirty="0"/>
              <a:t> - Databricks Pipeline Architecture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state engine is the technical heart of CIP. It reconstructs the chain from base agreement to amendment, partial replacement, corrected version, and current state. It evaluates lifecycle, effective dates, version relationships, provision-level supersession, and parallel contract chains independently. The output is not merely a document marked current. It is a defensible lineage: a contract fact, its state relationship, and the exact document and page supporting it. That is how retrieval can return information that is both relevant and valid now.</a:t>
            </a:r>
          </a:p>
          <a:p>
            <a:endParaRPr/>
          </a:p>
          <a:p>
            <a:r>
              <a:t>Transition: Once state is resolved, the next challenge is recovering all of the evidence without missing exact language or related provisions.</a:t>
            </a:r>
          </a:p>
          <a:p>
            <a:endParaRPr/>
          </a:p>
          <a:p>
            <a:r>
              <a:t>Delivery: Trace the chain, then land on lineage.</a:t>
            </a:r>
          </a:p>
          <a:p>
            <a:endParaRPr/>
          </a:p>
          <a:p>
            <a:r>
              <a:t>[Sources]</a:t>
            </a:r>
          </a:p>
          <a:p>
            <a:r>
              <a:t>- PIPELINE_SHOWCASE.md - Stage 07 State Engine</a:t>
            </a:r>
          </a:p>
          <a:p>
            <a:r>
              <a:t>- COMPETITION_WINNER.md - The Supersession Problem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Generic RAG normally embeds text and retrieves the nearest passages. CIP uses four channels because legal and financial questions fail in different ways. Semantic search handles varied language. Lexical search finds exact terms and dollar values. Metadata and SQL apply provider, date, and current-state filters. Structural retrieval follows related clauses and amendment chains. Reciprocal-rank fusion combines that evidence, and domain normalization maps inconsistent labels to a common taxonomy. This is contract reasoning, not simple document search.</a:t>
            </a:r>
          </a:p>
          <a:p>
            <a:endParaRPr/>
          </a:p>
          <a:p>
            <a:r>
              <a:t>Transition: The application then turns this governed evidence into a usable business experience.</a:t>
            </a:r>
          </a:p>
          <a:p>
            <a:endParaRPr/>
          </a:p>
          <a:p>
            <a:r>
              <a:t>Delivery: Contrast the four channels; avoid deep algorithm detail.</a:t>
            </a:r>
          </a:p>
          <a:p>
            <a:endParaRPr/>
          </a:p>
          <a:p>
            <a:r>
              <a:t>[Sources]</a:t>
            </a:r>
          </a:p>
          <a:p>
            <a:r>
              <a:t>- PIPELINE_SHOWCASE.md - 4-Channel Hybrid Retrieval</a:t>
            </a:r>
          </a:p>
          <a:p>
            <a:r>
              <a:t>- APPLICATION_SHOWCASE.md - Data Retrieval and Evidence Gathering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application diagram shows how users interact with the foundation. Contract Operations, Finance, Compliance, Network Strategy, and leadership enter through a natural-language interface with contract views, dashboards, alerts, and document access. In the backend, query understanding identifies intent and data requirements. A retrieval orchestrator then chooses the right combination of structured data, vector search, business rules, calculations, and original documents. The AI and analytics engine synthesizes only after the evidence has been gathered. Validation checks citations, confidence, completeness, and whether the answer is actually supported. The response is delivered with source links, page references, supporting tables, confidence indicators, and suggested follow-up questions. Underneath, role-based security, audit monitoring, governance, and user feedback make the process controllable. Sixteen question routes and more than thirty specialized tools allow one question to use different capabilities - for example, a rate lookup, an amendment-chain traversal, a comparison, and a calculation. AI coordinates the work; it does not replace the data model or business logic.</a:t>
            </a:r>
          </a:p>
          <a:p>
            <a:endParaRPr/>
          </a:p>
          <a:p>
            <a:r>
              <a:t>Transition: That separation is also how we control trust and cost.</a:t>
            </a:r>
          </a:p>
          <a:p>
            <a:endParaRPr/>
          </a:p>
          <a:p>
            <a:r>
              <a:t>Delivery: Explain the diagram from personas to response, then the controls along the bottom.</a:t>
            </a:r>
          </a:p>
          <a:p>
            <a:endParaRPr/>
          </a:p>
          <a:p>
            <a:r>
              <a:t>[Sources]</a:t>
            </a:r>
          </a:p>
          <a:p>
            <a:r>
              <a:t>- APPLICATION_SHOWCASE.md - Application Architecture and Question-to-Answer Flow</a:t>
            </a:r>
          </a:p>
          <a:p>
            <a:r>
              <a:t>- APPLICATION_SHOWCASE.md - Specialized Tools and Frontend Experience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Before a question is answered, five pipeline gates have already checked OCR quality, extraction structure, data integrity, contract state, and retrieval readiness. After the question, layered controls validate routing, numeric consistency, provider identity, dates, absence claims, grounding, citations, and completeness. If evidence is insufficient, the system should refuse or lower confidence rather than manufacture certainty. Most of these checks use Python, SQL, and rules - not another LLM call. The same philosophy controls cost: simple work stays deterministic, tools retrieve only what is needed, and current testing keeps even complicated answers typically below one dollar of LLM inference, excluding shared Databricks compute.</a:t>
            </a:r>
          </a:p>
          <a:p>
            <a:endParaRPr/>
          </a:p>
          <a:p>
            <a:r>
              <a:t>Transition: The best way to see the difference is through one governing-answer example.</a:t>
            </a:r>
          </a:p>
          <a:p>
            <a:endParaRPr/>
          </a:p>
          <a:p>
            <a:r>
              <a:t>Delivery: Stress that most controls are deterministic and zero-token.</a:t>
            </a:r>
          </a:p>
          <a:p>
            <a:endParaRPr/>
          </a:p>
          <a:p>
            <a:r>
              <a:t>[Sources]</a:t>
            </a:r>
          </a:p>
          <a:p>
            <a:r>
              <a:t>- PIPELINE_SHOWCASE.md - 5-Gate Quality Framework</a:t>
            </a:r>
          </a:p>
          <a:p>
            <a:r>
              <a:t>- APPLICATION_SHOWCASE.md - Hallucination Prevention and Answer Validation</a:t>
            </a:r>
          </a:p>
          <a:p>
            <a:r>
              <a:t>- BUSINESS_VALUE.md - Technology-Driven Cost Optimization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Consider the question: what is the current inpatient per-diem rate, and which amendment established it? A conventional assistant might find the earlier rate because the wording is clear and highly relevant. CIP first resolves the current contract state, then retrieves both the governing term and the superseded history. The answer is 2,847 dollars per day, established by the Fifteenth Amendment CM; the earlier 2,614-dollar rate is identified as superseded. On the right, the evidence panel shows the source document, page and section, the superseded document, the checks performed, and the confidence basis. The value is not the fluent sentence. The value is that the answer, evidence, and lineage agree.</a:t>
            </a:r>
          </a:p>
          <a:p>
            <a:endParaRPr/>
          </a:p>
          <a:p>
            <a:r>
              <a:t>Transition: Once that capability exists, it becomes reusable far beyond a single question.</a:t>
            </a:r>
          </a:p>
          <a:p>
            <a:endParaRPr/>
          </a:p>
          <a:p>
            <a:r>
              <a:t>Delivery: Pause after the answer and point to the evidence panel.</a:t>
            </a:r>
          </a:p>
          <a:p>
            <a:endParaRPr/>
          </a:p>
          <a:p>
            <a:r>
              <a:t>[Sources]</a:t>
            </a:r>
          </a:p>
          <a:p>
            <a:r>
              <a:t>- COMPETITION_WINNER.md - Before vs. After Scenario</a:t>
            </a:r>
          </a:p>
          <a:p>
            <a:r>
              <a:t>- APPLICATION_SHOWCASE.md - Evidence Panel and Process Trail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same governed foundation can support claims and utilization decisions, provider relations and network strategy, analytics, compliance, audit, and executive visibility. Each function uses a different view, but they no longer need separate interpretations of the same contract. This is the enterprise idea behind Global Contract Intelligence: digitize the knowledge once, govern it centrally, and reuse it across workflows.</a:t>
            </a:r>
          </a:p>
          <a:p>
            <a:endParaRPr/>
          </a:p>
          <a:p>
            <a:r>
              <a:t>Transition: That reuse is also the source of the economic value.</a:t>
            </a:r>
          </a:p>
          <a:p>
            <a:endParaRPr/>
          </a:p>
          <a:p>
            <a:r>
              <a:t>Delivery: Describe the operating model, not hypothetical user adoption.</a:t>
            </a:r>
          </a:p>
          <a:p>
            <a:endParaRPr/>
          </a:p>
          <a:p>
            <a:r>
              <a:t>[Sources]</a:t>
            </a:r>
          </a:p>
          <a:p>
            <a:r>
              <a:t>- PIPELINE_SHOWCASE.md - Who This Transforms</a:t>
            </a:r>
          </a:p>
          <a:p>
            <a:r>
              <a:t>- BUSINESS_VALUE.md - Wider Business Benefits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technology is ready to use: more than 10,500 documents have been processed, the pipeline and application are implemented, and the contract-state and evidence workflow is operational. The client has recognized an estimated annual opportunity of roughly 690 thousand to 1.04 million dollars: 308 thousand from reduced research effort, 54 thousand from onboarding, 179 thousand from renewal preparation, and 150 to 500 thousand from potential vendor avoidance. These are estimated opportunities, not realized savings, because active adoption and benefits measurement come next. The path is controlled deployment, incremental expansion toward 30,000-plus documents, and a Stellarus-led route for possible multi-plan productization. No external pilot or license is represented here as committed.</a:t>
            </a:r>
          </a:p>
          <a:p>
            <a:endParaRPr/>
          </a:p>
          <a:p>
            <a:r>
              <a:t>Transition: That honest separation between technology readiness and realized value also strengthens the comparison with the other finalists.</a:t>
            </a:r>
          </a:p>
          <a:p>
            <a:endParaRPr/>
          </a:p>
          <a:p>
            <a:r>
              <a:t>Delivery: Be precise: implemented capability, estimated value, next-stage adoption.</a:t>
            </a:r>
          </a:p>
          <a:p>
            <a:endParaRPr/>
          </a:p>
          <a:p>
            <a:r>
              <a:t>[Sources]</a:t>
            </a:r>
          </a:p>
          <a:p>
            <a:r>
              <a:t>- BUSINESS_VALUE.md - Client-Recognized Estimated Value</a:t>
            </a:r>
          </a:p>
          <a:p>
            <a:r>
              <a:t>- User-confirmed deployment and adoption status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other finalists solve worthwhile but narrower problems. Cloud Pulse optimizes cloud operations from structured metrics. CRMA organizes experiment intelligence. Delphi combines document retrieval and natural-language-to-SQL for general questions. CIP starts with a harder state problem: legal, financial, and temporal precedence across a large historical corpus. It then spans ingestion, OCR, structured extraction, a 45-table model, supersession state, four-channel retrieval, specialized tools, validation, and a full application. The distinction is not that CIP uses more AI. It is that CIP uses AI more selectively inside a much larger governed system. The product is the complete document-to-decision chain.</a:t>
            </a:r>
          </a:p>
          <a:p>
            <a:endParaRPr/>
          </a:p>
          <a:p>
            <a:r>
              <a:t>Transition: Three breakthroughs explain why that chain is difficult to reproduce.</a:t>
            </a:r>
          </a:p>
          <a:p>
            <a:endParaRPr/>
          </a:p>
          <a:p>
            <a:r>
              <a:t>Delivery: Stay respectful. Compare categories and engineering span, not people.</a:t>
            </a:r>
          </a:p>
          <a:p>
            <a:endParaRPr/>
          </a:p>
          <a:p>
            <a:r>
              <a:t>[Sources]</a:t>
            </a:r>
          </a:p>
          <a:p>
            <a:r>
              <a:t>- COMPETITION_WINNER.md - Head-to-Head Comparison and Hardest Problems</a:t>
            </a:r>
          </a:p>
          <a:p>
            <a:r>
              <a:t>- Submitted finalist documentation summarized in COMPETITION_WINNER.md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First, supersession-aware state: the system computes what governs when several documents contain plausible terms. Second, deterministic-first trust: Python, SQL, validation rules, and source checks surround the model so unsupported claims can be caught or refused. Third, a domain-specific agent: routing, decomposition, and specialized tools choose the right evidence and logic for each question. Together, these required data engineering, AI engineering, retrieval, governance, full-stack development, testing, and deep contract-domain reasoning. The innovation is not a model call. It is the engineered system around it.</a:t>
            </a:r>
          </a:p>
          <a:p>
            <a:endParaRPr/>
          </a:p>
          <a:p>
            <a:r>
              <a:t>Transition: That brings us back to the question we started with.</a:t>
            </a:r>
          </a:p>
          <a:p>
            <a:endParaRPr/>
          </a:p>
          <a:p>
            <a:r>
              <a:t>Delivery: Land one sentence on each breakthrough.</a:t>
            </a:r>
          </a:p>
          <a:p>
            <a:endParaRPr/>
          </a:p>
          <a:p>
            <a:r>
              <a:t>[Sources]</a:t>
            </a:r>
          </a:p>
          <a:p>
            <a:r>
              <a:t>- COMPETITION_WINNER.md - Lessons Learned and Hardest Problems</a:t>
            </a:r>
          </a:p>
          <a:p>
            <a:r>
              <a:t>- PIPELINE_SHOWCASE.md - Technical Innovation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Which contract term governs today? CIP can answer because it does the work beneath the answer: more than 10,500 documents structured, a sixteen-stage pipeline, forty-five governed tables, supersession-aware state, layered validation, and page-level evidence. It is ready for controlled adoption and measurement, with a credible path to enterprise reuse. This is not a chatbot over documents. It is an enterprise contract-intelligence foundation - from raw contracts to the governing answer, with the evidence to prove it.</a:t>
            </a:r>
          </a:p>
          <a:p>
            <a:endParaRPr/>
          </a:p>
          <a:p>
            <a:r>
              <a:t>Transition: Thank you. I am happy to take your questions.</a:t>
            </a:r>
          </a:p>
          <a:p>
            <a:endParaRPr/>
          </a:p>
          <a:p>
            <a:r>
              <a:t>Delivery: Finish slowly and decisively. Do not add a generic thank-you line before the final sentence.</a:t>
            </a:r>
          </a:p>
          <a:p>
            <a:endParaRPr/>
          </a:p>
          <a:p>
            <a:r>
              <a:t>[Sources]</a:t>
            </a:r>
          </a:p>
          <a:p>
            <a:r>
              <a:t>- APPLICATION_SHOWCASE.md - Bottom Line</a:t>
            </a:r>
          </a:p>
          <a:p>
            <a:r>
              <a:t>- PIPELINE_SHOWCASE.md - Bottom Line</a:t>
            </a:r>
          </a:p>
          <a:p>
            <a:r>
              <a:t>- BUSINESS_VALUE.md - Estimated Opportunity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71B2E"/>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2C6D80BB-3C16-4226-BE49-2DFA3E5563FD}"/>
              </a:ext>
            </a:extLst>
          </p:cNvPr>
          <p:cNvSpPr>
            <a:spLocks noGrp="1"/>
          </p:cNvSpPr>
          <p:nvPr/>
        </p:nvSpPr>
        <p:spPr>
          <a:xfrm>
            <a:off x="0" y="0"/>
            <a:ext cx="12192000" cy="6858000"/>
          </a:xfrm>
          <a:prstGeom prst="rect">
            <a:avLst/>
          </a:prstGeom>
          <a:solidFill>
            <a:srgbClr val="071B2E"/>
          </a:solidFill>
          <a:ln w="0">
            <a:noFill/>
            <a:prstDash val="solid"/>
          </a:ln>
        </p:spPr>
        <p:txBody>
          <a:bodyPr/>
          <a:lstStyle/>
          <a:p>
            <a:endParaRPr lang="en-IN"/>
          </a:p>
        </p:txBody>
      </p:sp>
      <p:sp>
        <p:nvSpPr>
          <p:cNvPr id="2" name="Rectangle 1">
            <a:extLst>
              <a:ext uri="{FF2B5EF4-FFF2-40B4-BE49-F238E27FC236}">
                <a16:creationId xmlns:a16="http://schemas.microsoft.com/office/drawing/2014/main" id="{CA57B572-CF75-40BF-B6A1-4EA973403983}"/>
              </a:ext>
            </a:extLst>
          </p:cNvPr>
          <p:cNvSpPr>
            <a:spLocks noGrp="1"/>
          </p:cNvSpPr>
          <p:nvPr/>
        </p:nvSpPr>
        <p:spPr>
          <a:xfrm>
            <a:off x="8382000" y="0"/>
            <a:ext cx="3810000" cy="6858000"/>
          </a:xfrm>
          <a:prstGeom prst="rect">
            <a:avLst/>
          </a:prstGeom>
          <a:solidFill>
            <a:srgbClr val="0B2D50"/>
          </a:solidFill>
          <a:ln w="0">
            <a:noFill/>
            <a:prstDash val="solid"/>
          </a:ln>
        </p:spPr>
        <p:txBody>
          <a:bodyPr/>
          <a:lstStyle/>
          <a:p>
            <a:endParaRPr lang="en-IN"/>
          </a:p>
        </p:txBody>
      </p:sp>
      <p:sp>
        <p:nvSpPr>
          <p:cNvPr id="3" name="Rectangle 2">
            <a:extLst>
              <a:ext uri="{FF2B5EF4-FFF2-40B4-BE49-F238E27FC236}">
                <a16:creationId xmlns:a16="http://schemas.microsoft.com/office/drawing/2014/main" id="{379FF26E-A0D0-4345-9C38-EDD56AB14E86}"/>
              </a:ext>
            </a:extLst>
          </p:cNvPr>
          <p:cNvSpPr>
            <a:spLocks noGrp="1"/>
          </p:cNvSpPr>
          <p:nvPr/>
        </p:nvSpPr>
        <p:spPr>
          <a:xfrm>
            <a:off x="647700" y="552450"/>
            <a:ext cx="4762500" cy="209550"/>
          </a:xfrm>
          <a:prstGeom prst="rect">
            <a:avLst/>
          </a:prstGeom>
          <a:noFill/>
          <a:ln w="0">
            <a:noFill/>
            <a:prstDash val="solid"/>
          </a:ln>
        </p:spPr>
        <p:txBody>
          <a:bodyPr/>
          <a:lstStyle/>
          <a:p>
            <a:pPr algn="l">
              <a:defRPr sz="900" b="1">
                <a:solidFill>
                  <a:srgbClr val="75B9E7"/>
                </a:solidFill>
              </a:defRPr>
            </a:pPr>
            <a:r>
              <a:rPr sz="900" b="1">
                <a:solidFill>
                  <a:srgbClr val="75B9E7"/>
                </a:solidFill>
              </a:rPr>
              <a:t>BEST PROJECT COMPETITION</a:t>
            </a:r>
          </a:p>
        </p:txBody>
      </p:sp>
      <p:sp>
        <p:nvSpPr>
          <p:cNvPr id="4" name="Rectangle 3">
            <a:extLst>
              <a:ext uri="{FF2B5EF4-FFF2-40B4-BE49-F238E27FC236}">
                <a16:creationId xmlns:a16="http://schemas.microsoft.com/office/drawing/2014/main" id="{6C6EB009-B97E-4FA5-8CE3-4B8142F90CF9}"/>
              </a:ext>
            </a:extLst>
          </p:cNvPr>
          <p:cNvSpPr>
            <a:spLocks noGrp="1"/>
          </p:cNvSpPr>
          <p:nvPr/>
        </p:nvSpPr>
        <p:spPr>
          <a:xfrm>
            <a:off x="647700" y="1190625"/>
            <a:ext cx="6858000" cy="1371600"/>
          </a:xfrm>
          <a:prstGeom prst="rect">
            <a:avLst/>
          </a:prstGeom>
          <a:noFill/>
          <a:ln w="0">
            <a:noFill/>
            <a:prstDash val="solid"/>
          </a:ln>
        </p:spPr>
        <p:txBody>
          <a:bodyPr/>
          <a:lstStyle/>
          <a:p>
            <a:pPr algn="l">
              <a:defRPr sz="3975" b="1">
                <a:solidFill>
                  <a:srgbClr val="FFFFFF"/>
                </a:solidFill>
              </a:defRPr>
            </a:pPr>
            <a:r>
              <a:rPr sz="3975" b="1">
                <a:solidFill>
                  <a:srgbClr val="FFFFFF"/>
                </a:solidFill>
              </a:rPr>
              <a:t>Which contract term</a:t>
            </a:r>
          </a:p>
          <a:p>
            <a:pPr algn="l">
              <a:defRPr sz="3975" b="1">
                <a:solidFill>
                  <a:srgbClr val="FFFFFF"/>
                </a:solidFill>
              </a:defRPr>
            </a:pPr>
            <a:r>
              <a:rPr sz="3975" b="1">
                <a:solidFill>
                  <a:srgbClr val="FFFFFF"/>
                </a:solidFill>
              </a:rPr>
              <a:t>governs today?</a:t>
            </a:r>
          </a:p>
        </p:txBody>
      </p:sp>
      <p:sp>
        <p:nvSpPr>
          <p:cNvPr id="5" name="Rectangle 4">
            <a:extLst>
              <a:ext uri="{FF2B5EF4-FFF2-40B4-BE49-F238E27FC236}">
                <a16:creationId xmlns:a16="http://schemas.microsoft.com/office/drawing/2014/main" id="{CE64ABE8-0648-410A-9B53-69F7053A79F9}"/>
              </a:ext>
            </a:extLst>
          </p:cNvPr>
          <p:cNvSpPr>
            <a:spLocks noGrp="1"/>
          </p:cNvSpPr>
          <p:nvPr/>
        </p:nvSpPr>
        <p:spPr>
          <a:xfrm>
            <a:off x="647700" y="2952750"/>
            <a:ext cx="6191250" cy="361950"/>
          </a:xfrm>
          <a:prstGeom prst="rect">
            <a:avLst/>
          </a:prstGeom>
          <a:noFill/>
          <a:ln w="0">
            <a:noFill/>
            <a:prstDash val="solid"/>
          </a:ln>
        </p:spPr>
        <p:txBody>
          <a:bodyPr/>
          <a:lstStyle/>
          <a:p>
            <a:pPr algn="l">
              <a:defRPr sz="2025" b="1">
                <a:solidFill>
                  <a:srgbClr val="BFD6E7"/>
                </a:solidFill>
              </a:defRPr>
            </a:pPr>
            <a:r>
              <a:rPr sz="2025" b="1">
                <a:solidFill>
                  <a:srgbClr val="BFD6E7"/>
                </a:solidFill>
              </a:rPr>
              <a:t>Contract Intelligence Platform</a:t>
            </a:r>
          </a:p>
        </p:txBody>
      </p:sp>
      <p:sp>
        <p:nvSpPr>
          <p:cNvPr id="6" name="Rectangle 5">
            <a:extLst>
              <a:ext uri="{FF2B5EF4-FFF2-40B4-BE49-F238E27FC236}">
                <a16:creationId xmlns:a16="http://schemas.microsoft.com/office/drawing/2014/main" id="{6219F6A9-5041-4731-8CDB-3DBE45ABA3ED}"/>
              </a:ext>
            </a:extLst>
          </p:cNvPr>
          <p:cNvSpPr>
            <a:spLocks noGrp="1"/>
          </p:cNvSpPr>
          <p:nvPr/>
        </p:nvSpPr>
        <p:spPr>
          <a:xfrm>
            <a:off x="647700" y="3524250"/>
            <a:ext cx="6572250" cy="723900"/>
          </a:xfrm>
          <a:prstGeom prst="rect">
            <a:avLst/>
          </a:prstGeom>
          <a:noFill/>
          <a:ln w="0">
            <a:noFill/>
            <a:prstDash val="solid"/>
          </a:ln>
        </p:spPr>
        <p:txBody>
          <a:bodyPr/>
          <a:lstStyle/>
          <a:p>
            <a:pPr algn="l">
              <a:defRPr sz="1575" b="0">
                <a:solidFill>
                  <a:srgbClr val="D7E4EE"/>
                </a:solidFill>
              </a:defRPr>
            </a:pPr>
            <a:r>
              <a:rPr sz="1575" b="0">
                <a:solidFill>
                  <a:srgbClr val="D7E4EE"/>
                </a:solidFill>
              </a:rPr>
              <a:t>Enterprise contract intelligence—from fragmented documents to the governing answer, with evidence.</a:t>
            </a:r>
          </a:p>
        </p:txBody>
      </p:sp>
      <p:sp>
        <p:nvSpPr>
          <p:cNvPr id="7" name="Rectangle: Rounded Corners 6">
            <a:extLst>
              <a:ext uri="{FF2B5EF4-FFF2-40B4-BE49-F238E27FC236}">
                <a16:creationId xmlns:a16="http://schemas.microsoft.com/office/drawing/2014/main" id="{195658AE-70E1-4D9C-B47E-48CC04F5AB18}"/>
              </a:ext>
            </a:extLst>
          </p:cNvPr>
          <p:cNvSpPr>
            <a:spLocks noGrp="1"/>
          </p:cNvSpPr>
          <p:nvPr/>
        </p:nvSpPr>
        <p:spPr>
          <a:xfrm>
            <a:off x="647700" y="4953000"/>
            <a:ext cx="6667500" cy="685800"/>
          </a:xfrm>
          <a:prstGeom prst="roundRect">
            <a:avLst>
              <a:gd name="adj" fmla="val 5556"/>
            </a:avLst>
          </a:prstGeom>
          <a:solidFill>
            <a:srgbClr val="0A3445"/>
          </a:solidFill>
          <a:ln w="9525">
            <a:solidFill>
              <a:srgbClr val="007A78"/>
            </a:solidFill>
            <a:prstDash val="solid"/>
          </a:ln>
        </p:spPr>
        <p:txBody>
          <a:bodyPr/>
          <a:lstStyle/>
          <a:p>
            <a:endParaRPr lang="en-IN"/>
          </a:p>
        </p:txBody>
      </p:sp>
      <p:sp>
        <p:nvSpPr>
          <p:cNvPr id="8" name="Rectangle 7">
            <a:extLst>
              <a:ext uri="{FF2B5EF4-FFF2-40B4-BE49-F238E27FC236}">
                <a16:creationId xmlns:a16="http://schemas.microsoft.com/office/drawing/2014/main" id="{51A4CF02-C07D-477B-8341-CCB61F737ECD}"/>
              </a:ext>
            </a:extLst>
          </p:cNvPr>
          <p:cNvSpPr>
            <a:spLocks noGrp="1"/>
          </p:cNvSpPr>
          <p:nvPr/>
        </p:nvSpPr>
        <p:spPr>
          <a:xfrm>
            <a:off x="647700" y="4953000"/>
            <a:ext cx="57150" cy="685800"/>
          </a:xfrm>
          <a:prstGeom prst="rect">
            <a:avLst/>
          </a:prstGeom>
          <a:solidFill>
            <a:srgbClr val="007A78"/>
          </a:solidFill>
          <a:ln w="0">
            <a:noFill/>
            <a:prstDash val="solid"/>
          </a:ln>
        </p:spPr>
        <p:txBody>
          <a:bodyPr/>
          <a:lstStyle/>
          <a:p>
            <a:endParaRPr lang="en-IN"/>
          </a:p>
        </p:txBody>
      </p:sp>
      <p:sp>
        <p:nvSpPr>
          <p:cNvPr id="9" name="Rectangle 8">
            <a:extLst>
              <a:ext uri="{FF2B5EF4-FFF2-40B4-BE49-F238E27FC236}">
                <a16:creationId xmlns:a16="http://schemas.microsoft.com/office/drawing/2014/main" id="{3C710714-7A6F-47EC-B70E-07BC6F98B317}"/>
              </a:ext>
            </a:extLst>
          </p:cNvPr>
          <p:cNvSpPr>
            <a:spLocks noGrp="1"/>
          </p:cNvSpPr>
          <p:nvPr/>
        </p:nvSpPr>
        <p:spPr>
          <a:xfrm>
            <a:off x="857250" y="5076825"/>
            <a:ext cx="6305550" cy="514350"/>
          </a:xfrm>
          <a:prstGeom prst="rect">
            <a:avLst/>
          </a:prstGeom>
          <a:noFill/>
          <a:ln w="0">
            <a:noFill/>
            <a:prstDash val="solid"/>
          </a:ln>
        </p:spPr>
        <p:txBody>
          <a:bodyPr/>
          <a:lstStyle/>
          <a:p>
            <a:pPr algn="l">
              <a:defRPr sz="1575" b="1">
                <a:solidFill>
                  <a:srgbClr val="FFFFFF"/>
                </a:solidFill>
              </a:defRPr>
            </a:pPr>
            <a:r>
              <a:rPr sz="1575" b="1">
                <a:solidFill>
                  <a:srgbClr val="FFFFFF"/>
                </a:solidFill>
              </a:rPr>
              <a:t>Search finds relevant text. CIP determines which text governs.</a:t>
            </a:r>
          </a:p>
        </p:txBody>
      </p:sp>
      <p:sp>
        <p:nvSpPr>
          <p:cNvPr id="10" name="Rectangle: Rounded Corners 9">
            <a:extLst>
              <a:ext uri="{FF2B5EF4-FFF2-40B4-BE49-F238E27FC236}">
                <a16:creationId xmlns:a16="http://schemas.microsoft.com/office/drawing/2014/main" id="{6DFABD7F-90E2-4B0D-8B1B-3E3CD03F70BE}"/>
              </a:ext>
            </a:extLst>
          </p:cNvPr>
          <p:cNvSpPr>
            <a:spLocks noGrp="1"/>
          </p:cNvSpPr>
          <p:nvPr/>
        </p:nvSpPr>
        <p:spPr>
          <a:xfrm>
            <a:off x="8715375" y="1381125"/>
            <a:ext cx="2190750" cy="2762250"/>
          </a:xfrm>
          <a:prstGeom prst="roundRect">
            <a:avLst>
              <a:gd name="adj" fmla="val 3478"/>
            </a:avLst>
          </a:prstGeom>
          <a:solidFill>
            <a:srgbClr val="174269"/>
          </a:solidFill>
          <a:ln w="9525">
            <a:solidFill>
              <a:srgbClr val="3D6685"/>
            </a:solidFill>
            <a:prstDash val="solid"/>
          </a:ln>
        </p:spPr>
        <p:txBody>
          <a:bodyPr/>
          <a:lstStyle/>
          <a:p>
            <a:endParaRPr lang="en-IN"/>
          </a:p>
        </p:txBody>
      </p:sp>
      <p:sp>
        <p:nvSpPr>
          <p:cNvPr id="11" name="Rectangle: Rounded Corners 10">
            <a:extLst>
              <a:ext uri="{FF2B5EF4-FFF2-40B4-BE49-F238E27FC236}">
                <a16:creationId xmlns:a16="http://schemas.microsoft.com/office/drawing/2014/main" id="{A09724BB-DFC3-47A1-9A6A-2B89D8E4858C}"/>
              </a:ext>
            </a:extLst>
          </p:cNvPr>
          <p:cNvSpPr>
            <a:spLocks noGrp="1"/>
          </p:cNvSpPr>
          <p:nvPr/>
        </p:nvSpPr>
        <p:spPr>
          <a:xfrm>
            <a:off x="9124950" y="1933575"/>
            <a:ext cx="2019300" cy="2438400"/>
          </a:xfrm>
          <a:prstGeom prst="roundRect">
            <a:avLst>
              <a:gd name="adj" fmla="val 3774"/>
            </a:avLst>
          </a:prstGeom>
          <a:solidFill>
            <a:srgbClr val="174269"/>
          </a:solidFill>
          <a:ln w="9525">
            <a:solidFill>
              <a:srgbClr val="3D6685"/>
            </a:solidFill>
            <a:prstDash val="solid"/>
          </a:ln>
        </p:spPr>
        <p:txBody>
          <a:bodyPr/>
          <a:lstStyle/>
          <a:p>
            <a:endParaRPr lang="en-IN"/>
          </a:p>
        </p:txBody>
      </p:sp>
      <p:sp>
        <p:nvSpPr>
          <p:cNvPr id="12" name="Rectangle: Rounded Corners 11">
            <a:extLst>
              <a:ext uri="{FF2B5EF4-FFF2-40B4-BE49-F238E27FC236}">
                <a16:creationId xmlns:a16="http://schemas.microsoft.com/office/drawing/2014/main" id="{EDFD1A41-75D3-4519-80D9-0A64D57D237E}"/>
              </a:ext>
            </a:extLst>
          </p:cNvPr>
          <p:cNvSpPr>
            <a:spLocks noGrp="1"/>
          </p:cNvSpPr>
          <p:nvPr/>
        </p:nvSpPr>
        <p:spPr>
          <a:xfrm>
            <a:off x="9534525" y="2486025"/>
            <a:ext cx="1847850" cy="2114550"/>
          </a:xfrm>
          <a:prstGeom prst="roundRect">
            <a:avLst>
              <a:gd name="adj" fmla="val 4124"/>
            </a:avLst>
          </a:prstGeom>
          <a:solidFill>
            <a:srgbClr val="174269"/>
          </a:solidFill>
          <a:ln w="9525">
            <a:solidFill>
              <a:srgbClr val="3D6685"/>
            </a:solidFill>
            <a:prstDash val="solid"/>
          </a:ln>
        </p:spPr>
        <p:txBody>
          <a:bodyPr/>
          <a:lstStyle/>
          <a:p>
            <a:endParaRPr lang="en-IN"/>
          </a:p>
        </p:txBody>
      </p:sp>
      <p:sp>
        <p:nvSpPr>
          <p:cNvPr id="13" name="Rectangle: Rounded Corners 12">
            <a:extLst>
              <a:ext uri="{FF2B5EF4-FFF2-40B4-BE49-F238E27FC236}">
                <a16:creationId xmlns:a16="http://schemas.microsoft.com/office/drawing/2014/main" id="{B7DF1FB6-3BDB-4280-A10B-F2A3A9AB53B4}"/>
              </a:ext>
            </a:extLst>
          </p:cNvPr>
          <p:cNvSpPr>
            <a:spLocks noGrp="1"/>
          </p:cNvSpPr>
          <p:nvPr/>
        </p:nvSpPr>
        <p:spPr>
          <a:xfrm>
            <a:off x="9944100" y="3038475"/>
            <a:ext cx="1676400" cy="1790700"/>
          </a:xfrm>
          <a:prstGeom prst="roundRect">
            <a:avLst>
              <a:gd name="adj" fmla="val 4545"/>
            </a:avLst>
          </a:prstGeom>
          <a:solidFill>
            <a:srgbClr val="174269"/>
          </a:solidFill>
          <a:ln w="9525">
            <a:solidFill>
              <a:srgbClr val="3D6685"/>
            </a:solidFill>
            <a:prstDash val="solid"/>
          </a:ln>
        </p:spPr>
        <p:txBody>
          <a:bodyPr/>
          <a:lstStyle/>
          <a:p>
            <a:endParaRPr lang="en-IN"/>
          </a:p>
        </p:txBody>
      </p:sp>
      <p:sp>
        <p:nvSpPr>
          <p:cNvPr id="14" name="Rectangle: Rounded Corners 13">
            <a:extLst>
              <a:ext uri="{FF2B5EF4-FFF2-40B4-BE49-F238E27FC236}">
                <a16:creationId xmlns:a16="http://schemas.microsoft.com/office/drawing/2014/main" id="{D19FB23B-915D-4917-97F4-F74ECA8E0213}"/>
              </a:ext>
            </a:extLst>
          </p:cNvPr>
          <p:cNvSpPr>
            <a:spLocks noGrp="1"/>
          </p:cNvSpPr>
          <p:nvPr/>
        </p:nvSpPr>
        <p:spPr>
          <a:xfrm>
            <a:off x="10353675" y="3590925"/>
            <a:ext cx="1504950" cy="1466850"/>
          </a:xfrm>
          <a:prstGeom prst="roundRect">
            <a:avLst>
              <a:gd name="adj" fmla="val 5195"/>
            </a:avLst>
          </a:prstGeom>
          <a:solidFill>
            <a:srgbClr val="1769AA"/>
          </a:solidFill>
          <a:ln w="9525">
            <a:solidFill>
              <a:srgbClr val="3D6685"/>
            </a:solidFill>
            <a:prstDash val="solid"/>
          </a:ln>
        </p:spPr>
        <p:txBody>
          <a:bodyPr/>
          <a:lstStyle/>
          <a:p>
            <a:endParaRPr lang="en-IN"/>
          </a:p>
        </p:txBody>
      </p:sp>
      <p:sp>
        <p:nvSpPr>
          <p:cNvPr id="15" name="Rectangle 14">
            <a:extLst>
              <a:ext uri="{FF2B5EF4-FFF2-40B4-BE49-F238E27FC236}">
                <a16:creationId xmlns:a16="http://schemas.microsoft.com/office/drawing/2014/main" id="{77C2ECFB-4852-4328-8E74-D27913DB1D25}"/>
              </a:ext>
            </a:extLst>
          </p:cNvPr>
          <p:cNvSpPr>
            <a:spLocks noGrp="1"/>
          </p:cNvSpPr>
          <p:nvPr/>
        </p:nvSpPr>
        <p:spPr>
          <a:xfrm>
            <a:off x="11239500" y="6496050"/>
            <a:ext cx="476250" cy="152400"/>
          </a:xfrm>
          <a:prstGeom prst="rect">
            <a:avLst/>
          </a:prstGeom>
          <a:noFill/>
          <a:ln w="0">
            <a:noFill/>
            <a:prstDash val="solid"/>
          </a:ln>
        </p:spPr>
        <p:txBody>
          <a:bodyPr/>
          <a:lstStyle/>
          <a:p>
            <a:pPr algn="r">
              <a:defRPr sz="750" b="1">
                <a:solidFill>
                  <a:srgbClr val="7892A8"/>
                </a:solidFill>
              </a:defRPr>
            </a:pPr>
            <a:r>
              <a:rPr sz="750" b="1">
                <a:solidFill>
                  <a:srgbClr val="7892A8"/>
                </a:solidFill>
              </a:rPr>
              <a:t>01</a:t>
            </a:r>
          </a:p>
        </p:txBody>
      </p:sp>
    </p:spTree>
    <p:extLst>
      <p:ext uri="{BB962C8B-B14F-4D97-AF65-F5344CB8AC3E}">
        <p14:creationId xmlns:p14="http://schemas.microsoft.com/office/powerpoint/2010/main" val="15255401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 name="section">
            <a:extLst>
              <a:ext uri="{FF2B5EF4-FFF2-40B4-BE49-F238E27FC236}">
                <a16:creationId xmlns:a16="http://schemas.microsoft.com/office/drawing/2014/main" id="{B2D9BB9A-5D83-462F-B823-DC26FC3BCBB1}"/>
              </a:ext>
            </a:extLst>
          </p:cNvPr>
          <p:cNvSpPr>
            <a:spLocks noGrp="1"/>
          </p:cNvSpPr>
          <p:nvPr/>
        </p:nvSpPr>
        <p:spPr>
          <a:xfrm>
            <a:off x="457200" y="209550"/>
            <a:ext cx="6858000" cy="190500"/>
          </a:xfrm>
          <a:prstGeom prst="rect">
            <a:avLst/>
          </a:prstGeom>
          <a:noFill/>
          <a:ln w="0">
            <a:noFill/>
            <a:prstDash val="solid"/>
          </a:ln>
        </p:spPr>
        <p:txBody>
          <a:bodyPr/>
          <a:lstStyle/>
          <a:p>
            <a:pPr algn="l">
              <a:defRPr sz="825" b="1">
                <a:solidFill>
                  <a:srgbClr val="1769AA"/>
                </a:solidFill>
              </a:defRPr>
            </a:pPr>
            <a:r>
              <a:rPr sz="825" b="1">
                <a:solidFill>
                  <a:srgbClr val="1769AA"/>
                </a:solidFill>
              </a:rPr>
              <a:t>CONTEXT</a:t>
            </a:r>
          </a:p>
        </p:txBody>
      </p:sp>
      <p:sp>
        <p:nvSpPr>
          <p:cNvPr id="2" name="slide-title">
            <a:extLst>
              <a:ext uri="{FF2B5EF4-FFF2-40B4-BE49-F238E27FC236}">
                <a16:creationId xmlns:a16="http://schemas.microsoft.com/office/drawing/2014/main" id="{B0D27D67-05E9-4225-866A-88497D1775F8}"/>
              </a:ext>
            </a:extLst>
          </p:cNvPr>
          <p:cNvSpPr>
            <a:spLocks noGrp="1"/>
          </p:cNvSpPr>
          <p:nvPr/>
        </p:nvSpPr>
        <p:spPr>
          <a:xfrm>
            <a:off x="457200" y="457200"/>
            <a:ext cx="11220450" cy="457200"/>
          </a:xfrm>
          <a:prstGeom prst="rect">
            <a:avLst/>
          </a:prstGeom>
          <a:noFill/>
          <a:ln w="0">
            <a:noFill/>
            <a:prstDash val="solid"/>
          </a:ln>
        </p:spPr>
        <p:txBody>
          <a:bodyPr/>
          <a:lstStyle/>
          <a:p>
            <a:pPr algn="l">
              <a:defRPr sz="2625" b="1">
                <a:solidFill>
                  <a:srgbClr val="132033"/>
                </a:solidFill>
              </a:defRPr>
            </a:pPr>
            <a:r>
              <a:rPr sz="2625" b="1">
                <a:solidFill>
                  <a:srgbClr val="132033"/>
                </a:solidFill>
              </a:rPr>
              <a:t>Scale is only half the challenge; contract state is harder</a:t>
            </a:r>
          </a:p>
        </p:txBody>
      </p:sp>
      <p:sp>
        <p:nvSpPr>
          <p:cNvPr id="3" name="Rectangle 2">
            <a:extLst>
              <a:ext uri="{FF2B5EF4-FFF2-40B4-BE49-F238E27FC236}">
                <a16:creationId xmlns:a16="http://schemas.microsoft.com/office/drawing/2014/main" id="{1A7AEA3B-AEEC-4A59-A7DA-0CC5574AD6AD}"/>
              </a:ext>
            </a:extLst>
          </p:cNvPr>
          <p:cNvSpPr>
            <a:spLocks noGrp="1"/>
          </p:cNvSpPr>
          <p:nvPr/>
        </p:nvSpPr>
        <p:spPr>
          <a:xfrm>
            <a:off x="457200" y="990600"/>
            <a:ext cx="11277600" cy="9525"/>
          </a:xfrm>
          <a:prstGeom prst="rect">
            <a:avLst/>
          </a:prstGeom>
          <a:solidFill>
            <a:srgbClr val="D8DEE8"/>
          </a:solidFill>
          <a:ln w="0">
            <a:noFill/>
            <a:prstDash val="solid"/>
          </a:ln>
        </p:spPr>
        <p:txBody>
          <a:bodyPr/>
          <a:lstStyle/>
          <a:p>
            <a:endParaRPr lang="en-IN"/>
          </a:p>
        </p:txBody>
      </p:sp>
      <p:sp>
        <p:nvSpPr>
          <p:cNvPr id="4" name="visible-source">
            <a:extLst>
              <a:ext uri="{FF2B5EF4-FFF2-40B4-BE49-F238E27FC236}">
                <a16:creationId xmlns:a16="http://schemas.microsoft.com/office/drawing/2014/main" id="{980CB219-B4F3-4BA0-A68B-0541CF320D6C}"/>
              </a:ext>
            </a:extLst>
          </p:cNvPr>
          <p:cNvSpPr>
            <a:spLocks noGrp="1"/>
          </p:cNvSpPr>
          <p:nvPr/>
        </p:nvSpPr>
        <p:spPr>
          <a:xfrm>
            <a:off x="457200" y="6524625"/>
            <a:ext cx="9334500" cy="142875"/>
          </a:xfrm>
          <a:prstGeom prst="rect">
            <a:avLst/>
          </a:prstGeom>
          <a:noFill/>
          <a:ln w="0">
            <a:noFill/>
            <a:prstDash val="solid"/>
          </a:ln>
        </p:spPr>
        <p:txBody>
          <a:bodyPr/>
          <a:lstStyle/>
          <a:p>
            <a:pPr algn="l">
              <a:defRPr sz="675" b="0">
                <a:solidFill>
                  <a:srgbClr val="667389"/>
                </a:solidFill>
              </a:defRPr>
            </a:pPr>
            <a:r>
              <a:rPr sz="675" b="0">
                <a:solidFill>
                  <a:srgbClr val="667389"/>
                </a:solidFill>
              </a:rPr>
              <a:t>Source: Project documentation</a:t>
            </a:r>
          </a:p>
        </p:txBody>
      </p:sp>
      <p:sp>
        <p:nvSpPr>
          <p:cNvPr id="5" name="page">
            <a:extLst>
              <a:ext uri="{FF2B5EF4-FFF2-40B4-BE49-F238E27FC236}">
                <a16:creationId xmlns:a16="http://schemas.microsoft.com/office/drawing/2014/main" id="{4920CFFC-C292-4EE9-868D-70481BE50303}"/>
              </a:ext>
            </a:extLst>
          </p:cNvPr>
          <p:cNvSpPr>
            <a:spLocks noGrp="1"/>
          </p:cNvSpPr>
          <p:nvPr/>
        </p:nvSpPr>
        <p:spPr>
          <a:xfrm>
            <a:off x="11220450" y="6496050"/>
            <a:ext cx="514350" cy="171450"/>
          </a:xfrm>
          <a:prstGeom prst="rect">
            <a:avLst/>
          </a:prstGeom>
          <a:noFill/>
          <a:ln w="0">
            <a:noFill/>
            <a:prstDash val="solid"/>
          </a:ln>
        </p:spPr>
        <p:txBody>
          <a:bodyPr/>
          <a:lstStyle/>
          <a:p>
            <a:pPr algn="r">
              <a:defRPr sz="750" b="1">
                <a:solidFill>
                  <a:srgbClr val="667389"/>
                </a:solidFill>
              </a:defRPr>
            </a:pPr>
            <a:r>
              <a:rPr sz="750" b="1">
                <a:solidFill>
                  <a:srgbClr val="667389"/>
                </a:solidFill>
              </a:rPr>
              <a:t>02</a:t>
            </a:r>
          </a:p>
        </p:txBody>
      </p:sp>
      <p:sp>
        <p:nvSpPr>
          <p:cNvPr id="6" name="Rectangle 5">
            <a:extLst>
              <a:ext uri="{FF2B5EF4-FFF2-40B4-BE49-F238E27FC236}">
                <a16:creationId xmlns:a16="http://schemas.microsoft.com/office/drawing/2014/main" id="{3AC926B3-B058-4381-8A2A-DDCB3908A4F4}"/>
              </a:ext>
            </a:extLst>
          </p:cNvPr>
          <p:cNvSpPr>
            <a:spLocks noGrp="1"/>
          </p:cNvSpPr>
          <p:nvPr/>
        </p:nvSpPr>
        <p:spPr>
          <a:xfrm>
            <a:off x="742950" y="1219200"/>
            <a:ext cx="2381250" cy="457200"/>
          </a:xfrm>
          <a:prstGeom prst="rect">
            <a:avLst/>
          </a:prstGeom>
          <a:noFill/>
          <a:ln w="0">
            <a:noFill/>
            <a:prstDash val="solid"/>
          </a:ln>
        </p:spPr>
        <p:txBody>
          <a:bodyPr/>
          <a:lstStyle/>
          <a:p>
            <a:pPr algn="ctr">
              <a:defRPr sz="2550" b="1">
                <a:solidFill>
                  <a:srgbClr val="1769AA"/>
                </a:solidFill>
              </a:defRPr>
            </a:pPr>
            <a:r>
              <a:rPr sz="2550" b="1">
                <a:solidFill>
                  <a:srgbClr val="1769AA"/>
                </a:solidFill>
              </a:rPr>
              <a:t>10,500+</a:t>
            </a:r>
          </a:p>
        </p:txBody>
      </p:sp>
      <p:sp>
        <p:nvSpPr>
          <p:cNvPr id="7" name="Rectangle 6">
            <a:extLst>
              <a:ext uri="{FF2B5EF4-FFF2-40B4-BE49-F238E27FC236}">
                <a16:creationId xmlns:a16="http://schemas.microsoft.com/office/drawing/2014/main" id="{48597F0A-73D0-4A16-A4FC-6C8DDA1B4DCC}"/>
              </a:ext>
            </a:extLst>
          </p:cNvPr>
          <p:cNvSpPr>
            <a:spLocks noGrp="1"/>
          </p:cNvSpPr>
          <p:nvPr/>
        </p:nvSpPr>
        <p:spPr>
          <a:xfrm>
            <a:off x="742950" y="1685925"/>
            <a:ext cx="2381250" cy="228600"/>
          </a:xfrm>
          <a:prstGeom prst="rect">
            <a:avLst/>
          </a:prstGeom>
          <a:noFill/>
          <a:ln w="0">
            <a:noFill/>
            <a:prstDash val="solid"/>
          </a:ln>
        </p:spPr>
        <p:txBody>
          <a:bodyPr/>
          <a:lstStyle/>
          <a:p>
            <a:pPr algn="ctr">
              <a:defRPr sz="975" b="1">
                <a:solidFill>
                  <a:srgbClr val="667389"/>
                </a:solidFill>
              </a:defRPr>
            </a:pPr>
            <a:r>
              <a:rPr sz="975" b="1">
                <a:solidFill>
                  <a:srgbClr val="667389"/>
                </a:solidFill>
              </a:rPr>
              <a:t>documents</a:t>
            </a:r>
          </a:p>
        </p:txBody>
      </p:sp>
      <p:sp>
        <p:nvSpPr>
          <p:cNvPr id="8" name="Rectangle 7">
            <a:extLst>
              <a:ext uri="{FF2B5EF4-FFF2-40B4-BE49-F238E27FC236}">
                <a16:creationId xmlns:a16="http://schemas.microsoft.com/office/drawing/2014/main" id="{7DA3B1D8-B239-41CB-988C-11FB02B8DDCA}"/>
              </a:ext>
            </a:extLst>
          </p:cNvPr>
          <p:cNvSpPr>
            <a:spLocks noGrp="1"/>
          </p:cNvSpPr>
          <p:nvPr/>
        </p:nvSpPr>
        <p:spPr>
          <a:xfrm>
            <a:off x="3505200" y="1219200"/>
            <a:ext cx="2381250" cy="457200"/>
          </a:xfrm>
          <a:prstGeom prst="rect">
            <a:avLst/>
          </a:prstGeom>
          <a:noFill/>
          <a:ln w="0">
            <a:noFill/>
            <a:prstDash val="solid"/>
          </a:ln>
        </p:spPr>
        <p:txBody>
          <a:bodyPr/>
          <a:lstStyle/>
          <a:p>
            <a:pPr algn="ctr">
              <a:defRPr sz="2550" b="1">
                <a:solidFill>
                  <a:srgbClr val="6B4E8C"/>
                </a:solidFill>
              </a:defRPr>
            </a:pPr>
            <a:r>
              <a:rPr sz="2550" b="1">
                <a:solidFill>
                  <a:srgbClr val="6B4E8C"/>
                </a:solidFill>
              </a:rPr>
              <a:t>408,000</a:t>
            </a:r>
          </a:p>
        </p:txBody>
      </p:sp>
      <p:sp>
        <p:nvSpPr>
          <p:cNvPr id="9" name="Rectangle 8">
            <a:extLst>
              <a:ext uri="{FF2B5EF4-FFF2-40B4-BE49-F238E27FC236}">
                <a16:creationId xmlns:a16="http://schemas.microsoft.com/office/drawing/2014/main" id="{FD44330E-1CC6-4D0C-8E3C-23B95A6D50FB}"/>
              </a:ext>
            </a:extLst>
          </p:cNvPr>
          <p:cNvSpPr>
            <a:spLocks noGrp="1"/>
          </p:cNvSpPr>
          <p:nvPr/>
        </p:nvSpPr>
        <p:spPr>
          <a:xfrm>
            <a:off x="3505200" y="1685925"/>
            <a:ext cx="2381250" cy="228600"/>
          </a:xfrm>
          <a:prstGeom prst="rect">
            <a:avLst/>
          </a:prstGeom>
          <a:noFill/>
          <a:ln w="0">
            <a:noFill/>
            <a:prstDash val="solid"/>
          </a:ln>
        </p:spPr>
        <p:txBody>
          <a:bodyPr/>
          <a:lstStyle/>
          <a:p>
            <a:pPr algn="ctr">
              <a:defRPr sz="975" b="1">
                <a:solidFill>
                  <a:srgbClr val="667389"/>
                </a:solidFill>
              </a:defRPr>
            </a:pPr>
            <a:r>
              <a:rPr sz="975" b="1">
                <a:solidFill>
                  <a:srgbClr val="667389"/>
                </a:solidFill>
              </a:rPr>
              <a:t>pages</a:t>
            </a:r>
          </a:p>
        </p:txBody>
      </p:sp>
      <p:sp>
        <p:nvSpPr>
          <p:cNvPr id="10" name="Rectangle 9">
            <a:extLst>
              <a:ext uri="{FF2B5EF4-FFF2-40B4-BE49-F238E27FC236}">
                <a16:creationId xmlns:a16="http://schemas.microsoft.com/office/drawing/2014/main" id="{236F229D-15D0-4D70-82A4-E91A268ABA95}"/>
              </a:ext>
            </a:extLst>
          </p:cNvPr>
          <p:cNvSpPr>
            <a:spLocks noGrp="1"/>
          </p:cNvSpPr>
          <p:nvPr/>
        </p:nvSpPr>
        <p:spPr>
          <a:xfrm>
            <a:off x="6267450" y="1219200"/>
            <a:ext cx="2381250" cy="457200"/>
          </a:xfrm>
          <a:prstGeom prst="rect">
            <a:avLst/>
          </a:prstGeom>
          <a:noFill/>
          <a:ln w="0">
            <a:noFill/>
            <a:prstDash val="solid"/>
          </a:ln>
        </p:spPr>
        <p:txBody>
          <a:bodyPr/>
          <a:lstStyle/>
          <a:p>
            <a:pPr algn="ctr">
              <a:defRPr sz="2550" b="1">
                <a:solidFill>
                  <a:srgbClr val="007A78"/>
                </a:solidFill>
              </a:defRPr>
            </a:pPr>
            <a:r>
              <a:rPr sz="2550" b="1">
                <a:solidFill>
                  <a:srgbClr val="007A78"/>
                </a:solidFill>
              </a:rPr>
              <a:t>27 GB</a:t>
            </a:r>
          </a:p>
        </p:txBody>
      </p:sp>
      <p:sp>
        <p:nvSpPr>
          <p:cNvPr id="11" name="Rectangle 10">
            <a:extLst>
              <a:ext uri="{FF2B5EF4-FFF2-40B4-BE49-F238E27FC236}">
                <a16:creationId xmlns:a16="http://schemas.microsoft.com/office/drawing/2014/main" id="{F26B124D-1624-418F-952A-F6D51348DD86}"/>
              </a:ext>
            </a:extLst>
          </p:cNvPr>
          <p:cNvSpPr>
            <a:spLocks noGrp="1"/>
          </p:cNvSpPr>
          <p:nvPr/>
        </p:nvSpPr>
        <p:spPr>
          <a:xfrm>
            <a:off x="6267450" y="1685925"/>
            <a:ext cx="2381250" cy="228600"/>
          </a:xfrm>
          <a:prstGeom prst="rect">
            <a:avLst/>
          </a:prstGeom>
          <a:noFill/>
          <a:ln w="0">
            <a:noFill/>
            <a:prstDash val="solid"/>
          </a:ln>
        </p:spPr>
        <p:txBody>
          <a:bodyPr/>
          <a:lstStyle/>
          <a:p>
            <a:pPr algn="ctr">
              <a:defRPr sz="975" b="1">
                <a:solidFill>
                  <a:srgbClr val="667389"/>
                </a:solidFill>
              </a:defRPr>
            </a:pPr>
            <a:r>
              <a:rPr sz="975" b="1">
                <a:solidFill>
                  <a:srgbClr val="667389"/>
                </a:solidFill>
              </a:rPr>
              <a:t>source data</a:t>
            </a:r>
          </a:p>
        </p:txBody>
      </p:sp>
      <p:sp>
        <p:nvSpPr>
          <p:cNvPr id="12" name="Rectangle 11">
            <a:extLst>
              <a:ext uri="{FF2B5EF4-FFF2-40B4-BE49-F238E27FC236}">
                <a16:creationId xmlns:a16="http://schemas.microsoft.com/office/drawing/2014/main" id="{324FA934-F82C-4B6B-AA7A-106809120C50}"/>
              </a:ext>
            </a:extLst>
          </p:cNvPr>
          <p:cNvSpPr>
            <a:spLocks noGrp="1"/>
          </p:cNvSpPr>
          <p:nvPr/>
        </p:nvSpPr>
        <p:spPr>
          <a:xfrm>
            <a:off x="9029700" y="1219200"/>
            <a:ext cx="2381250" cy="457200"/>
          </a:xfrm>
          <a:prstGeom prst="rect">
            <a:avLst/>
          </a:prstGeom>
          <a:noFill/>
          <a:ln w="0">
            <a:noFill/>
            <a:prstDash val="solid"/>
          </a:ln>
        </p:spPr>
        <p:txBody>
          <a:bodyPr/>
          <a:lstStyle/>
          <a:p>
            <a:pPr algn="ctr">
              <a:defRPr sz="2550" b="1">
                <a:solidFill>
                  <a:srgbClr val="2D7D5B"/>
                </a:solidFill>
              </a:defRPr>
            </a:pPr>
            <a:r>
              <a:rPr sz="2550" b="1">
                <a:solidFill>
                  <a:srgbClr val="2D7D5B"/>
                </a:solidFill>
              </a:rPr>
              <a:t>328</a:t>
            </a:r>
          </a:p>
        </p:txBody>
      </p:sp>
      <p:sp>
        <p:nvSpPr>
          <p:cNvPr id="13" name="Rectangle 12">
            <a:extLst>
              <a:ext uri="{FF2B5EF4-FFF2-40B4-BE49-F238E27FC236}">
                <a16:creationId xmlns:a16="http://schemas.microsoft.com/office/drawing/2014/main" id="{E89D4BBD-8C48-4075-BC27-07AEFB97413B}"/>
              </a:ext>
            </a:extLst>
          </p:cNvPr>
          <p:cNvSpPr>
            <a:spLocks noGrp="1"/>
          </p:cNvSpPr>
          <p:nvPr/>
        </p:nvSpPr>
        <p:spPr>
          <a:xfrm>
            <a:off x="9029700" y="1685925"/>
            <a:ext cx="2381250" cy="228600"/>
          </a:xfrm>
          <a:prstGeom prst="rect">
            <a:avLst/>
          </a:prstGeom>
          <a:noFill/>
          <a:ln w="0">
            <a:noFill/>
            <a:prstDash val="solid"/>
          </a:ln>
        </p:spPr>
        <p:txBody>
          <a:bodyPr/>
          <a:lstStyle/>
          <a:p>
            <a:pPr algn="ctr">
              <a:defRPr sz="975" b="1">
                <a:solidFill>
                  <a:srgbClr val="667389"/>
                </a:solidFill>
              </a:defRPr>
            </a:pPr>
            <a:r>
              <a:rPr sz="975" b="1">
                <a:solidFill>
                  <a:srgbClr val="667389"/>
                </a:solidFill>
              </a:rPr>
              <a:t>providers</a:t>
            </a:r>
          </a:p>
        </p:txBody>
      </p:sp>
      <p:sp>
        <p:nvSpPr>
          <p:cNvPr id="14" name="Rectangle 13">
            <a:extLst>
              <a:ext uri="{FF2B5EF4-FFF2-40B4-BE49-F238E27FC236}">
                <a16:creationId xmlns:a16="http://schemas.microsoft.com/office/drawing/2014/main" id="{42F7B6CB-EDE9-43C1-BE01-61AB1BA96C95}"/>
              </a:ext>
            </a:extLst>
          </p:cNvPr>
          <p:cNvSpPr>
            <a:spLocks noGrp="1"/>
          </p:cNvSpPr>
          <p:nvPr/>
        </p:nvSpPr>
        <p:spPr>
          <a:xfrm>
            <a:off x="552450" y="2095500"/>
            <a:ext cx="11049000" cy="9525"/>
          </a:xfrm>
          <a:prstGeom prst="rect">
            <a:avLst/>
          </a:prstGeom>
          <a:solidFill>
            <a:srgbClr val="D8DEE8"/>
          </a:solidFill>
          <a:ln w="0">
            <a:noFill/>
            <a:prstDash val="solid"/>
          </a:ln>
        </p:spPr>
        <p:txBody>
          <a:bodyPr/>
          <a:lstStyle/>
          <a:p>
            <a:endParaRPr lang="en-IN"/>
          </a:p>
        </p:txBody>
      </p:sp>
      <p:sp>
        <p:nvSpPr>
          <p:cNvPr id="15" name="Rectangle 14">
            <a:extLst>
              <a:ext uri="{FF2B5EF4-FFF2-40B4-BE49-F238E27FC236}">
                <a16:creationId xmlns:a16="http://schemas.microsoft.com/office/drawing/2014/main" id="{5AB83C10-AC88-48CE-B598-177F82F3AB00}"/>
              </a:ext>
            </a:extLst>
          </p:cNvPr>
          <p:cNvSpPr>
            <a:spLocks noGrp="1"/>
          </p:cNvSpPr>
          <p:nvPr/>
        </p:nvSpPr>
        <p:spPr>
          <a:xfrm>
            <a:off x="552450" y="2381250"/>
            <a:ext cx="6667500" cy="266700"/>
          </a:xfrm>
          <a:prstGeom prst="rect">
            <a:avLst/>
          </a:prstGeom>
          <a:noFill/>
          <a:ln w="0">
            <a:noFill/>
            <a:prstDash val="solid"/>
          </a:ln>
        </p:spPr>
        <p:txBody>
          <a:bodyPr/>
          <a:lstStyle/>
          <a:p>
            <a:pPr algn="l">
              <a:defRPr sz="1500" b="1">
                <a:solidFill>
                  <a:srgbClr val="132033"/>
                </a:solidFill>
              </a:defRPr>
            </a:pPr>
            <a:r>
              <a:rPr sz="1500" b="1">
                <a:solidFill>
                  <a:srgbClr val="132033"/>
                </a:solidFill>
              </a:rPr>
              <a:t>Five structural issues make ordinary search unreliable</a:t>
            </a:r>
          </a:p>
        </p:txBody>
      </p:sp>
      <p:sp>
        <p:nvSpPr>
          <p:cNvPr id="16" name="Rectangle 15">
            <a:extLst>
              <a:ext uri="{FF2B5EF4-FFF2-40B4-BE49-F238E27FC236}">
                <a16:creationId xmlns:a16="http://schemas.microsoft.com/office/drawing/2014/main" id="{39E6F904-EE6F-40B1-B72C-B2BAC85C4351}"/>
              </a:ext>
            </a:extLst>
          </p:cNvPr>
          <p:cNvSpPr>
            <a:spLocks noGrp="1"/>
          </p:cNvSpPr>
          <p:nvPr/>
        </p:nvSpPr>
        <p:spPr>
          <a:xfrm>
            <a:off x="609600" y="2876550"/>
            <a:ext cx="400050" cy="209550"/>
          </a:xfrm>
          <a:prstGeom prst="rect">
            <a:avLst/>
          </a:prstGeom>
          <a:noFill/>
          <a:ln w="0">
            <a:noFill/>
            <a:prstDash val="solid"/>
          </a:ln>
        </p:spPr>
        <p:txBody>
          <a:bodyPr/>
          <a:lstStyle/>
          <a:p>
            <a:pPr algn="l">
              <a:defRPr sz="975" b="1">
                <a:solidFill>
                  <a:srgbClr val="1769AA"/>
                </a:solidFill>
              </a:defRPr>
            </a:pPr>
            <a:r>
              <a:rPr sz="975" b="1">
                <a:solidFill>
                  <a:srgbClr val="1769AA"/>
                </a:solidFill>
              </a:rPr>
              <a:t>01</a:t>
            </a:r>
          </a:p>
        </p:txBody>
      </p:sp>
      <p:sp>
        <p:nvSpPr>
          <p:cNvPr id="17" name="Rectangle 16">
            <a:extLst>
              <a:ext uri="{FF2B5EF4-FFF2-40B4-BE49-F238E27FC236}">
                <a16:creationId xmlns:a16="http://schemas.microsoft.com/office/drawing/2014/main" id="{AA3E33DB-2706-425B-8E3F-DE5B1C0A71E1}"/>
              </a:ext>
            </a:extLst>
          </p:cNvPr>
          <p:cNvSpPr>
            <a:spLocks noGrp="1"/>
          </p:cNvSpPr>
          <p:nvPr/>
        </p:nvSpPr>
        <p:spPr>
          <a:xfrm>
            <a:off x="1066800" y="2876550"/>
            <a:ext cx="2000250" cy="228600"/>
          </a:xfrm>
          <a:prstGeom prst="rect">
            <a:avLst/>
          </a:prstGeom>
          <a:noFill/>
          <a:ln w="0">
            <a:noFill/>
            <a:prstDash val="solid"/>
          </a:ln>
        </p:spPr>
        <p:txBody>
          <a:bodyPr/>
          <a:lstStyle/>
          <a:p>
            <a:pPr algn="l">
              <a:defRPr sz="1275" b="1">
                <a:solidFill>
                  <a:srgbClr val="132033"/>
                </a:solidFill>
              </a:defRPr>
            </a:pPr>
            <a:r>
              <a:rPr sz="1275" b="1">
                <a:solidFill>
                  <a:srgbClr val="132033"/>
                </a:solidFill>
              </a:rPr>
              <a:t>Versioning</a:t>
            </a:r>
          </a:p>
        </p:txBody>
      </p:sp>
      <p:sp>
        <p:nvSpPr>
          <p:cNvPr id="18" name="Rectangle 17">
            <a:extLst>
              <a:ext uri="{FF2B5EF4-FFF2-40B4-BE49-F238E27FC236}">
                <a16:creationId xmlns:a16="http://schemas.microsoft.com/office/drawing/2014/main" id="{A80DD894-48AD-4DCE-BB99-EB87712BD6E1}"/>
              </a:ext>
            </a:extLst>
          </p:cNvPr>
          <p:cNvSpPr>
            <a:spLocks noGrp="1"/>
          </p:cNvSpPr>
          <p:nvPr/>
        </p:nvSpPr>
        <p:spPr>
          <a:xfrm>
            <a:off x="3143250" y="2876550"/>
            <a:ext cx="7953375" cy="266700"/>
          </a:xfrm>
          <a:prstGeom prst="rect">
            <a:avLst/>
          </a:prstGeom>
          <a:noFill/>
          <a:ln w="0">
            <a:noFill/>
            <a:prstDash val="solid"/>
          </a:ln>
        </p:spPr>
        <p:txBody>
          <a:bodyPr/>
          <a:lstStyle/>
          <a:p>
            <a:pPr algn="l">
              <a:defRPr sz="1200" b="0">
                <a:solidFill>
                  <a:srgbClr val="35445B"/>
                </a:solidFill>
              </a:defRPr>
            </a:pPr>
            <a:r>
              <a:rPr sz="1200" b="0">
                <a:solidFill>
                  <a:srgbClr val="35445B"/>
                </a:solidFill>
              </a:rPr>
              <a:t>Drafts, signed copies and corrections coexist</a:t>
            </a:r>
          </a:p>
        </p:txBody>
      </p:sp>
      <p:sp>
        <p:nvSpPr>
          <p:cNvPr id="19" name="Rectangle 18">
            <a:extLst>
              <a:ext uri="{FF2B5EF4-FFF2-40B4-BE49-F238E27FC236}">
                <a16:creationId xmlns:a16="http://schemas.microsoft.com/office/drawing/2014/main" id="{253BA844-FD1A-46F9-8988-6CBB92F66B13}"/>
              </a:ext>
            </a:extLst>
          </p:cNvPr>
          <p:cNvSpPr>
            <a:spLocks noGrp="1"/>
          </p:cNvSpPr>
          <p:nvPr/>
        </p:nvSpPr>
        <p:spPr>
          <a:xfrm>
            <a:off x="1066800" y="3248025"/>
            <a:ext cx="10001250" cy="9525"/>
          </a:xfrm>
          <a:prstGeom prst="rect">
            <a:avLst/>
          </a:prstGeom>
          <a:solidFill>
            <a:srgbClr val="D8DEE8"/>
          </a:solidFill>
          <a:ln w="0">
            <a:noFill/>
            <a:prstDash val="solid"/>
          </a:ln>
        </p:spPr>
        <p:txBody>
          <a:bodyPr/>
          <a:lstStyle/>
          <a:p>
            <a:endParaRPr lang="en-IN"/>
          </a:p>
        </p:txBody>
      </p:sp>
      <p:sp>
        <p:nvSpPr>
          <p:cNvPr id="20" name="Rectangle 19">
            <a:extLst>
              <a:ext uri="{FF2B5EF4-FFF2-40B4-BE49-F238E27FC236}">
                <a16:creationId xmlns:a16="http://schemas.microsoft.com/office/drawing/2014/main" id="{1B2B5E94-2EA2-4BBD-8867-12D1B6F4BA34}"/>
              </a:ext>
            </a:extLst>
          </p:cNvPr>
          <p:cNvSpPr>
            <a:spLocks noGrp="1"/>
          </p:cNvSpPr>
          <p:nvPr/>
        </p:nvSpPr>
        <p:spPr>
          <a:xfrm>
            <a:off x="609600" y="3429000"/>
            <a:ext cx="400050" cy="209550"/>
          </a:xfrm>
          <a:prstGeom prst="rect">
            <a:avLst/>
          </a:prstGeom>
          <a:noFill/>
          <a:ln w="0">
            <a:noFill/>
            <a:prstDash val="solid"/>
          </a:ln>
        </p:spPr>
        <p:txBody>
          <a:bodyPr/>
          <a:lstStyle/>
          <a:p>
            <a:pPr algn="l">
              <a:defRPr sz="975" b="1">
                <a:solidFill>
                  <a:srgbClr val="1769AA"/>
                </a:solidFill>
              </a:defRPr>
            </a:pPr>
            <a:r>
              <a:rPr sz="975" b="1">
                <a:solidFill>
                  <a:srgbClr val="1769AA"/>
                </a:solidFill>
              </a:rPr>
              <a:t>02</a:t>
            </a:r>
          </a:p>
        </p:txBody>
      </p:sp>
      <p:sp>
        <p:nvSpPr>
          <p:cNvPr id="21" name="Rectangle 20">
            <a:extLst>
              <a:ext uri="{FF2B5EF4-FFF2-40B4-BE49-F238E27FC236}">
                <a16:creationId xmlns:a16="http://schemas.microsoft.com/office/drawing/2014/main" id="{455442B0-E321-4A4B-9B6A-E64E8E974E0A}"/>
              </a:ext>
            </a:extLst>
          </p:cNvPr>
          <p:cNvSpPr>
            <a:spLocks noGrp="1"/>
          </p:cNvSpPr>
          <p:nvPr/>
        </p:nvSpPr>
        <p:spPr>
          <a:xfrm>
            <a:off x="1066800" y="3429000"/>
            <a:ext cx="2000250" cy="228600"/>
          </a:xfrm>
          <a:prstGeom prst="rect">
            <a:avLst/>
          </a:prstGeom>
          <a:noFill/>
          <a:ln w="0">
            <a:noFill/>
            <a:prstDash val="solid"/>
          </a:ln>
        </p:spPr>
        <p:txBody>
          <a:bodyPr/>
          <a:lstStyle/>
          <a:p>
            <a:pPr algn="l">
              <a:defRPr sz="1275" b="1">
                <a:solidFill>
                  <a:srgbClr val="132033"/>
                </a:solidFill>
              </a:defRPr>
            </a:pPr>
            <a:r>
              <a:rPr sz="1275" b="1">
                <a:solidFill>
                  <a:srgbClr val="132033"/>
                </a:solidFill>
              </a:rPr>
              <a:t>Amendment chains</a:t>
            </a:r>
          </a:p>
        </p:txBody>
      </p:sp>
      <p:sp>
        <p:nvSpPr>
          <p:cNvPr id="22" name="Rectangle 21">
            <a:extLst>
              <a:ext uri="{FF2B5EF4-FFF2-40B4-BE49-F238E27FC236}">
                <a16:creationId xmlns:a16="http://schemas.microsoft.com/office/drawing/2014/main" id="{C8BFB497-A8FD-488F-A738-C7D6741EEF20}"/>
              </a:ext>
            </a:extLst>
          </p:cNvPr>
          <p:cNvSpPr>
            <a:spLocks noGrp="1"/>
          </p:cNvSpPr>
          <p:nvPr/>
        </p:nvSpPr>
        <p:spPr>
          <a:xfrm>
            <a:off x="3143250" y="3429000"/>
            <a:ext cx="7953375" cy="266700"/>
          </a:xfrm>
          <a:prstGeom prst="rect">
            <a:avLst/>
          </a:prstGeom>
          <a:noFill/>
          <a:ln w="0">
            <a:noFill/>
            <a:prstDash val="solid"/>
          </a:ln>
        </p:spPr>
        <p:txBody>
          <a:bodyPr/>
          <a:lstStyle/>
          <a:p>
            <a:pPr algn="l">
              <a:defRPr sz="1200" b="0">
                <a:solidFill>
                  <a:srgbClr val="35445B"/>
                </a:solidFill>
              </a:defRPr>
            </a:pPr>
            <a:r>
              <a:rPr sz="1200" b="0">
                <a:solidFill>
                  <a:srgbClr val="35445B"/>
                </a:solidFill>
              </a:rPr>
              <a:t>Later documents change selected provisions</a:t>
            </a:r>
          </a:p>
        </p:txBody>
      </p:sp>
      <p:sp>
        <p:nvSpPr>
          <p:cNvPr id="23" name="Rectangle 22">
            <a:extLst>
              <a:ext uri="{FF2B5EF4-FFF2-40B4-BE49-F238E27FC236}">
                <a16:creationId xmlns:a16="http://schemas.microsoft.com/office/drawing/2014/main" id="{64329061-B971-43AC-888D-EE5A50C3C8CD}"/>
              </a:ext>
            </a:extLst>
          </p:cNvPr>
          <p:cNvSpPr>
            <a:spLocks noGrp="1"/>
          </p:cNvSpPr>
          <p:nvPr/>
        </p:nvSpPr>
        <p:spPr>
          <a:xfrm>
            <a:off x="1066800" y="3800475"/>
            <a:ext cx="10001250" cy="9525"/>
          </a:xfrm>
          <a:prstGeom prst="rect">
            <a:avLst/>
          </a:prstGeom>
          <a:solidFill>
            <a:srgbClr val="D8DEE8"/>
          </a:solidFill>
          <a:ln w="0">
            <a:noFill/>
            <a:prstDash val="solid"/>
          </a:ln>
        </p:spPr>
        <p:txBody>
          <a:bodyPr/>
          <a:lstStyle/>
          <a:p>
            <a:endParaRPr lang="en-IN"/>
          </a:p>
        </p:txBody>
      </p:sp>
      <p:sp>
        <p:nvSpPr>
          <p:cNvPr id="24" name="Rectangle 23">
            <a:extLst>
              <a:ext uri="{FF2B5EF4-FFF2-40B4-BE49-F238E27FC236}">
                <a16:creationId xmlns:a16="http://schemas.microsoft.com/office/drawing/2014/main" id="{70D090FA-66C7-4567-B0C8-DB1BAC34F0B7}"/>
              </a:ext>
            </a:extLst>
          </p:cNvPr>
          <p:cNvSpPr>
            <a:spLocks noGrp="1"/>
          </p:cNvSpPr>
          <p:nvPr/>
        </p:nvSpPr>
        <p:spPr>
          <a:xfrm>
            <a:off x="609600" y="3981450"/>
            <a:ext cx="400050" cy="209550"/>
          </a:xfrm>
          <a:prstGeom prst="rect">
            <a:avLst/>
          </a:prstGeom>
          <a:noFill/>
          <a:ln w="0">
            <a:noFill/>
            <a:prstDash val="solid"/>
          </a:ln>
        </p:spPr>
        <p:txBody>
          <a:bodyPr/>
          <a:lstStyle/>
          <a:p>
            <a:pPr algn="l">
              <a:defRPr sz="975" b="1">
                <a:solidFill>
                  <a:srgbClr val="1769AA"/>
                </a:solidFill>
              </a:defRPr>
            </a:pPr>
            <a:r>
              <a:rPr sz="975" b="1">
                <a:solidFill>
                  <a:srgbClr val="1769AA"/>
                </a:solidFill>
              </a:rPr>
              <a:t>03</a:t>
            </a:r>
          </a:p>
        </p:txBody>
      </p:sp>
      <p:sp>
        <p:nvSpPr>
          <p:cNvPr id="25" name="Rectangle 24">
            <a:extLst>
              <a:ext uri="{FF2B5EF4-FFF2-40B4-BE49-F238E27FC236}">
                <a16:creationId xmlns:a16="http://schemas.microsoft.com/office/drawing/2014/main" id="{E2225A71-6742-401E-8432-39207D1A7766}"/>
              </a:ext>
            </a:extLst>
          </p:cNvPr>
          <p:cNvSpPr>
            <a:spLocks noGrp="1"/>
          </p:cNvSpPr>
          <p:nvPr/>
        </p:nvSpPr>
        <p:spPr>
          <a:xfrm>
            <a:off x="1066800" y="3981450"/>
            <a:ext cx="2000250" cy="228600"/>
          </a:xfrm>
          <a:prstGeom prst="rect">
            <a:avLst/>
          </a:prstGeom>
          <a:noFill/>
          <a:ln w="0">
            <a:noFill/>
            <a:prstDash val="solid"/>
          </a:ln>
        </p:spPr>
        <p:txBody>
          <a:bodyPr/>
          <a:lstStyle/>
          <a:p>
            <a:pPr algn="l">
              <a:defRPr sz="1275" b="1">
                <a:solidFill>
                  <a:srgbClr val="132033"/>
                </a:solidFill>
              </a:defRPr>
            </a:pPr>
            <a:r>
              <a:rPr sz="1275" b="1">
                <a:solidFill>
                  <a:srgbClr val="132033"/>
                </a:solidFill>
              </a:rPr>
              <a:t>Repeated numbering</a:t>
            </a:r>
          </a:p>
        </p:txBody>
      </p:sp>
      <p:sp>
        <p:nvSpPr>
          <p:cNvPr id="26" name="Rectangle 25">
            <a:extLst>
              <a:ext uri="{FF2B5EF4-FFF2-40B4-BE49-F238E27FC236}">
                <a16:creationId xmlns:a16="http://schemas.microsoft.com/office/drawing/2014/main" id="{7D0789CC-231D-437C-8E45-CB88235626C1}"/>
              </a:ext>
            </a:extLst>
          </p:cNvPr>
          <p:cNvSpPr>
            <a:spLocks noGrp="1"/>
          </p:cNvSpPr>
          <p:nvPr/>
        </p:nvSpPr>
        <p:spPr>
          <a:xfrm>
            <a:off x="3143250" y="3981450"/>
            <a:ext cx="7953375" cy="266700"/>
          </a:xfrm>
          <a:prstGeom prst="rect">
            <a:avLst/>
          </a:prstGeom>
          <a:noFill/>
          <a:ln w="0">
            <a:noFill/>
            <a:prstDash val="solid"/>
          </a:ln>
        </p:spPr>
        <p:txBody>
          <a:bodyPr/>
          <a:lstStyle/>
          <a:p>
            <a:pPr algn="l">
              <a:defRPr sz="1200" b="0">
                <a:solidFill>
                  <a:srgbClr val="35445B"/>
                </a:solidFill>
              </a:defRPr>
            </a:pPr>
            <a:r>
              <a:rPr sz="1200" b="0">
                <a:solidFill>
                  <a:srgbClr val="35445B"/>
                </a:solidFill>
              </a:rPr>
              <a:t>Parallel lifecycles can each contain a First Amendment</a:t>
            </a:r>
          </a:p>
        </p:txBody>
      </p:sp>
      <p:sp>
        <p:nvSpPr>
          <p:cNvPr id="27" name="Rectangle 26">
            <a:extLst>
              <a:ext uri="{FF2B5EF4-FFF2-40B4-BE49-F238E27FC236}">
                <a16:creationId xmlns:a16="http://schemas.microsoft.com/office/drawing/2014/main" id="{E8EBC8C6-D95D-4568-9C7B-3E122CD618C5}"/>
              </a:ext>
            </a:extLst>
          </p:cNvPr>
          <p:cNvSpPr>
            <a:spLocks noGrp="1"/>
          </p:cNvSpPr>
          <p:nvPr/>
        </p:nvSpPr>
        <p:spPr>
          <a:xfrm>
            <a:off x="1066800" y="4352925"/>
            <a:ext cx="10001250" cy="9525"/>
          </a:xfrm>
          <a:prstGeom prst="rect">
            <a:avLst/>
          </a:prstGeom>
          <a:solidFill>
            <a:srgbClr val="D8DEE8"/>
          </a:solidFill>
          <a:ln w="0">
            <a:noFill/>
            <a:prstDash val="solid"/>
          </a:ln>
        </p:spPr>
        <p:txBody>
          <a:bodyPr/>
          <a:lstStyle/>
          <a:p>
            <a:endParaRPr lang="en-IN"/>
          </a:p>
        </p:txBody>
      </p:sp>
      <p:sp>
        <p:nvSpPr>
          <p:cNvPr id="28" name="Rectangle 27">
            <a:extLst>
              <a:ext uri="{FF2B5EF4-FFF2-40B4-BE49-F238E27FC236}">
                <a16:creationId xmlns:a16="http://schemas.microsoft.com/office/drawing/2014/main" id="{498B9EAB-C59B-46CA-B34D-0B94E305FB7B}"/>
              </a:ext>
            </a:extLst>
          </p:cNvPr>
          <p:cNvSpPr>
            <a:spLocks noGrp="1"/>
          </p:cNvSpPr>
          <p:nvPr/>
        </p:nvSpPr>
        <p:spPr>
          <a:xfrm>
            <a:off x="609600" y="4533900"/>
            <a:ext cx="400050" cy="209550"/>
          </a:xfrm>
          <a:prstGeom prst="rect">
            <a:avLst/>
          </a:prstGeom>
          <a:noFill/>
          <a:ln w="0">
            <a:noFill/>
            <a:prstDash val="solid"/>
          </a:ln>
        </p:spPr>
        <p:txBody>
          <a:bodyPr/>
          <a:lstStyle/>
          <a:p>
            <a:pPr algn="l">
              <a:defRPr sz="975" b="1">
                <a:solidFill>
                  <a:srgbClr val="1769AA"/>
                </a:solidFill>
              </a:defRPr>
            </a:pPr>
            <a:r>
              <a:rPr sz="975" b="1">
                <a:solidFill>
                  <a:srgbClr val="1769AA"/>
                </a:solidFill>
              </a:rPr>
              <a:t>04</a:t>
            </a:r>
          </a:p>
        </p:txBody>
      </p:sp>
      <p:sp>
        <p:nvSpPr>
          <p:cNvPr id="29" name="Rectangle 28">
            <a:extLst>
              <a:ext uri="{FF2B5EF4-FFF2-40B4-BE49-F238E27FC236}">
                <a16:creationId xmlns:a16="http://schemas.microsoft.com/office/drawing/2014/main" id="{AD7D1079-51DE-4116-BE81-3552537A2355}"/>
              </a:ext>
            </a:extLst>
          </p:cNvPr>
          <p:cNvSpPr>
            <a:spLocks noGrp="1"/>
          </p:cNvSpPr>
          <p:nvPr/>
        </p:nvSpPr>
        <p:spPr>
          <a:xfrm>
            <a:off x="1066800" y="4533900"/>
            <a:ext cx="2000250" cy="228600"/>
          </a:xfrm>
          <a:prstGeom prst="rect">
            <a:avLst/>
          </a:prstGeom>
          <a:noFill/>
          <a:ln w="0">
            <a:noFill/>
            <a:prstDash val="solid"/>
          </a:ln>
        </p:spPr>
        <p:txBody>
          <a:bodyPr/>
          <a:lstStyle/>
          <a:p>
            <a:pPr algn="l">
              <a:defRPr sz="1275" b="1">
                <a:solidFill>
                  <a:srgbClr val="132033"/>
                </a:solidFill>
              </a:defRPr>
            </a:pPr>
            <a:r>
              <a:rPr sz="1275" b="1">
                <a:solidFill>
                  <a:srgbClr val="132033"/>
                </a:solidFill>
              </a:rPr>
              <a:t>Scanned content</a:t>
            </a:r>
          </a:p>
        </p:txBody>
      </p:sp>
      <p:sp>
        <p:nvSpPr>
          <p:cNvPr id="30" name="Rectangle 29">
            <a:extLst>
              <a:ext uri="{FF2B5EF4-FFF2-40B4-BE49-F238E27FC236}">
                <a16:creationId xmlns:a16="http://schemas.microsoft.com/office/drawing/2014/main" id="{4BBD37A3-F13A-4407-A96F-574C08D3A6C2}"/>
              </a:ext>
            </a:extLst>
          </p:cNvPr>
          <p:cNvSpPr>
            <a:spLocks noGrp="1"/>
          </p:cNvSpPr>
          <p:nvPr/>
        </p:nvSpPr>
        <p:spPr>
          <a:xfrm>
            <a:off x="3143250" y="4533900"/>
            <a:ext cx="7953375" cy="266700"/>
          </a:xfrm>
          <a:prstGeom prst="rect">
            <a:avLst/>
          </a:prstGeom>
          <a:noFill/>
          <a:ln w="0">
            <a:noFill/>
            <a:prstDash val="solid"/>
          </a:ln>
        </p:spPr>
        <p:txBody>
          <a:bodyPr/>
          <a:lstStyle/>
          <a:p>
            <a:pPr algn="l">
              <a:defRPr sz="1200" b="0">
                <a:solidFill>
                  <a:srgbClr val="35445B"/>
                </a:solidFill>
              </a:defRPr>
            </a:pPr>
            <a:r>
              <a:rPr sz="1200" b="0">
                <a:solidFill>
                  <a:srgbClr val="35445B"/>
                </a:solidFill>
              </a:rPr>
              <a:t>OCR, naming variation and missing metadata complicate discovery</a:t>
            </a:r>
          </a:p>
        </p:txBody>
      </p:sp>
      <p:sp>
        <p:nvSpPr>
          <p:cNvPr id="31" name="Rectangle 30">
            <a:extLst>
              <a:ext uri="{FF2B5EF4-FFF2-40B4-BE49-F238E27FC236}">
                <a16:creationId xmlns:a16="http://schemas.microsoft.com/office/drawing/2014/main" id="{A7004CF7-C5C2-4094-A787-5774A4183481}"/>
              </a:ext>
            </a:extLst>
          </p:cNvPr>
          <p:cNvSpPr>
            <a:spLocks noGrp="1"/>
          </p:cNvSpPr>
          <p:nvPr/>
        </p:nvSpPr>
        <p:spPr>
          <a:xfrm>
            <a:off x="1066800" y="4905375"/>
            <a:ext cx="10001250" cy="9525"/>
          </a:xfrm>
          <a:prstGeom prst="rect">
            <a:avLst/>
          </a:prstGeom>
          <a:solidFill>
            <a:srgbClr val="D8DEE8"/>
          </a:solidFill>
          <a:ln w="0">
            <a:noFill/>
            <a:prstDash val="solid"/>
          </a:ln>
        </p:spPr>
        <p:txBody>
          <a:bodyPr/>
          <a:lstStyle/>
          <a:p>
            <a:endParaRPr lang="en-IN"/>
          </a:p>
        </p:txBody>
      </p:sp>
      <p:sp>
        <p:nvSpPr>
          <p:cNvPr id="32" name="Rectangle 31">
            <a:extLst>
              <a:ext uri="{FF2B5EF4-FFF2-40B4-BE49-F238E27FC236}">
                <a16:creationId xmlns:a16="http://schemas.microsoft.com/office/drawing/2014/main" id="{DC4C62CB-E227-4CAB-9F00-3F4CC7E6A199}"/>
              </a:ext>
            </a:extLst>
          </p:cNvPr>
          <p:cNvSpPr>
            <a:spLocks noGrp="1"/>
          </p:cNvSpPr>
          <p:nvPr/>
        </p:nvSpPr>
        <p:spPr>
          <a:xfrm>
            <a:off x="609600" y="5086350"/>
            <a:ext cx="400050" cy="209550"/>
          </a:xfrm>
          <a:prstGeom prst="rect">
            <a:avLst/>
          </a:prstGeom>
          <a:noFill/>
          <a:ln w="0">
            <a:noFill/>
            <a:prstDash val="solid"/>
          </a:ln>
        </p:spPr>
        <p:txBody>
          <a:bodyPr/>
          <a:lstStyle/>
          <a:p>
            <a:pPr algn="l">
              <a:defRPr sz="975" b="1">
                <a:solidFill>
                  <a:srgbClr val="C74343"/>
                </a:solidFill>
              </a:defRPr>
            </a:pPr>
            <a:r>
              <a:rPr sz="975" b="1">
                <a:solidFill>
                  <a:srgbClr val="C74343"/>
                </a:solidFill>
              </a:rPr>
              <a:t>05</a:t>
            </a:r>
          </a:p>
        </p:txBody>
      </p:sp>
      <p:sp>
        <p:nvSpPr>
          <p:cNvPr id="33" name="Rectangle 32">
            <a:extLst>
              <a:ext uri="{FF2B5EF4-FFF2-40B4-BE49-F238E27FC236}">
                <a16:creationId xmlns:a16="http://schemas.microsoft.com/office/drawing/2014/main" id="{D09D94FD-CAE7-4846-9B4B-86E6BCF4838A}"/>
              </a:ext>
            </a:extLst>
          </p:cNvPr>
          <p:cNvSpPr>
            <a:spLocks noGrp="1"/>
          </p:cNvSpPr>
          <p:nvPr/>
        </p:nvSpPr>
        <p:spPr>
          <a:xfrm>
            <a:off x="1066800" y="5086350"/>
            <a:ext cx="2000250" cy="228600"/>
          </a:xfrm>
          <a:prstGeom prst="rect">
            <a:avLst/>
          </a:prstGeom>
          <a:noFill/>
          <a:ln w="0">
            <a:noFill/>
            <a:prstDash val="solid"/>
          </a:ln>
        </p:spPr>
        <p:txBody>
          <a:bodyPr/>
          <a:lstStyle/>
          <a:p>
            <a:pPr algn="l">
              <a:defRPr sz="1275" b="1">
                <a:solidFill>
                  <a:srgbClr val="132033"/>
                </a:solidFill>
              </a:defRPr>
            </a:pPr>
            <a:r>
              <a:rPr sz="1275" b="1">
                <a:solidFill>
                  <a:srgbClr val="132033"/>
                </a:solidFill>
              </a:rPr>
              <a:t>Missing current state</a:t>
            </a:r>
          </a:p>
        </p:txBody>
      </p:sp>
      <p:sp>
        <p:nvSpPr>
          <p:cNvPr id="34" name="Rectangle 33">
            <a:extLst>
              <a:ext uri="{FF2B5EF4-FFF2-40B4-BE49-F238E27FC236}">
                <a16:creationId xmlns:a16="http://schemas.microsoft.com/office/drawing/2014/main" id="{B693A50E-F9A8-414D-84C2-7BCB332DF8DD}"/>
              </a:ext>
            </a:extLst>
          </p:cNvPr>
          <p:cNvSpPr>
            <a:spLocks noGrp="1"/>
          </p:cNvSpPr>
          <p:nvPr/>
        </p:nvSpPr>
        <p:spPr>
          <a:xfrm>
            <a:off x="3143250" y="5086350"/>
            <a:ext cx="7953375" cy="266700"/>
          </a:xfrm>
          <a:prstGeom prst="rect">
            <a:avLst/>
          </a:prstGeom>
          <a:noFill/>
          <a:ln w="0">
            <a:noFill/>
            <a:prstDash val="solid"/>
          </a:ln>
        </p:spPr>
        <p:txBody>
          <a:bodyPr/>
          <a:lstStyle/>
          <a:p>
            <a:pPr algn="l">
              <a:defRPr sz="1200" b="0">
                <a:solidFill>
                  <a:srgbClr val="35445B"/>
                </a:solidFill>
              </a:defRPr>
            </a:pPr>
            <a:r>
              <a:rPr sz="1200" b="0">
                <a:solidFill>
                  <a:srgbClr val="35445B"/>
                </a:solidFill>
              </a:rPr>
              <a:t>No source flag identifies which provision governs today</a:t>
            </a:r>
          </a:p>
        </p:txBody>
      </p:sp>
      <p:sp>
        <p:nvSpPr>
          <p:cNvPr id="35" name="Rectangle: Rounded Corners 34">
            <a:extLst>
              <a:ext uri="{FF2B5EF4-FFF2-40B4-BE49-F238E27FC236}">
                <a16:creationId xmlns:a16="http://schemas.microsoft.com/office/drawing/2014/main" id="{E247EFBA-3F99-4267-9D08-445BE21FA7DA}"/>
              </a:ext>
            </a:extLst>
          </p:cNvPr>
          <p:cNvSpPr>
            <a:spLocks noGrp="1"/>
          </p:cNvSpPr>
          <p:nvPr/>
        </p:nvSpPr>
        <p:spPr>
          <a:xfrm>
            <a:off x="1619250" y="5791200"/>
            <a:ext cx="8953500" cy="514350"/>
          </a:xfrm>
          <a:prstGeom prst="roundRect">
            <a:avLst>
              <a:gd name="adj" fmla="val 7407"/>
            </a:avLst>
          </a:prstGeom>
          <a:solidFill>
            <a:srgbClr val="FBEDED"/>
          </a:solidFill>
          <a:ln w="9525">
            <a:solidFill>
              <a:srgbClr val="C74343"/>
            </a:solidFill>
            <a:prstDash val="solid"/>
          </a:ln>
        </p:spPr>
        <p:txBody>
          <a:bodyPr/>
          <a:lstStyle/>
          <a:p>
            <a:endParaRPr lang="en-IN"/>
          </a:p>
        </p:txBody>
      </p:sp>
      <p:sp>
        <p:nvSpPr>
          <p:cNvPr id="36" name="Rectangle 35">
            <a:extLst>
              <a:ext uri="{FF2B5EF4-FFF2-40B4-BE49-F238E27FC236}">
                <a16:creationId xmlns:a16="http://schemas.microsoft.com/office/drawing/2014/main" id="{56049C38-0B41-4740-967D-2624BB8D7544}"/>
              </a:ext>
            </a:extLst>
          </p:cNvPr>
          <p:cNvSpPr>
            <a:spLocks noGrp="1"/>
          </p:cNvSpPr>
          <p:nvPr/>
        </p:nvSpPr>
        <p:spPr>
          <a:xfrm>
            <a:off x="1619250" y="5791200"/>
            <a:ext cx="57150" cy="514350"/>
          </a:xfrm>
          <a:prstGeom prst="rect">
            <a:avLst/>
          </a:prstGeom>
          <a:solidFill>
            <a:srgbClr val="C74343"/>
          </a:solidFill>
          <a:ln w="0">
            <a:noFill/>
            <a:prstDash val="solid"/>
          </a:ln>
        </p:spPr>
        <p:txBody>
          <a:bodyPr/>
          <a:lstStyle/>
          <a:p>
            <a:endParaRPr lang="en-IN"/>
          </a:p>
        </p:txBody>
      </p:sp>
      <p:sp>
        <p:nvSpPr>
          <p:cNvPr id="37" name="Rectangle 36">
            <a:extLst>
              <a:ext uri="{FF2B5EF4-FFF2-40B4-BE49-F238E27FC236}">
                <a16:creationId xmlns:a16="http://schemas.microsoft.com/office/drawing/2014/main" id="{50E0084A-0F33-4122-88CF-8AC83E329180}"/>
              </a:ext>
            </a:extLst>
          </p:cNvPr>
          <p:cNvSpPr>
            <a:spLocks noGrp="1"/>
          </p:cNvSpPr>
          <p:nvPr/>
        </p:nvSpPr>
        <p:spPr>
          <a:xfrm>
            <a:off x="1828800" y="5915025"/>
            <a:ext cx="8591550" cy="342900"/>
          </a:xfrm>
          <a:prstGeom prst="rect">
            <a:avLst/>
          </a:prstGeom>
          <a:noFill/>
          <a:ln w="0">
            <a:noFill/>
            <a:prstDash val="solid"/>
          </a:ln>
        </p:spPr>
        <p:txBody>
          <a:bodyPr/>
          <a:lstStyle/>
          <a:p>
            <a:pPr algn="l">
              <a:defRPr sz="1350" b="1">
                <a:solidFill>
                  <a:srgbClr val="132033"/>
                </a:solidFill>
              </a:defRPr>
            </a:pPr>
            <a:r>
              <a:rPr sz="1350" b="1">
                <a:solidFill>
                  <a:srgbClr val="132033"/>
                </a:solidFill>
              </a:rPr>
              <a:t>Implication: the same words may appear in several files—but only one version may govern.</a:t>
            </a:r>
          </a:p>
        </p:txBody>
      </p:sp>
    </p:spTree>
    <p:extLst>
      <p:ext uri="{BB962C8B-B14F-4D97-AF65-F5344CB8AC3E}">
        <p14:creationId xmlns:p14="http://schemas.microsoft.com/office/powerpoint/2010/main" val="8964582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2" name="section">
            <a:extLst>
              <a:ext uri="{FF2B5EF4-FFF2-40B4-BE49-F238E27FC236}">
                <a16:creationId xmlns:a16="http://schemas.microsoft.com/office/drawing/2014/main" id="{EF8B9497-911D-4F9B-9E9D-97699769AF8F}"/>
              </a:ext>
            </a:extLst>
          </p:cNvPr>
          <p:cNvSpPr>
            <a:spLocks noGrp="1"/>
          </p:cNvSpPr>
          <p:nvPr/>
        </p:nvSpPr>
        <p:spPr>
          <a:xfrm>
            <a:off x="457200" y="209550"/>
            <a:ext cx="6858000" cy="190500"/>
          </a:xfrm>
          <a:prstGeom prst="rect">
            <a:avLst/>
          </a:prstGeom>
          <a:noFill/>
          <a:ln w="0">
            <a:noFill/>
            <a:prstDash val="solid"/>
          </a:ln>
        </p:spPr>
        <p:txBody>
          <a:bodyPr/>
          <a:lstStyle/>
          <a:p>
            <a:pPr algn="l">
              <a:defRPr sz="825" b="1">
                <a:solidFill>
                  <a:srgbClr val="C74343"/>
                </a:solidFill>
              </a:defRPr>
            </a:pPr>
            <a:r>
              <a:rPr sz="825" b="1">
                <a:solidFill>
                  <a:srgbClr val="C74343"/>
                </a:solidFill>
              </a:rPr>
              <a:t>PROBLEM SEVERITY</a:t>
            </a:r>
          </a:p>
        </p:txBody>
      </p:sp>
      <p:sp>
        <p:nvSpPr>
          <p:cNvPr id="2" name="slide-title">
            <a:extLst>
              <a:ext uri="{FF2B5EF4-FFF2-40B4-BE49-F238E27FC236}">
                <a16:creationId xmlns:a16="http://schemas.microsoft.com/office/drawing/2014/main" id="{507A8766-84FA-401E-9BD0-947C69348577}"/>
              </a:ext>
            </a:extLst>
          </p:cNvPr>
          <p:cNvSpPr>
            <a:spLocks noGrp="1"/>
          </p:cNvSpPr>
          <p:nvPr/>
        </p:nvSpPr>
        <p:spPr>
          <a:xfrm>
            <a:off x="457200" y="457200"/>
            <a:ext cx="11220450" cy="457200"/>
          </a:xfrm>
          <a:prstGeom prst="rect">
            <a:avLst/>
          </a:prstGeom>
          <a:noFill/>
          <a:ln w="0">
            <a:noFill/>
            <a:prstDash val="solid"/>
          </a:ln>
        </p:spPr>
        <p:txBody>
          <a:bodyPr/>
          <a:lstStyle/>
          <a:p>
            <a:pPr algn="l">
              <a:defRPr sz="2625" b="1">
                <a:solidFill>
                  <a:srgbClr val="132033"/>
                </a:solidFill>
              </a:defRPr>
            </a:pPr>
            <a:r>
              <a:rPr sz="2625" b="1">
                <a:solidFill>
                  <a:srgbClr val="132033"/>
                </a:solidFill>
              </a:rPr>
              <a:t>One provider can create 1,000+ interpretation paths</a:t>
            </a:r>
          </a:p>
        </p:txBody>
      </p:sp>
      <p:sp>
        <p:nvSpPr>
          <p:cNvPr id="3" name="Rectangle 2">
            <a:extLst>
              <a:ext uri="{FF2B5EF4-FFF2-40B4-BE49-F238E27FC236}">
                <a16:creationId xmlns:a16="http://schemas.microsoft.com/office/drawing/2014/main" id="{3069E92C-9040-4245-8F8E-F52A957DB5B6}"/>
              </a:ext>
            </a:extLst>
          </p:cNvPr>
          <p:cNvSpPr>
            <a:spLocks noGrp="1"/>
          </p:cNvSpPr>
          <p:nvPr/>
        </p:nvSpPr>
        <p:spPr>
          <a:xfrm>
            <a:off x="457200" y="990600"/>
            <a:ext cx="11277600" cy="9525"/>
          </a:xfrm>
          <a:prstGeom prst="rect">
            <a:avLst/>
          </a:prstGeom>
          <a:solidFill>
            <a:srgbClr val="D8DEE8"/>
          </a:solidFill>
          <a:ln w="0">
            <a:noFill/>
            <a:prstDash val="solid"/>
          </a:ln>
        </p:spPr>
        <p:txBody>
          <a:bodyPr/>
          <a:lstStyle/>
          <a:p>
            <a:endParaRPr lang="en-IN"/>
          </a:p>
        </p:txBody>
      </p:sp>
      <p:sp>
        <p:nvSpPr>
          <p:cNvPr id="4" name="visible-source">
            <a:extLst>
              <a:ext uri="{FF2B5EF4-FFF2-40B4-BE49-F238E27FC236}">
                <a16:creationId xmlns:a16="http://schemas.microsoft.com/office/drawing/2014/main" id="{EF97AB92-1C29-4CD7-B5F0-DE7829C6E933}"/>
              </a:ext>
            </a:extLst>
          </p:cNvPr>
          <p:cNvSpPr>
            <a:spLocks noGrp="1"/>
          </p:cNvSpPr>
          <p:nvPr/>
        </p:nvSpPr>
        <p:spPr>
          <a:xfrm>
            <a:off x="457200" y="6524625"/>
            <a:ext cx="9334500" cy="142875"/>
          </a:xfrm>
          <a:prstGeom prst="rect">
            <a:avLst/>
          </a:prstGeom>
          <a:noFill/>
          <a:ln w="0">
            <a:noFill/>
            <a:prstDash val="solid"/>
          </a:ln>
        </p:spPr>
        <p:txBody>
          <a:bodyPr/>
          <a:lstStyle/>
          <a:p>
            <a:pPr algn="l">
              <a:defRPr sz="675" b="0">
                <a:solidFill>
                  <a:srgbClr val="667389"/>
                </a:solidFill>
              </a:defRPr>
            </a:pPr>
            <a:r>
              <a:rPr sz="675" b="0">
                <a:solidFill>
                  <a:srgbClr val="667389"/>
                </a:solidFill>
              </a:rPr>
              <a:t>Source: Project documentation; Mercy example</a:t>
            </a:r>
          </a:p>
        </p:txBody>
      </p:sp>
      <p:sp>
        <p:nvSpPr>
          <p:cNvPr id="5" name="page">
            <a:extLst>
              <a:ext uri="{FF2B5EF4-FFF2-40B4-BE49-F238E27FC236}">
                <a16:creationId xmlns:a16="http://schemas.microsoft.com/office/drawing/2014/main" id="{6B79C93B-CB4D-4D12-A1F8-6F04630B6779}"/>
              </a:ext>
            </a:extLst>
          </p:cNvPr>
          <p:cNvSpPr>
            <a:spLocks noGrp="1"/>
          </p:cNvSpPr>
          <p:nvPr/>
        </p:nvSpPr>
        <p:spPr>
          <a:xfrm>
            <a:off x="11220450" y="6496050"/>
            <a:ext cx="514350" cy="171450"/>
          </a:xfrm>
          <a:prstGeom prst="rect">
            <a:avLst/>
          </a:prstGeom>
          <a:noFill/>
          <a:ln w="0">
            <a:noFill/>
            <a:prstDash val="solid"/>
          </a:ln>
        </p:spPr>
        <p:txBody>
          <a:bodyPr/>
          <a:lstStyle/>
          <a:p>
            <a:pPr algn="r">
              <a:defRPr sz="750" b="1">
                <a:solidFill>
                  <a:srgbClr val="667389"/>
                </a:solidFill>
              </a:defRPr>
            </a:pPr>
            <a:r>
              <a:rPr sz="750" b="1">
                <a:solidFill>
                  <a:srgbClr val="667389"/>
                </a:solidFill>
              </a:rPr>
              <a:t>03</a:t>
            </a:r>
          </a:p>
        </p:txBody>
      </p:sp>
      <p:sp>
        <p:nvSpPr>
          <p:cNvPr id="6" name="Rectangle 5">
            <a:extLst>
              <a:ext uri="{FF2B5EF4-FFF2-40B4-BE49-F238E27FC236}">
                <a16:creationId xmlns:a16="http://schemas.microsoft.com/office/drawing/2014/main" id="{61D1CC7B-C1D1-4DDD-997C-4B43EF2CB75D}"/>
              </a:ext>
            </a:extLst>
          </p:cNvPr>
          <p:cNvSpPr>
            <a:spLocks noGrp="1"/>
          </p:cNvSpPr>
          <p:nvPr/>
        </p:nvSpPr>
        <p:spPr>
          <a:xfrm>
            <a:off x="495300" y="1190625"/>
            <a:ext cx="2000250" cy="457200"/>
          </a:xfrm>
          <a:prstGeom prst="rect">
            <a:avLst/>
          </a:prstGeom>
          <a:noFill/>
          <a:ln w="0">
            <a:noFill/>
            <a:prstDash val="solid"/>
          </a:ln>
        </p:spPr>
        <p:txBody>
          <a:bodyPr/>
          <a:lstStyle/>
          <a:p>
            <a:pPr algn="ctr">
              <a:defRPr sz="2550" b="1">
                <a:solidFill>
                  <a:srgbClr val="C74343"/>
                </a:solidFill>
              </a:defRPr>
            </a:pPr>
            <a:r>
              <a:rPr sz="2550" b="1">
                <a:solidFill>
                  <a:srgbClr val="C74343"/>
                </a:solidFill>
              </a:rPr>
              <a:t>109</a:t>
            </a:r>
          </a:p>
        </p:txBody>
      </p:sp>
      <p:sp>
        <p:nvSpPr>
          <p:cNvPr id="7" name="Rectangle 6">
            <a:extLst>
              <a:ext uri="{FF2B5EF4-FFF2-40B4-BE49-F238E27FC236}">
                <a16:creationId xmlns:a16="http://schemas.microsoft.com/office/drawing/2014/main" id="{AFF56907-5DBF-432B-AADC-698F02595906}"/>
              </a:ext>
            </a:extLst>
          </p:cNvPr>
          <p:cNvSpPr>
            <a:spLocks noGrp="1"/>
          </p:cNvSpPr>
          <p:nvPr/>
        </p:nvSpPr>
        <p:spPr>
          <a:xfrm>
            <a:off x="495300" y="1657350"/>
            <a:ext cx="2000250" cy="228600"/>
          </a:xfrm>
          <a:prstGeom prst="rect">
            <a:avLst/>
          </a:prstGeom>
          <a:noFill/>
          <a:ln w="0">
            <a:noFill/>
            <a:prstDash val="solid"/>
          </a:ln>
        </p:spPr>
        <p:txBody>
          <a:bodyPr/>
          <a:lstStyle/>
          <a:p>
            <a:pPr algn="ctr">
              <a:defRPr sz="975" b="1">
                <a:solidFill>
                  <a:srgbClr val="667389"/>
                </a:solidFill>
              </a:defRPr>
            </a:pPr>
            <a:r>
              <a:rPr sz="975" b="1">
                <a:solidFill>
                  <a:srgbClr val="667389"/>
                </a:solidFill>
              </a:rPr>
              <a:t>files</a:t>
            </a:r>
          </a:p>
        </p:txBody>
      </p:sp>
      <p:sp>
        <p:nvSpPr>
          <p:cNvPr id="8" name="Rectangle 7">
            <a:extLst>
              <a:ext uri="{FF2B5EF4-FFF2-40B4-BE49-F238E27FC236}">
                <a16:creationId xmlns:a16="http://schemas.microsoft.com/office/drawing/2014/main" id="{87611652-DA67-4BF4-A099-9A4002A07DF7}"/>
              </a:ext>
            </a:extLst>
          </p:cNvPr>
          <p:cNvSpPr>
            <a:spLocks noGrp="1"/>
          </p:cNvSpPr>
          <p:nvPr/>
        </p:nvSpPr>
        <p:spPr>
          <a:xfrm>
            <a:off x="2776537" y="1190625"/>
            <a:ext cx="2000250" cy="457200"/>
          </a:xfrm>
          <a:prstGeom prst="rect">
            <a:avLst/>
          </a:prstGeom>
          <a:noFill/>
          <a:ln w="0">
            <a:noFill/>
            <a:prstDash val="solid"/>
          </a:ln>
        </p:spPr>
        <p:txBody>
          <a:bodyPr/>
          <a:lstStyle/>
          <a:p>
            <a:pPr algn="ctr">
              <a:defRPr sz="2550" b="1">
                <a:solidFill>
                  <a:srgbClr val="6B4E8C"/>
                </a:solidFill>
              </a:defRPr>
            </a:pPr>
            <a:r>
              <a:rPr sz="2550" b="1">
                <a:solidFill>
                  <a:srgbClr val="6B4E8C"/>
                </a:solidFill>
              </a:rPr>
              <a:t>4</a:t>
            </a:r>
          </a:p>
        </p:txBody>
      </p:sp>
      <p:sp>
        <p:nvSpPr>
          <p:cNvPr id="9" name="Rectangle 8">
            <a:extLst>
              <a:ext uri="{FF2B5EF4-FFF2-40B4-BE49-F238E27FC236}">
                <a16:creationId xmlns:a16="http://schemas.microsoft.com/office/drawing/2014/main" id="{D00B266F-A163-47B6-A89B-C503F81D1E4C}"/>
              </a:ext>
            </a:extLst>
          </p:cNvPr>
          <p:cNvSpPr>
            <a:spLocks noGrp="1"/>
          </p:cNvSpPr>
          <p:nvPr/>
        </p:nvSpPr>
        <p:spPr>
          <a:xfrm>
            <a:off x="2776537" y="1657350"/>
            <a:ext cx="2000250" cy="228600"/>
          </a:xfrm>
          <a:prstGeom prst="rect">
            <a:avLst/>
          </a:prstGeom>
          <a:noFill/>
          <a:ln w="0">
            <a:noFill/>
            <a:prstDash val="solid"/>
          </a:ln>
        </p:spPr>
        <p:txBody>
          <a:bodyPr/>
          <a:lstStyle/>
          <a:p>
            <a:pPr algn="ctr">
              <a:defRPr sz="975" b="1">
                <a:solidFill>
                  <a:srgbClr val="667389"/>
                </a:solidFill>
              </a:defRPr>
            </a:pPr>
            <a:r>
              <a:rPr sz="975" b="1">
                <a:solidFill>
                  <a:srgbClr val="667389"/>
                </a:solidFill>
              </a:rPr>
              <a:t>base agreements</a:t>
            </a:r>
          </a:p>
        </p:txBody>
      </p:sp>
      <p:sp>
        <p:nvSpPr>
          <p:cNvPr id="10" name="Rectangle 9">
            <a:extLst>
              <a:ext uri="{FF2B5EF4-FFF2-40B4-BE49-F238E27FC236}">
                <a16:creationId xmlns:a16="http://schemas.microsoft.com/office/drawing/2014/main" id="{46B2C12E-0F8B-4240-BE14-6E6EBE699BEC}"/>
              </a:ext>
            </a:extLst>
          </p:cNvPr>
          <p:cNvSpPr>
            <a:spLocks noGrp="1"/>
          </p:cNvSpPr>
          <p:nvPr/>
        </p:nvSpPr>
        <p:spPr>
          <a:xfrm>
            <a:off x="5057775" y="1190625"/>
            <a:ext cx="2000250" cy="457200"/>
          </a:xfrm>
          <a:prstGeom prst="rect">
            <a:avLst/>
          </a:prstGeom>
          <a:noFill/>
          <a:ln w="0">
            <a:noFill/>
            <a:prstDash val="solid"/>
          </a:ln>
        </p:spPr>
        <p:txBody>
          <a:bodyPr/>
          <a:lstStyle/>
          <a:p>
            <a:pPr algn="ctr">
              <a:defRPr sz="2550" b="1">
                <a:solidFill>
                  <a:srgbClr val="1769AA"/>
                </a:solidFill>
              </a:defRPr>
            </a:pPr>
            <a:r>
              <a:rPr sz="2550" b="1">
                <a:solidFill>
                  <a:srgbClr val="1769AA"/>
                </a:solidFill>
              </a:rPr>
              <a:t>66</a:t>
            </a:r>
          </a:p>
        </p:txBody>
      </p:sp>
      <p:sp>
        <p:nvSpPr>
          <p:cNvPr id="11" name="Rectangle 10">
            <a:extLst>
              <a:ext uri="{FF2B5EF4-FFF2-40B4-BE49-F238E27FC236}">
                <a16:creationId xmlns:a16="http://schemas.microsoft.com/office/drawing/2014/main" id="{BF480B90-2CF3-42AE-8E42-87D5FBA383E2}"/>
              </a:ext>
            </a:extLst>
          </p:cNvPr>
          <p:cNvSpPr>
            <a:spLocks noGrp="1"/>
          </p:cNvSpPr>
          <p:nvPr/>
        </p:nvSpPr>
        <p:spPr>
          <a:xfrm>
            <a:off x="5057775" y="1657350"/>
            <a:ext cx="2000250" cy="228600"/>
          </a:xfrm>
          <a:prstGeom prst="rect">
            <a:avLst/>
          </a:prstGeom>
          <a:noFill/>
          <a:ln w="0">
            <a:noFill/>
            <a:prstDash val="solid"/>
          </a:ln>
        </p:spPr>
        <p:txBody>
          <a:bodyPr/>
          <a:lstStyle/>
          <a:p>
            <a:pPr algn="ctr">
              <a:defRPr sz="975" b="1">
                <a:solidFill>
                  <a:srgbClr val="667389"/>
                </a:solidFill>
              </a:defRPr>
            </a:pPr>
            <a:r>
              <a:rPr sz="975" b="1">
                <a:solidFill>
                  <a:srgbClr val="667389"/>
                </a:solidFill>
              </a:rPr>
              <a:t>sub-contract IDs</a:t>
            </a:r>
          </a:p>
        </p:txBody>
      </p:sp>
      <p:sp>
        <p:nvSpPr>
          <p:cNvPr id="12" name="Rectangle 11">
            <a:extLst>
              <a:ext uri="{FF2B5EF4-FFF2-40B4-BE49-F238E27FC236}">
                <a16:creationId xmlns:a16="http://schemas.microsoft.com/office/drawing/2014/main" id="{D46CA32A-2DFE-43B3-9875-6424E1585EE4}"/>
              </a:ext>
            </a:extLst>
          </p:cNvPr>
          <p:cNvSpPr>
            <a:spLocks noGrp="1"/>
          </p:cNvSpPr>
          <p:nvPr/>
        </p:nvSpPr>
        <p:spPr>
          <a:xfrm>
            <a:off x="7339012" y="1190625"/>
            <a:ext cx="2000250" cy="457200"/>
          </a:xfrm>
          <a:prstGeom prst="rect">
            <a:avLst/>
          </a:prstGeom>
          <a:noFill/>
          <a:ln w="0">
            <a:noFill/>
            <a:prstDash val="solid"/>
          </a:ln>
        </p:spPr>
        <p:txBody>
          <a:bodyPr/>
          <a:lstStyle/>
          <a:p>
            <a:pPr algn="ctr">
              <a:defRPr sz="2550" b="1">
                <a:solidFill>
                  <a:srgbClr val="007A78"/>
                </a:solidFill>
              </a:defRPr>
            </a:pPr>
            <a:r>
              <a:rPr sz="2550" b="1">
                <a:solidFill>
                  <a:srgbClr val="007A78"/>
                </a:solidFill>
              </a:rPr>
              <a:t>2</a:t>
            </a:r>
          </a:p>
        </p:txBody>
      </p:sp>
      <p:sp>
        <p:nvSpPr>
          <p:cNvPr id="13" name="Rectangle 12">
            <a:extLst>
              <a:ext uri="{FF2B5EF4-FFF2-40B4-BE49-F238E27FC236}">
                <a16:creationId xmlns:a16="http://schemas.microsoft.com/office/drawing/2014/main" id="{6D21EEC1-1A68-455A-B5C2-ED1E5D8A2718}"/>
              </a:ext>
            </a:extLst>
          </p:cNvPr>
          <p:cNvSpPr>
            <a:spLocks noGrp="1"/>
          </p:cNvSpPr>
          <p:nvPr/>
        </p:nvSpPr>
        <p:spPr>
          <a:xfrm>
            <a:off x="7339012" y="1657350"/>
            <a:ext cx="2000250" cy="228600"/>
          </a:xfrm>
          <a:prstGeom prst="rect">
            <a:avLst/>
          </a:prstGeom>
          <a:noFill/>
          <a:ln w="0">
            <a:noFill/>
            <a:prstDash val="solid"/>
          </a:ln>
        </p:spPr>
        <p:txBody>
          <a:bodyPr/>
          <a:lstStyle/>
          <a:p>
            <a:pPr algn="ctr">
              <a:defRPr sz="975" b="1">
                <a:solidFill>
                  <a:srgbClr val="667389"/>
                </a:solidFill>
              </a:defRPr>
            </a:pPr>
            <a:r>
              <a:rPr sz="975" b="1">
                <a:solidFill>
                  <a:srgbClr val="667389"/>
                </a:solidFill>
              </a:rPr>
              <a:t>parallel chains</a:t>
            </a:r>
          </a:p>
        </p:txBody>
      </p:sp>
      <p:sp>
        <p:nvSpPr>
          <p:cNvPr id="14" name="Rectangle 13">
            <a:extLst>
              <a:ext uri="{FF2B5EF4-FFF2-40B4-BE49-F238E27FC236}">
                <a16:creationId xmlns:a16="http://schemas.microsoft.com/office/drawing/2014/main" id="{7CC9E39F-7438-466A-922A-81F48DDC1B53}"/>
              </a:ext>
            </a:extLst>
          </p:cNvPr>
          <p:cNvSpPr>
            <a:spLocks noGrp="1"/>
          </p:cNvSpPr>
          <p:nvPr/>
        </p:nvSpPr>
        <p:spPr>
          <a:xfrm>
            <a:off x="9620250" y="1190625"/>
            <a:ext cx="2000250" cy="457200"/>
          </a:xfrm>
          <a:prstGeom prst="rect">
            <a:avLst/>
          </a:prstGeom>
          <a:noFill/>
          <a:ln w="0">
            <a:noFill/>
            <a:prstDash val="solid"/>
          </a:ln>
        </p:spPr>
        <p:txBody>
          <a:bodyPr/>
          <a:lstStyle/>
          <a:p>
            <a:pPr algn="ctr">
              <a:defRPr sz="2550" b="1">
                <a:solidFill>
                  <a:srgbClr val="C98A16"/>
                </a:solidFill>
              </a:defRPr>
            </a:pPr>
            <a:r>
              <a:rPr sz="2550" b="1">
                <a:solidFill>
                  <a:srgbClr val="C98A16"/>
                </a:solidFill>
              </a:rPr>
              <a:t>1,000+</a:t>
            </a:r>
          </a:p>
        </p:txBody>
      </p:sp>
      <p:sp>
        <p:nvSpPr>
          <p:cNvPr id="15" name="Rectangle 14">
            <a:extLst>
              <a:ext uri="{FF2B5EF4-FFF2-40B4-BE49-F238E27FC236}">
                <a16:creationId xmlns:a16="http://schemas.microsoft.com/office/drawing/2014/main" id="{20DD8563-9C66-48C2-BBC7-40AA4CA3827D}"/>
              </a:ext>
            </a:extLst>
          </p:cNvPr>
          <p:cNvSpPr>
            <a:spLocks noGrp="1"/>
          </p:cNvSpPr>
          <p:nvPr/>
        </p:nvSpPr>
        <p:spPr>
          <a:xfrm>
            <a:off x="9620250" y="1657350"/>
            <a:ext cx="2000250" cy="228600"/>
          </a:xfrm>
          <a:prstGeom prst="rect">
            <a:avLst/>
          </a:prstGeom>
          <a:noFill/>
          <a:ln w="0">
            <a:noFill/>
            <a:prstDash val="solid"/>
          </a:ln>
        </p:spPr>
        <p:txBody>
          <a:bodyPr/>
          <a:lstStyle/>
          <a:p>
            <a:pPr algn="ctr">
              <a:defRPr sz="975" b="1">
                <a:solidFill>
                  <a:srgbClr val="667389"/>
                </a:solidFill>
              </a:defRPr>
            </a:pPr>
            <a:r>
              <a:rPr sz="975" b="1">
                <a:solidFill>
                  <a:srgbClr val="667389"/>
                </a:solidFill>
              </a:rPr>
              <a:t>possible paths</a:t>
            </a:r>
          </a:p>
        </p:txBody>
      </p:sp>
      <p:sp>
        <p:nvSpPr>
          <p:cNvPr id="16" name="Rectangle 15">
            <a:extLst>
              <a:ext uri="{FF2B5EF4-FFF2-40B4-BE49-F238E27FC236}">
                <a16:creationId xmlns:a16="http://schemas.microsoft.com/office/drawing/2014/main" id="{B1E4FE10-3BC8-4687-81A1-F7696732F834}"/>
              </a:ext>
            </a:extLst>
          </p:cNvPr>
          <p:cNvSpPr>
            <a:spLocks noGrp="1"/>
          </p:cNvSpPr>
          <p:nvPr/>
        </p:nvSpPr>
        <p:spPr>
          <a:xfrm>
            <a:off x="495300" y="2047875"/>
            <a:ext cx="11125200" cy="9525"/>
          </a:xfrm>
          <a:prstGeom prst="rect">
            <a:avLst/>
          </a:prstGeom>
          <a:solidFill>
            <a:srgbClr val="D8DEE8"/>
          </a:solidFill>
          <a:ln w="0">
            <a:noFill/>
            <a:prstDash val="solid"/>
          </a:ln>
        </p:spPr>
        <p:txBody>
          <a:bodyPr/>
          <a:lstStyle/>
          <a:p>
            <a:endParaRPr lang="en-IN"/>
          </a:p>
        </p:txBody>
      </p:sp>
      <p:sp>
        <p:nvSpPr>
          <p:cNvPr id="17" name="Rectangle 16">
            <a:extLst>
              <a:ext uri="{FF2B5EF4-FFF2-40B4-BE49-F238E27FC236}">
                <a16:creationId xmlns:a16="http://schemas.microsoft.com/office/drawing/2014/main" id="{327692AD-BE80-41D3-85FF-ACEF9D05902D}"/>
              </a:ext>
            </a:extLst>
          </p:cNvPr>
          <p:cNvSpPr>
            <a:spLocks noGrp="1"/>
          </p:cNvSpPr>
          <p:nvPr/>
        </p:nvSpPr>
        <p:spPr>
          <a:xfrm>
            <a:off x="571500" y="2333625"/>
            <a:ext cx="3238500" cy="247650"/>
          </a:xfrm>
          <a:prstGeom prst="rect">
            <a:avLst/>
          </a:prstGeom>
          <a:noFill/>
          <a:ln w="0">
            <a:noFill/>
            <a:prstDash val="solid"/>
          </a:ln>
        </p:spPr>
        <p:txBody>
          <a:bodyPr/>
          <a:lstStyle/>
          <a:p>
            <a:pPr algn="l">
              <a:defRPr sz="1425" b="1">
                <a:solidFill>
                  <a:srgbClr val="132033"/>
                </a:solidFill>
              </a:defRPr>
            </a:pPr>
            <a:r>
              <a:rPr sz="1425" b="1">
                <a:solidFill>
                  <a:srgbClr val="132033"/>
                </a:solidFill>
              </a:rPr>
              <a:t>Manual investigation path</a:t>
            </a:r>
          </a:p>
        </p:txBody>
      </p:sp>
      <p:sp>
        <p:nvSpPr>
          <p:cNvPr id="18" name="Rectangle: Rounded Corners 17">
            <a:extLst>
              <a:ext uri="{FF2B5EF4-FFF2-40B4-BE49-F238E27FC236}">
                <a16:creationId xmlns:a16="http://schemas.microsoft.com/office/drawing/2014/main" id="{47D0491C-13AA-44FF-B113-C1ED1A8F05FD}"/>
              </a:ext>
            </a:extLst>
          </p:cNvPr>
          <p:cNvSpPr>
            <a:spLocks noGrp="1"/>
          </p:cNvSpPr>
          <p:nvPr/>
        </p:nvSpPr>
        <p:spPr>
          <a:xfrm>
            <a:off x="571500" y="2857500"/>
            <a:ext cx="1905000" cy="781050"/>
          </a:xfrm>
          <a:prstGeom prst="roundRect">
            <a:avLst>
              <a:gd name="adj" fmla="val 4878"/>
            </a:avLst>
          </a:prstGeom>
          <a:solidFill>
            <a:srgbClr val="FFFFFF"/>
          </a:solidFill>
          <a:ln w="9525">
            <a:solidFill>
              <a:srgbClr val="D8DEE8"/>
            </a:solidFill>
            <a:prstDash val="solid"/>
          </a:ln>
        </p:spPr>
        <p:txBody>
          <a:bodyPr/>
          <a:lstStyle/>
          <a:p>
            <a:endParaRPr lang="en-IN"/>
          </a:p>
        </p:txBody>
      </p:sp>
      <p:sp>
        <p:nvSpPr>
          <p:cNvPr id="19" name="Rectangle 18">
            <a:extLst>
              <a:ext uri="{FF2B5EF4-FFF2-40B4-BE49-F238E27FC236}">
                <a16:creationId xmlns:a16="http://schemas.microsoft.com/office/drawing/2014/main" id="{F6D914FA-F2B1-4887-8CED-D5B8A0A65C5A}"/>
              </a:ext>
            </a:extLst>
          </p:cNvPr>
          <p:cNvSpPr>
            <a:spLocks noGrp="1"/>
          </p:cNvSpPr>
          <p:nvPr/>
        </p:nvSpPr>
        <p:spPr>
          <a:xfrm>
            <a:off x="704850" y="3067050"/>
            <a:ext cx="1638300" cy="381000"/>
          </a:xfrm>
          <a:prstGeom prst="rect">
            <a:avLst/>
          </a:prstGeom>
          <a:noFill/>
          <a:ln w="0">
            <a:noFill/>
            <a:prstDash val="solid"/>
          </a:ln>
        </p:spPr>
        <p:txBody>
          <a:bodyPr/>
          <a:lstStyle/>
          <a:p>
            <a:pPr algn="ctr">
              <a:defRPr sz="1125" b="1">
                <a:solidFill>
                  <a:srgbClr val="35445B"/>
                </a:solidFill>
              </a:defRPr>
            </a:pPr>
            <a:r>
              <a:rPr sz="1125" b="1">
                <a:solidFill>
                  <a:srgbClr val="35445B"/>
                </a:solidFill>
              </a:rPr>
              <a:t>Search repository</a:t>
            </a:r>
          </a:p>
        </p:txBody>
      </p:sp>
      <p:sp>
        <p:nvSpPr>
          <p:cNvPr id="20" name="Rectangle: Rounded Corners 19">
            <a:extLst>
              <a:ext uri="{FF2B5EF4-FFF2-40B4-BE49-F238E27FC236}">
                <a16:creationId xmlns:a16="http://schemas.microsoft.com/office/drawing/2014/main" id="{3B37AA95-B633-49D5-907F-E767E9DA121D}"/>
              </a:ext>
            </a:extLst>
          </p:cNvPr>
          <p:cNvSpPr>
            <a:spLocks noGrp="1"/>
          </p:cNvSpPr>
          <p:nvPr/>
        </p:nvSpPr>
        <p:spPr>
          <a:xfrm>
            <a:off x="2857500" y="2857500"/>
            <a:ext cx="1905000" cy="781050"/>
          </a:xfrm>
          <a:prstGeom prst="roundRect">
            <a:avLst>
              <a:gd name="adj" fmla="val 4878"/>
            </a:avLst>
          </a:prstGeom>
          <a:solidFill>
            <a:srgbClr val="FFFFFF"/>
          </a:solidFill>
          <a:ln w="9525">
            <a:solidFill>
              <a:srgbClr val="D8DEE8"/>
            </a:solidFill>
            <a:prstDash val="solid"/>
          </a:ln>
        </p:spPr>
        <p:txBody>
          <a:bodyPr/>
          <a:lstStyle/>
          <a:p>
            <a:endParaRPr lang="en-IN"/>
          </a:p>
        </p:txBody>
      </p:sp>
      <p:sp>
        <p:nvSpPr>
          <p:cNvPr id="21" name="Rectangle 20">
            <a:extLst>
              <a:ext uri="{FF2B5EF4-FFF2-40B4-BE49-F238E27FC236}">
                <a16:creationId xmlns:a16="http://schemas.microsoft.com/office/drawing/2014/main" id="{94F0C2C3-DC96-434D-BDB6-6EA36FF4AB2E}"/>
              </a:ext>
            </a:extLst>
          </p:cNvPr>
          <p:cNvSpPr>
            <a:spLocks noGrp="1"/>
          </p:cNvSpPr>
          <p:nvPr/>
        </p:nvSpPr>
        <p:spPr>
          <a:xfrm>
            <a:off x="2990850" y="3067050"/>
            <a:ext cx="1638300" cy="381000"/>
          </a:xfrm>
          <a:prstGeom prst="rect">
            <a:avLst/>
          </a:prstGeom>
          <a:noFill/>
          <a:ln w="0">
            <a:noFill/>
            <a:prstDash val="solid"/>
          </a:ln>
        </p:spPr>
        <p:txBody>
          <a:bodyPr/>
          <a:lstStyle/>
          <a:p>
            <a:pPr algn="ctr">
              <a:defRPr sz="1125" b="1">
                <a:solidFill>
                  <a:srgbClr val="35445B"/>
                </a:solidFill>
              </a:defRPr>
            </a:pPr>
            <a:r>
              <a:rPr sz="1125" b="1">
                <a:solidFill>
                  <a:srgbClr val="35445B"/>
                </a:solidFill>
              </a:rPr>
              <a:t>Open plausible files</a:t>
            </a:r>
          </a:p>
        </p:txBody>
      </p:sp>
      <p:sp>
        <p:nvSpPr>
          <p:cNvPr id="22" name="Rectangle: Rounded Corners 21">
            <a:extLst>
              <a:ext uri="{FF2B5EF4-FFF2-40B4-BE49-F238E27FC236}">
                <a16:creationId xmlns:a16="http://schemas.microsoft.com/office/drawing/2014/main" id="{D65CEA10-2D26-4F5D-9739-D074919C20C9}"/>
              </a:ext>
            </a:extLst>
          </p:cNvPr>
          <p:cNvSpPr>
            <a:spLocks noGrp="1"/>
          </p:cNvSpPr>
          <p:nvPr/>
        </p:nvSpPr>
        <p:spPr>
          <a:xfrm>
            <a:off x="5143500" y="2857500"/>
            <a:ext cx="1905000" cy="781050"/>
          </a:xfrm>
          <a:prstGeom prst="roundRect">
            <a:avLst>
              <a:gd name="adj" fmla="val 4878"/>
            </a:avLst>
          </a:prstGeom>
          <a:solidFill>
            <a:srgbClr val="FFFFFF"/>
          </a:solidFill>
          <a:ln w="9525">
            <a:solidFill>
              <a:srgbClr val="D8DEE8"/>
            </a:solidFill>
            <a:prstDash val="solid"/>
          </a:ln>
        </p:spPr>
        <p:txBody>
          <a:bodyPr/>
          <a:lstStyle/>
          <a:p>
            <a:endParaRPr lang="en-IN"/>
          </a:p>
        </p:txBody>
      </p:sp>
      <p:sp>
        <p:nvSpPr>
          <p:cNvPr id="23" name="Rectangle 22">
            <a:extLst>
              <a:ext uri="{FF2B5EF4-FFF2-40B4-BE49-F238E27FC236}">
                <a16:creationId xmlns:a16="http://schemas.microsoft.com/office/drawing/2014/main" id="{F7CC815D-4974-4F8E-8CDD-8C03C445FF4E}"/>
              </a:ext>
            </a:extLst>
          </p:cNvPr>
          <p:cNvSpPr>
            <a:spLocks noGrp="1"/>
          </p:cNvSpPr>
          <p:nvPr/>
        </p:nvSpPr>
        <p:spPr>
          <a:xfrm>
            <a:off x="5276850" y="3067050"/>
            <a:ext cx="1638300" cy="381000"/>
          </a:xfrm>
          <a:prstGeom prst="rect">
            <a:avLst/>
          </a:prstGeom>
          <a:noFill/>
          <a:ln w="0">
            <a:noFill/>
            <a:prstDash val="solid"/>
          </a:ln>
        </p:spPr>
        <p:txBody>
          <a:bodyPr/>
          <a:lstStyle/>
          <a:p>
            <a:pPr algn="ctr">
              <a:defRPr sz="1125" b="1">
                <a:solidFill>
                  <a:srgbClr val="35445B"/>
                </a:solidFill>
              </a:defRPr>
            </a:pPr>
            <a:r>
              <a:rPr sz="1125" b="1">
                <a:solidFill>
                  <a:srgbClr val="35445B"/>
                </a:solidFill>
              </a:rPr>
              <a:t>Trace amendment history</a:t>
            </a:r>
          </a:p>
        </p:txBody>
      </p:sp>
      <p:sp>
        <p:nvSpPr>
          <p:cNvPr id="24" name="Rectangle: Rounded Corners 23">
            <a:extLst>
              <a:ext uri="{FF2B5EF4-FFF2-40B4-BE49-F238E27FC236}">
                <a16:creationId xmlns:a16="http://schemas.microsoft.com/office/drawing/2014/main" id="{8DA3F4F5-ACEC-45EB-9CE4-1295BC16FDDD}"/>
              </a:ext>
            </a:extLst>
          </p:cNvPr>
          <p:cNvSpPr>
            <a:spLocks noGrp="1"/>
          </p:cNvSpPr>
          <p:nvPr/>
        </p:nvSpPr>
        <p:spPr>
          <a:xfrm>
            <a:off x="7429500" y="2857500"/>
            <a:ext cx="1905000" cy="781050"/>
          </a:xfrm>
          <a:prstGeom prst="roundRect">
            <a:avLst>
              <a:gd name="adj" fmla="val 4878"/>
            </a:avLst>
          </a:prstGeom>
          <a:solidFill>
            <a:srgbClr val="FFFFFF"/>
          </a:solidFill>
          <a:ln w="9525">
            <a:solidFill>
              <a:srgbClr val="D8DEE8"/>
            </a:solidFill>
            <a:prstDash val="solid"/>
          </a:ln>
        </p:spPr>
        <p:txBody>
          <a:bodyPr/>
          <a:lstStyle/>
          <a:p>
            <a:endParaRPr lang="en-IN"/>
          </a:p>
        </p:txBody>
      </p:sp>
      <p:sp>
        <p:nvSpPr>
          <p:cNvPr id="25" name="Rectangle 24">
            <a:extLst>
              <a:ext uri="{FF2B5EF4-FFF2-40B4-BE49-F238E27FC236}">
                <a16:creationId xmlns:a16="http://schemas.microsoft.com/office/drawing/2014/main" id="{04750BB1-49A2-4D3B-AB86-6CD3001F1737}"/>
              </a:ext>
            </a:extLst>
          </p:cNvPr>
          <p:cNvSpPr>
            <a:spLocks noGrp="1"/>
          </p:cNvSpPr>
          <p:nvPr/>
        </p:nvSpPr>
        <p:spPr>
          <a:xfrm>
            <a:off x="7562850" y="3067050"/>
            <a:ext cx="1638300" cy="381000"/>
          </a:xfrm>
          <a:prstGeom prst="rect">
            <a:avLst/>
          </a:prstGeom>
          <a:noFill/>
          <a:ln w="0">
            <a:noFill/>
            <a:prstDash val="solid"/>
          </a:ln>
        </p:spPr>
        <p:txBody>
          <a:bodyPr/>
          <a:lstStyle/>
          <a:p>
            <a:pPr algn="ctr">
              <a:defRPr sz="1125" b="1">
                <a:solidFill>
                  <a:srgbClr val="35445B"/>
                </a:solidFill>
              </a:defRPr>
            </a:pPr>
            <a:r>
              <a:rPr sz="1125" b="1">
                <a:solidFill>
                  <a:srgbClr val="35445B"/>
                </a:solidFill>
              </a:rPr>
              <a:t>Ask a contract expert</a:t>
            </a:r>
          </a:p>
        </p:txBody>
      </p:sp>
      <p:sp>
        <p:nvSpPr>
          <p:cNvPr id="26" name="Rectangle: Rounded Corners 25">
            <a:extLst>
              <a:ext uri="{FF2B5EF4-FFF2-40B4-BE49-F238E27FC236}">
                <a16:creationId xmlns:a16="http://schemas.microsoft.com/office/drawing/2014/main" id="{793A455A-400F-45B1-84E1-740D86518A6A}"/>
              </a:ext>
            </a:extLst>
          </p:cNvPr>
          <p:cNvSpPr>
            <a:spLocks noGrp="1"/>
          </p:cNvSpPr>
          <p:nvPr/>
        </p:nvSpPr>
        <p:spPr>
          <a:xfrm>
            <a:off x="9715500" y="2857500"/>
            <a:ext cx="1905000" cy="781050"/>
          </a:xfrm>
          <a:prstGeom prst="roundRect">
            <a:avLst>
              <a:gd name="adj" fmla="val 4878"/>
            </a:avLst>
          </a:prstGeom>
          <a:solidFill>
            <a:srgbClr val="FFFFFF"/>
          </a:solidFill>
          <a:ln w="9525">
            <a:solidFill>
              <a:srgbClr val="C74343"/>
            </a:solidFill>
            <a:prstDash val="solid"/>
          </a:ln>
        </p:spPr>
        <p:txBody>
          <a:bodyPr/>
          <a:lstStyle/>
          <a:p>
            <a:endParaRPr lang="en-IN"/>
          </a:p>
        </p:txBody>
      </p:sp>
      <p:sp>
        <p:nvSpPr>
          <p:cNvPr id="27" name="Rectangle 26">
            <a:extLst>
              <a:ext uri="{FF2B5EF4-FFF2-40B4-BE49-F238E27FC236}">
                <a16:creationId xmlns:a16="http://schemas.microsoft.com/office/drawing/2014/main" id="{C0A84C5F-B202-4B82-AA23-AFAF2D632360}"/>
              </a:ext>
            </a:extLst>
          </p:cNvPr>
          <p:cNvSpPr>
            <a:spLocks noGrp="1"/>
          </p:cNvSpPr>
          <p:nvPr/>
        </p:nvSpPr>
        <p:spPr>
          <a:xfrm>
            <a:off x="9848850" y="3067050"/>
            <a:ext cx="1638300" cy="381000"/>
          </a:xfrm>
          <a:prstGeom prst="rect">
            <a:avLst/>
          </a:prstGeom>
          <a:noFill/>
          <a:ln w="0">
            <a:noFill/>
            <a:prstDash val="solid"/>
          </a:ln>
        </p:spPr>
        <p:txBody>
          <a:bodyPr/>
          <a:lstStyle/>
          <a:p>
            <a:pPr algn="ctr">
              <a:defRPr sz="1125" b="1">
                <a:solidFill>
                  <a:srgbClr val="35445B"/>
                </a:solidFill>
              </a:defRPr>
            </a:pPr>
            <a:r>
              <a:rPr sz="1125" b="1">
                <a:solidFill>
                  <a:srgbClr val="35445B"/>
                </a:solidFill>
              </a:rPr>
              <a:t>Answer with limited reusable evidence</a:t>
            </a:r>
          </a:p>
        </p:txBody>
      </p:sp>
      <p:cxnSp>
        <p:nvCxnSpPr>
          <p:cNvPr id="79" name="Straight Arrow Connector 78"/>
          <p:cNvCxnSpPr>
            <a:stCxn id="18" idx="3"/>
            <a:endCxn id="20" idx="1"/>
          </p:cNvCxnSpPr>
          <p:nvPr/>
        </p:nvCxnSpPr>
        <p:spPr>
          <a:xfrm>
            <a:off x="2476500" y="3248025"/>
            <a:ext cx="381000" cy="0"/>
          </a:xfrm>
          <a:prstGeom prst="straightConnector1">
            <a:avLst/>
          </a:prstGeom>
          <a:ln w="19050">
            <a:solidFill>
              <a:srgbClr val="667389"/>
            </a:solidFill>
            <a:prstDash val="solid"/>
            <a:tailEnd type="arrow" w="med" len="med"/>
          </a:ln>
        </p:spPr>
      </p:cxnSp>
      <p:cxnSp>
        <p:nvCxnSpPr>
          <p:cNvPr id="80" name="Straight Arrow Connector 79"/>
          <p:cNvCxnSpPr>
            <a:stCxn id="20" idx="3"/>
            <a:endCxn id="22" idx="1"/>
          </p:cNvCxnSpPr>
          <p:nvPr/>
        </p:nvCxnSpPr>
        <p:spPr>
          <a:xfrm>
            <a:off x="4762500" y="3248025"/>
            <a:ext cx="381000" cy="0"/>
          </a:xfrm>
          <a:prstGeom prst="straightConnector1">
            <a:avLst/>
          </a:prstGeom>
          <a:ln w="19050">
            <a:solidFill>
              <a:srgbClr val="667389"/>
            </a:solidFill>
            <a:prstDash val="solid"/>
            <a:tailEnd type="arrow" w="med" len="med"/>
          </a:ln>
        </p:spPr>
      </p:cxnSp>
      <p:cxnSp>
        <p:nvCxnSpPr>
          <p:cNvPr id="81" name="Straight Arrow Connector 80"/>
          <p:cNvCxnSpPr>
            <a:stCxn id="22" idx="3"/>
            <a:endCxn id="24" idx="1"/>
          </p:cNvCxnSpPr>
          <p:nvPr/>
        </p:nvCxnSpPr>
        <p:spPr>
          <a:xfrm>
            <a:off x="7048500" y="3248025"/>
            <a:ext cx="381000" cy="0"/>
          </a:xfrm>
          <a:prstGeom prst="straightConnector1">
            <a:avLst/>
          </a:prstGeom>
          <a:ln w="19050">
            <a:solidFill>
              <a:srgbClr val="667389"/>
            </a:solidFill>
            <a:prstDash val="solid"/>
            <a:tailEnd type="arrow" w="med" len="med"/>
          </a:ln>
        </p:spPr>
      </p:cxnSp>
      <p:cxnSp>
        <p:nvCxnSpPr>
          <p:cNvPr id="82" name="Straight Arrow Connector 81"/>
          <p:cNvCxnSpPr>
            <a:stCxn id="24" idx="3"/>
            <a:endCxn id="26" idx="1"/>
          </p:cNvCxnSpPr>
          <p:nvPr/>
        </p:nvCxnSpPr>
        <p:spPr>
          <a:xfrm>
            <a:off x="9334500" y="3248025"/>
            <a:ext cx="381000" cy="0"/>
          </a:xfrm>
          <a:prstGeom prst="straightConnector1">
            <a:avLst/>
          </a:prstGeom>
          <a:ln w="19050">
            <a:solidFill>
              <a:srgbClr val="667389"/>
            </a:solidFill>
            <a:prstDash val="solid"/>
            <a:tailEnd type="arrow" w="med" len="med"/>
          </a:ln>
        </p:spPr>
      </p:cxnSp>
      <p:sp>
        <p:nvSpPr>
          <p:cNvPr id="32" name="Rectangle 31">
            <a:extLst>
              <a:ext uri="{FF2B5EF4-FFF2-40B4-BE49-F238E27FC236}">
                <a16:creationId xmlns:a16="http://schemas.microsoft.com/office/drawing/2014/main" id="{6B9F4261-E167-4A74-B416-FCDF18F0BB75}"/>
              </a:ext>
            </a:extLst>
          </p:cNvPr>
          <p:cNvSpPr>
            <a:spLocks noGrp="1"/>
          </p:cNvSpPr>
          <p:nvPr/>
        </p:nvSpPr>
        <p:spPr>
          <a:xfrm>
            <a:off x="571500" y="4057650"/>
            <a:ext cx="4762500" cy="266700"/>
          </a:xfrm>
          <a:prstGeom prst="rect">
            <a:avLst/>
          </a:prstGeom>
          <a:noFill/>
          <a:ln w="0">
            <a:noFill/>
            <a:prstDash val="solid"/>
          </a:ln>
        </p:spPr>
        <p:txBody>
          <a:bodyPr/>
          <a:lstStyle/>
          <a:p>
            <a:pPr algn="l">
              <a:defRPr sz="1425" b="1">
                <a:solidFill>
                  <a:srgbClr val="132033"/>
                </a:solidFill>
              </a:defRPr>
            </a:pPr>
            <a:r>
              <a:rPr sz="1425" b="1">
                <a:solidFill>
                  <a:srgbClr val="132033"/>
                </a:solidFill>
              </a:rPr>
              <a:t>The consequences extend beyond research time</a:t>
            </a:r>
          </a:p>
        </p:txBody>
      </p:sp>
      <p:sp>
        <p:nvSpPr>
          <p:cNvPr id="33" name="Rectangle 32">
            <a:extLst>
              <a:ext uri="{FF2B5EF4-FFF2-40B4-BE49-F238E27FC236}">
                <a16:creationId xmlns:a16="http://schemas.microsoft.com/office/drawing/2014/main" id="{1FD5A2C7-D952-405C-B187-2CB5C9EC42C3}"/>
              </a:ext>
            </a:extLst>
          </p:cNvPr>
          <p:cNvSpPr>
            <a:spLocks noGrp="1"/>
          </p:cNvSpPr>
          <p:nvPr/>
        </p:nvSpPr>
        <p:spPr>
          <a:xfrm>
            <a:off x="571500" y="4476750"/>
            <a:ext cx="2190750" cy="438150"/>
          </a:xfrm>
          <a:prstGeom prst="rect">
            <a:avLst/>
          </a:prstGeom>
          <a:solidFill>
            <a:srgbClr val="0B2D50"/>
          </a:solidFill>
          <a:ln w="9525">
            <a:solidFill>
              <a:srgbClr val="D8DEE8"/>
            </a:solidFill>
            <a:prstDash val="solid"/>
          </a:ln>
        </p:spPr>
        <p:txBody>
          <a:bodyPr/>
          <a:lstStyle/>
          <a:p>
            <a:endParaRPr lang="en-IN"/>
          </a:p>
        </p:txBody>
      </p:sp>
      <p:sp>
        <p:nvSpPr>
          <p:cNvPr id="34" name="Rectangle 33">
            <a:extLst>
              <a:ext uri="{FF2B5EF4-FFF2-40B4-BE49-F238E27FC236}">
                <a16:creationId xmlns:a16="http://schemas.microsoft.com/office/drawing/2014/main" id="{AD265182-AB3B-4F1D-9E23-457298D0655D}"/>
              </a:ext>
            </a:extLst>
          </p:cNvPr>
          <p:cNvSpPr>
            <a:spLocks noGrp="1"/>
          </p:cNvSpPr>
          <p:nvPr/>
        </p:nvSpPr>
        <p:spPr>
          <a:xfrm>
            <a:off x="666750" y="4543425"/>
            <a:ext cx="2000250" cy="342900"/>
          </a:xfrm>
          <a:prstGeom prst="rect">
            <a:avLst/>
          </a:prstGeom>
          <a:noFill/>
          <a:ln w="0">
            <a:noFill/>
            <a:prstDash val="solid"/>
          </a:ln>
        </p:spPr>
        <p:txBody>
          <a:bodyPr/>
          <a:lstStyle/>
          <a:p>
            <a:pPr algn="l">
              <a:defRPr sz="1275" b="1">
                <a:solidFill>
                  <a:srgbClr val="FFFFFF"/>
                </a:solidFill>
              </a:defRPr>
            </a:pPr>
            <a:r>
              <a:rPr sz="1275" b="1">
                <a:solidFill>
                  <a:srgbClr val="FFFFFF"/>
                </a:solidFill>
              </a:rPr>
              <a:t>Risk</a:t>
            </a:r>
          </a:p>
        </p:txBody>
      </p:sp>
      <p:sp>
        <p:nvSpPr>
          <p:cNvPr id="35" name="Rectangle 34">
            <a:extLst>
              <a:ext uri="{FF2B5EF4-FFF2-40B4-BE49-F238E27FC236}">
                <a16:creationId xmlns:a16="http://schemas.microsoft.com/office/drawing/2014/main" id="{5D5FAFD4-0B19-4B49-BA24-0B0F2F60AC5F}"/>
              </a:ext>
            </a:extLst>
          </p:cNvPr>
          <p:cNvSpPr>
            <a:spLocks noGrp="1"/>
          </p:cNvSpPr>
          <p:nvPr/>
        </p:nvSpPr>
        <p:spPr>
          <a:xfrm>
            <a:off x="2762250" y="4476750"/>
            <a:ext cx="5715000" cy="438150"/>
          </a:xfrm>
          <a:prstGeom prst="rect">
            <a:avLst/>
          </a:prstGeom>
          <a:solidFill>
            <a:srgbClr val="0B2D50"/>
          </a:solidFill>
          <a:ln w="9525">
            <a:solidFill>
              <a:srgbClr val="D8DEE8"/>
            </a:solidFill>
            <a:prstDash val="solid"/>
          </a:ln>
        </p:spPr>
        <p:txBody>
          <a:bodyPr/>
          <a:lstStyle/>
          <a:p>
            <a:endParaRPr lang="en-IN"/>
          </a:p>
        </p:txBody>
      </p:sp>
      <p:sp>
        <p:nvSpPr>
          <p:cNvPr id="36" name="Rectangle 35">
            <a:extLst>
              <a:ext uri="{FF2B5EF4-FFF2-40B4-BE49-F238E27FC236}">
                <a16:creationId xmlns:a16="http://schemas.microsoft.com/office/drawing/2014/main" id="{EC48E487-A247-4115-A7B8-119812AC3EB8}"/>
              </a:ext>
            </a:extLst>
          </p:cNvPr>
          <p:cNvSpPr>
            <a:spLocks noGrp="1"/>
          </p:cNvSpPr>
          <p:nvPr/>
        </p:nvSpPr>
        <p:spPr>
          <a:xfrm>
            <a:off x="2857500" y="4543425"/>
            <a:ext cx="5524500" cy="342900"/>
          </a:xfrm>
          <a:prstGeom prst="rect">
            <a:avLst/>
          </a:prstGeom>
          <a:noFill/>
          <a:ln w="0">
            <a:noFill/>
            <a:prstDash val="solid"/>
          </a:ln>
        </p:spPr>
        <p:txBody>
          <a:bodyPr/>
          <a:lstStyle/>
          <a:p>
            <a:pPr algn="l">
              <a:defRPr sz="1275" b="1">
                <a:solidFill>
                  <a:srgbClr val="FFFFFF"/>
                </a:solidFill>
              </a:defRPr>
            </a:pPr>
            <a:r>
              <a:rPr sz="1275" b="1">
                <a:solidFill>
                  <a:srgbClr val="FFFFFF"/>
                </a:solidFill>
              </a:rPr>
              <a:t>Example consequence</a:t>
            </a:r>
          </a:p>
        </p:txBody>
      </p:sp>
      <p:sp>
        <p:nvSpPr>
          <p:cNvPr id="37" name="Rectangle 36">
            <a:extLst>
              <a:ext uri="{FF2B5EF4-FFF2-40B4-BE49-F238E27FC236}">
                <a16:creationId xmlns:a16="http://schemas.microsoft.com/office/drawing/2014/main" id="{7CAB938C-F2EC-4CE4-A324-EB9F81B9EDE7}"/>
              </a:ext>
            </a:extLst>
          </p:cNvPr>
          <p:cNvSpPr>
            <a:spLocks noGrp="1"/>
          </p:cNvSpPr>
          <p:nvPr/>
        </p:nvSpPr>
        <p:spPr>
          <a:xfrm>
            <a:off x="571500" y="4914900"/>
            <a:ext cx="2190750" cy="438150"/>
          </a:xfrm>
          <a:prstGeom prst="rect">
            <a:avLst/>
          </a:prstGeom>
          <a:solidFill>
            <a:srgbClr val="FFFFFF"/>
          </a:solidFill>
          <a:ln w="9525">
            <a:solidFill>
              <a:srgbClr val="D8DEE8"/>
            </a:solidFill>
            <a:prstDash val="solid"/>
          </a:ln>
        </p:spPr>
        <p:txBody>
          <a:bodyPr/>
          <a:lstStyle/>
          <a:p>
            <a:endParaRPr lang="en-IN"/>
          </a:p>
        </p:txBody>
      </p:sp>
      <p:sp>
        <p:nvSpPr>
          <p:cNvPr id="38" name="Rectangle 37">
            <a:extLst>
              <a:ext uri="{FF2B5EF4-FFF2-40B4-BE49-F238E27FC236}">
                <a16:creationId xmlns:a16="http://schemas.microsoft.com/office/drawing/2014/main" id="{5774FCDB-717B-4662-92E0-8081B600DDE6}"/>
              </a:ext>
            </a:extLst>
          </p:cNvPr>
          <p:cNvSpPr>
            <a:spLocks noGrp="1"/>
          </p:cNvSpPr>
          <p:nvPr/>
        </p:nvSpPr>
        <p:spPr>
          <a:xfrm>
            <a:off x="666750" y="4981575"/>
            <a:ext cx="2000250" cy="342900"/>
          </a:xfrm>
          <a:prstGeom prst="rect">
            <a:avLst/>
          </a:prstGeom>
          <a:noFill/>
          <a:ln w="0">
            <a:noFill/>
            <a:prstDash val="solid"/>
          </a:ln>
        </p:spPr>
        <p:txBody>
          <a:bodyPr/>
          <a:lstStyle/>
          <a:p>
            <a:pPr algn="l">
              <a:defRPr sz="1200" b="1">
                <a:solidFill>
                  <a:srgbClr val="132033"/>
                </a:solidFill>
              </a:defRPr>
            </a:pPr>
            <a:r>
              <a:rPr sz="1200" b="1">
                <a:solidFill>
                  <a:srgbClr val="132033"/>
                </a:solidFill>
              </a:rPr>
              <a:t>Operational</a:t>
            </a:r>
          </a:p>
        </p:txBody>
      </p:sp>
      <p:sp>
        <p:nvSpPr>
          <p:cNvPr id="39" name="Rectangle 38">
            <a:extLst>
              <a:ext uri="{FF2B5EF4-FFF2-40B4-BE49-F238E27FC236}">
                <a16:creationId xmlns:a16="http://schemas.microsoft.com/office/drawing/2014/main" id="{C029DEED-DDAF-4DDB-A374-A09620DA83F0}"/>
              </a:ext>
            </a:extLst>
          </p:cNvPr>
          <p:cNvSpPr>
            <a:spLocks noGrp="1"/>
          </p:cNvSpPr>
          <p:nvPr/>
        </p:nvSpPr>
        <p:spPr>
          <a:xfrm>
            <a:off x="2762250" y="4914900"/>
            <a:ext cx="5715000" cy="438150"/>
          </a:xfrm>
          <a:prstGeom prst="rect">
            <a:avLst/>
          </a:prstGeom>
          <a:solidFill>
            <a:srgbClr val="FFFFFF"/>
          </a:solidFill>
          <a:ln w="9525">
            <a:solidFill>
              <a:srgbClr val="D8DEE8"/>
            </a:solidFill>
            <a:prstDash val="solid"/>
          </a:ln>
        </p:spPr>
        <p:txBody>
          <a:bodyPr/>
          <a:lstStyle/>
          <a:p>
            <a:endParaRPr lang="en-IN"/>
          </a:p>
        </p:txBody>
      </p:sp>
      <p:sp>
        <p:nvSpPr>
          <p:cNvPr id="40" name="Rectangle 39">
            <a:extLst>
              <a:ext uri="{FF2B5EF4-FFF2-40B4-BE49-F238E27FC236}">
                <a16:creationId xmlns:a16="http://schemas.microsoft.com/office/drawing/2014/main" id="{DBA00744-3D5E-4D5D-AB30-30F6399B1D7C}"/>
              </a:ext>
            </a:extLst>
          </p:cNvPr>
          <p:cNvSpPr>
            <a:spLocks noGrp="1"/>
          </p:cNvSpPr>
          <p:nvPr/>
        </p:nvSpPr>
        <p:spPr>
          <a:xfrm>
            <a:off x="2857500" y="4981575"/>
            <a:ext cx="5524500" cy="342900"/>
          </a:xfrm>
          <a:prstGeom prst="rect">
            <a:avLst/>
          </a:prstGeom>
          <a:noFill/>
          <a:ln w="0">
            <a:noFill/>
            <a:prstDash val="solid"/>
          </a:ln>
        </p:spPr>
        <p:txBody>
          <a:bodyPr/>
          <a:lstStyle/>
          <a:p>
            <a:pPr algn="l">
              <a:defRPr sz="1200" b="0">
                <a:solidFill>
                  <a:srgbClr val="35445B"/>
                </a:solidFill>
              </a:defRPr>
            </a:pPr>
            <a:r>
              <a:rPr sz="1200" b="0">
                <a:solidFill>
                  <a:srgbClr val="35445B"/>
                </a:solidFill>
              </a:rPr>
              <a:t>Superseded reimbursement term applied</a:t>
            </a:r>
          </a:p>
        </p:txBody>
      </p:sp>
      <p:sp>
        <p:nvSpPr>
          <p:cNvPr id="41" name="Rectangle 40">
            <a:extLst>
              <a:ext uri="{FF2B5EF4-FFF2-40B4-BE49-F238E27FC236}">
                <a16:creationId xmlns:a16="http://schemas.microsoft.com/office/drawing/2014/main" id="{DA9BC57F-E433-4CAC-9A0C-4966441C1C45}"/>
              </a:ext>
            </a:extLst>
          </p:cNvPr>
          <p:cNvSpPr>
            <a:spLocks noGrp="1"/>
          </p:cNvSpPr>
          <p:nvPr/>
        </p:nvSpPr>
        <p:spPr>
          <a:xfrm>
            <a:off x="571500" y="5353050"/>
            <a:ext cx="2190750" cy="438150"/>
          </a:xfrm>
          <a:prstGeom prst="rect">
            <a:avLst/>
          </a:prstGeom>
          <a:solidFill>
            <a:srgbClr val="F4F6F9"/>
          </a:solidFill>
          <a:ln w="9525">
            <a:solidFill>
              <a:srgbClr val="D8DEE8"/>
            </a:solidFill>
            <a:prstDash val="solid"/>
          </a:ln>
        </p:spPr>
        <p:txBody>
          <a:bodyPr/>
          <a:lstStyle/>
          <a:p>
            <a:endParaRPr lang="en-IN"/>
          </a:p>
        </p:txBody>
      </p:sp>
      <p:sp>
        <p:nvSpPr>
          <p:cNvPr id="42" name="Rectangle 41">
            <a:extLst>
              <a:ext uri="{FF2B5EF4-FFF2-40B4-BE49-F238E27FC236}">
                <a16:creationId xmlns:a16="http://schemas.microsoft.com/office/drawing/2014/main" id="{D8FBAA6C-EAE4-42C7-8502-9D94E611C091}"/>
              </a:ext>
            </a:extLst>
          </p:cNvPr>
          <p:cNvSpPr>
            <a:spLocks noGrp="1"/>
          </p:cNvSpPr>
          <p:nvPr/>
        </p:nvSpPr>
        <p:spPr>
          <a:xfrm>
            <a:off x="666750" y="5419725"/>
            <a:ext cx="2000250" cy="342900"/>
          </a:xfrm>
          <a:prstGeom prst="rect">
            <a:avLst/>
          </a:prstGeom>
          <a:noFill/>
          <a:ln w="0">
            <a:noFill/>
            <a:prstDash val="solid"/>
          </a:ln>
        </p:spPr>
        <p:txBody>
          <a:bodyPr/>
          <a:lstStyle/>
          <a:p>
            <a:pPr algn="l">
              <a:defRPr sz="1200" b="1">
                <a:solidFill>
                  <a:srgbClr val="132033"/>
                </a:solidFill>
              </a:defRPr>
            </a:pPr>
            <a:r>
              <a:rPr sz="1200" b="1">
                <a:solidFill>
                  <a:srgbClr val="132033"/>
                </a:solidFill>
              </a:rPr>
              <a:t>Contractual</a:t>
            </a:r>
          </a:p>
        </p:txBody>
      </p:sp>
      <p:sp>
        <p:nvSpPr>
          <p:cNvPr id="43" name="Rectangle 42">
            <a:extLst>
              <a:ext uri="{FF2B5EF4-FFF2-40B4-BE49-F238E27FC236}">
                <a16:creationId xmlns:a16="http://schemas.microsoft.com/office/drawing/2014/main" id="{0825771E-4DE3-48A5-860C-2A83E00FA380}"/>
              </a:ext>
            </a:extLst>
          </p:cNvPr>
          <p:cNvSpPr>
            <a:spLocks noGrp="1"/>
          </p:cNvSpPr>
          <p:nvPr/>
        </p:nvSpPr>
        <p:spPr>
          <a:xfrm>
            <a:off x="2762250" y="5353050"/>
            <a:ext cx="5715000" cy="438150"/>
          </a:xfrm>
          <a:prstGeom prst="rect">
            <a:avLst/>
          </a:prstGeom>
          <a:solidFill>
            <a:srgbClr val="F4F6F9"/>
          </a:solidFill>
          <a:ln w="9525">
            <a:solidFill>
              <a:srgbClr val="D8DEE8"/>
            </a:solidFill>
            <a:prstDash val="solid"/>
          </a:ln>
        </p:spPr>
        <p:txBody>
          <a:bodyPr/>
          <a:lstStyle/>
          <a:p>
            <a:endParaRPr lang="en-IN"/>
          </a:p>
        </p:txBody>
      </p:sp>
      <p:sp>
        <p:nvSpPr>
          <p:cNvPr id="44" name="Rectangle 43">
            <a:extLst>
              <a:ext uri="{FF2B5EF4-FFF2-40B4-BE49-F238E27FC236}">
                <a16:creationId xmlns:a16="http://schemas.microsoft.com/office/drawing/2014/main" id="{EEAE0AC5-952A-4F6F-99CB-228609007F40}"/>
              </a:ext>
            </a:extLst>
          </p:cNvPr>
          <p:cNvSpPr>
            <a:spLocks noGrp="1"/>
          </p:cNvSpPr>
          <p:nvPr/>
        </p:nvSpPr>
        <p:spPr>
          <a:xfrm>
            <a:off x="2857500" y="5419725"/>
            <a:ext cx="5524500" cy="342900"/>
          </a:xfrm>
          <a:prstGeom prst="rect">
            <a:avLst/>
          </a:prstGeom>
          <a:noFill/>
          <a:ln w="0">
            <a:noFill/>
            <a:prstDash val="solid"/>
          </a:ln>
        </p:spPr>
        <p:txBody>
          <a:bodyPr/>
          <a:lstStyle/>
          <a:p>
            <a:pPr algn="l">
              <a:defRPr sz="1200" b="0">
                <a:solidFill>
                  <a:srgbClr val="35445B"/>
                </a:solidFill>
              </a:defRPr>
            </a:pPr>
            <a:r>
              <a:rPr sz="1200" b="0">
                <a:solidFill>
                  <a:srgbClr val="35445B"/>
                </a:solidFill>
              </a:rPr>
              <a:t>Renewal or notification deadline missed</a:t>
            </a:r>
          </a:p>
        </p:txBody>
      </p:sp>
      <p:sp>
        <p:nvSpPr>
          <p:cNvPr id="45" name="Rectangle 44">
            <a:extLst>
              <a:ext uri="{FF2B5EF4-FFF2-40B4-BE49-F238E27FC236}">
                <a16:creationId xmlns:a16="http://schemas.microsoft.com/office/drawing/2014/main" id="{872FA4CA-AFF5-42CD-A2B7-EE84031DB821}"/>
              </a:ext>
            </a:extLst>
          </p:cNvPr>
          <p:cNvSpPr>
            <a:spLocks noGrp="1"/>
          </p:cNvSpPr>
          <p:nvPr/>
        </p:nvSpPr>
        <p:spPr>
          <a:xfrm>
            <a:off x="571500" y="5791200"/>
            <a:ext cx="2190750" cy="438150"/>
          </a:xfrm>
          <a:prstGeom prst="rect">
            <a:avLst/>
          </a:prstGeom>
          <a:solidFill>
            <a:srgbClr val="FFFFFF"/>
          </a:solidFill>
          <a:ln w="9525">
            <a:solidFill>
              <a:srgbClr val="D8DEE8"/>
            </a:solidFill>
            <a:prstDash val="solid"/>
          </a:ln>
        </p:spPr>
        <p:txBody>
          <a:bodyPr/>
          <a:lstStyle/>
          <a:p>
            <a:endParaRPr lang="en-IN"/>
          </a:p>
        </p:txBody>
      </p:sp>
      <p:sp>
        <p:nvSpPr>
          <p:cNvPr id="46" name="Rectangle 45">
            <a:extLst>
              <a:ext uri="{FF2B5EF4-FFF2-40B4-BE49-F238E27FC236}">
                <a16:creationId xmlns:a16="http://schemas.microsoft.com/office/drawing/2014/main" id="{46A56F9A-D117-4D55-9192-7452DB6D505E}"/>
              </a:ext>
            </a:extLst>
          </p:cNvPr>
          <p:cNvSpPr>
            <a:spLocks noGrp="1"/>
          </p:cNvSpPr>
          <p:nvPr/>
        </p:nvSpPr>
        <p:spPr>
          <a:xfrm>
            <a:off x="666750" y="5857875"/>
            <a:ext cx="2000250" cy="342900"/>
          </a:xfrm>
          <a:prstGeom prst="rect">
            <a:avLst/>
          </a:prstGeom>
          <a:noFill/>
          <a:ln w="0">
            <a:noFill/>
            <a:prstDash val="solid"/>
          </a:ln>
        </p:spPr>
        <p:txBody>
          <a:bodyPr/>
          <a:lstStyle/>
          <a:p>
            <a:pPr algn="l">
              <a:defRPr sz="1200" b="1">
                <a:solidFill>
                  <a:srgbClr val="132033"/>
                </a:solidFill>
              </a:defRPr>
            </a:pPr>
            <a:r>
              <a:rPr sz="1200" b="1">
                <a:solidFill>
                  <a:srgbClr val="132033"/>
                </a:solidFill>
              </a:rPr>
              <a:t>Audit</a:t>
            </a:r>
          </a:p>
        </p:txBody>
      </p:sp>
      <p:sp>
        <p:nvSpPr>
          <p:cNvPr id="47" name="Rectangle 46">
            <a:extLst>
              <a:ext uri="{FF2B5EF4-FFF2-40B4-BE49-F238E27FC236}">
                <a16:creationId xmlns:a16="http://schemas.microsoft.com/office/drawing/2014/main" id="{2F1DB852-B411-45CF-AC3B-4CE4EBB31760}"/>
              </a:ext>
            </a:extLst>
          </p:cNvPr>
          <p:cNvSpPr>
            <a:spLocks noGrp="1"/>
          </p:cNvSpPr>
          <p:nvPr/>
        </p:nvSpPr>
        <p:spPr>
          <a:xfrm>
            <a:off x="2762250" y="5791200"/>
            <a:ext cx="5715000" cy="438150"/>
          </a:xfrm>
          <a:prstGeom prst="rect">
            <a:avLst/>
          </a:prstGeom>
          <a:solidFill>
            <a:srgbClr val="FFFFFF"/>
          </a:solidFill>
          <a:ln w="9525">
            <a:solidFill>
              <a:srgbClr val="D8DEE8"/>
            </a:solidFill>
            <a:prstDash val="solid"/>
          </a:ln>
        </p:spPr>
        <p:txBody>
          <a:bodyPr/>
          <a:lstStyle/>
          <a:p>
            <a:endParaRPr lang="en-IN"/>
          </a:p>
        </p:txBody>
      </p:sp>
      <p:sp>
        <p:nvSpPr>
          <p:cNvPr id="48" name="Rectangle 47">
            <a:extLst>
              <a:ext uri="{FF2B5EF4-FFF2-40B4-BE49-F238E27FC236}">
                <a16:creationId xmlns:a16="http://schemas.microsoft.com/office/drawing/2014/main" id="{262730C4-F2FF-47F2-A6D9-A72293D8BD4C}"/>
              </a:ext>
            </a:extLst>
          </p:cNvPr>
          <p:cNvSpPr>
            <a:spLocks noGrp="1"/>
          </p:cNvSpPr>
          <p:nvPr/>
        </p:nvSpPr>
        <p:spPr>
          <a:xfrm>
            <a:off x="2857500" y="5857875"/>
            <a:ext cx="5524500" cy="342900"/>
          </a:xfrm>
          <a:prstGeom prst="rect">
            <a:avLst/>
          </a:prstGeom>
          <a:noFill/>
          <a:ln w="0">
            <a:noFill/>
            <a:prstDash val="solid"/>
          </a:ln>
        </p:spPr>
        <p:txBody>
          <a:bodyPr/>
          <a:lstStyle/>
          <a:p>
            <a:pPr algn="l">
              <a:defRPr sz="1200" b="0">
                <a:solidFill>
                  <a:srgbClr val="35445B"/>
                </a:solidFill>
              </a:defRPr>
            </a:pPr>
            <a:r>
              <a:rPr sz="1200" b="0">
                <a:solidFill>
                  <a:srgbClr val="35445B"/>
                </a:solidFill>
              </a:rPr>
              <a:t>Evidence reconstructed manually across versions</a:t>
            </a:r>
          </a:p>
        </p:txBody>
      </p:sp>
      <p:sp>
        <p:nvSpPr>
          <p:cNvPr id="49" name="Rectangle: Rounded Corners 48">
            <a:extLst>
              <a:ext uri="{FF2B5EF4-FFF2-40B4-BE49-F238E27FC236}">
                <a16:creationId xmlns:a16="http://schemas.microsoft.com/office/drawing/2014/main" id="{C41079E8-73C7-48B0-B122-683EEE8872A7}"/>
              </a:ext>
            </a:extLst>
          </p:cNvPr>
          <p:cNvSpPr>
            <a:spLocks noGrp="1"/>
          </p:cNvSpPr>
          <p:nvPr/>
        </p:nvSpPr>
        <p:spPr>
          <a:xfrm>
            <a:off x="8763000" y="4476750"/>
            <a:ext cx="2857500" cy="1752600"/>
          </a:xfrm>
          <a:prstGeom prst="roundRect">
            <a:avLst>
              <a:gd name="adj" fmla="val 2174"/>
            </a:avLst>
          </a:prstGeom>
          <a:solidFill>
            <a:srgbClr val="FBEDED"/>
          </a:solidFill>
          <a:ln w="9525">
            <a:solidFill>
              <a:srgbClr val="C74343"/>
            </a:solidFill>
            <a:prstDash val="solid"/>
          </a:ln>
        </p:spPr>
        <p:txBody>
          <a:bodyPr/>
          <a:lstStyle/>
          <a:p>
            <a:endParaRPr lang="en-IN"/>
          </a:p>
        </p:txBody>
      </p:sp>
      <p:sp>
        <p:nvSpPr>
          <p:cNvPr id="50" name="Rectangle 49">
            <a:extLst>
              <a:ext uri="{FF2B5EF4-FFF2-40B4-BE49-F238E27FC236}">
                <a16:creationId xmlns:a16="http://schemas.microsoft.com/office/drawing/2014/main" id="{257328CF-3FF1-43B1-84F6-851B7D8D4CFE}"/>
              </a:ext>
            </a:extLst>
          </p:cNvPr>
          <p:cNvSpPr>
            <a:spLocks noGrp="1"/>
          </p:cNvSpPr>
          <p:nvPr/>
        </p:nvSpPr>
        <p:spPr>
          <a:xfrm>
            <a:off x="8763000" y="4476750"/>
            <a:ext cx="57150" cy="1752600"/>
          </a:xfrm>
          <a:prstGeom prst="rect">
            <a:avLst/>
          </a:prstGeom>
          <a:solidFill>
            <a:srgbClr val="C74343"/>
          </a:solidFill>
          <a:ln w="0">
            <a:noFill/>
            <a:prstDash val="solid"/>
          </a:ln>
        </p:spPr>
        <p:txBody>
          <a:bodyPr/>
          <a:lstStyle/>
          <a:p>
            <a:endParaRPr lang="en-IN"/>
          </a:p>
        </p:txBody>
      </p:sp>
      <p:sp>
        <p:nvSpPr>
          <p:cNvPr id="51" name="Rectangle 50">
            <a:extLst>
              <a:ext uri="{FF2B5EF4-FFF2-40B4-BE49-F238E27FC236}">
                <a16:creationId xmlns:a16="http://schemas.microsoft.com/office/drawing/2014/main" id="{DDEF07BE-E5EB-46C9-B3E2-36193D6DF025}"/>
              </a:ext>
            </a:extLst>
          </p:cNvPr>
          <p:cNvSpPr>
            <a:spLocks noGrp="1"/>
          </p:cNvSpPr>
          <p:nvPr/>
        </p:nvSpPr>
        <p:spPr>
          <a:xfrm>
            <a:off x="8972550" y="4600575"/>
            <a:ext cx="2495550" cy="1581150"/>
          </a:xfrm>
          <a:prstGeom prst="rect">
            <a:avLst/>
          </a:prstGeom>
          <a:noFill/>
          <a:ln w="0">
            <a:noFill/>
            <a:prstDash val="solid"/>
          </a:ln>
        </p:spPr>
        <p:txBody>
          <a:bodyPr/>
          <a:lstStyle/>
          <a:p>
            <a:pPr algn="l">
              <a:defRPr sz="1575" b="1">
                <a:solidFill>
                  <a:srgbClr val="132033"/>
                </a:solidFill>
              </a:defRPr>
            </a:pPr>
            <a:r>
              <a:rPr sz="1575" b="1">
                <a:solidFill>
                  <a:srgbClr val="132033"/>
                </a:solidFill>
              </a:rPr>
              <a:t>A stale but plausible answer can be more dangerous than no answer.</a:t>
            </a:r>
          </a:p>
        </p:txBody>
      </p:sp>
    </p:spTree>
    <p:extLst>
      <p:ext uri="{BB962C8B-B14F-4D97-AF65-F5344CB8AC3E}">
        <p14:creationId xmlns:p14="http://schemas.microsoft.com/office/powerpoint/2010/main" val="7394607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3" name="section">
            <a:extLst>
              <a:ext uri="{FF2B5EF4-FFF2-40B4-BE49-F238E27FC236}">
                <a16:creationId xmlns:a16="http://schemas.microsoft.com/office/drawing/2014/main" id="{48D607BF-DFD5-4046-A1DD-469FACB5C2A5}"/>
              </a:ext>
            </a:extLst>
          </p:cNvPr>
          <p:cNvSpPr>
            <a:spLocks noGrp="1"/>
          </p:cNvSpPr>
          <p:nvPr/>
        </p:nvSpPr>
        <p:spPr>
          <a:xfrm>
            <a:off x="457200" y="209550"/>
            <a:ext cx="6858000" cy="190500"/>
          </a:xfrm>
          <a:prstGeom prst="rect">
            <a:avLst/>
          </a:prstGeom>
          <a:noFill/>
          <a:ln w="0">
            <a:noFill/>
            <a:prstDash val="solid"/>
          </a:ln>
        </p:spPr>
        <p:txBody>
          <a:bodyPr/>
          <a:lstStyle/>
          <a:p>
            <a:pPr algn="l">
              <a:defRPr sz="825" b="1">
                <a:solidFill>
                  <a:srgbClr val="007A78"/>
                </a:solidFill>
              </a:defRPr>
            </a:pPr>
            <a:r>
              <a:rPr sz="825" b="1">
                <a:solidFill>
                  <a:srgbClr val="007A78"/>
                </a:solidFill>
              </a:rPr>
              <a:t>SOLUTION THESIS</a:t>
            </a:r>
          </a:p>
        </p:txBody>
      </p:sp>
      <p:sp>
        <p:nvSpPr>
          <p:cNvPr id="2" name="slide-title">
            <a:extLst>
              <a:ext uri="{FF2B5EF4-FFF2-40B4-BE49-F238E27FC236}">
                <a16:creationId xmlns:a16="http://schemas.microsoft.com/office/drawing/2014/main" id="{B2364ADA-2482-4B3C-98FF-826CBF5A7F03}"/>
              </a:ext>
            </a:extLst>
          </p:cNvPr>
          <p:cNvSpPr>
            <a:spLocks noGrp="1"/>
          </p:cNvSpPr>
          <p:nvPr/>
        </p:nvSpPr>
        <p:spPr>
          <a:xfrm>
            <a:off x="457200" y="457200"/>
            <a:ext cx="11220450" cy="457200"/>
          </a:xfrm>
          <a:prstGeom prst="rect">
            <a:avLst/>
          </a:prstGeom>
          <a:noFill/>
          <a:ln w="0">
            <a:noFill/>
            <a:prstDash val="solid"/>
          </a:ln>
        </p:spPr>
        <p:txBody>
          <a:bodyPr/>
          <a:lstStyle/>
          <a:p>
            <a:pPr algn="l">
              <a:defRPr sz="2625" b="1">
                <a:solidFill>
                  <a:srgbClr val="132033"/>
                </a:solidFill>
              </a:defRPr>
            </a:pPr>
            <a:r>
              <a:rPr sz="2625" b="1">
                <a:solidFill>
                  <a:srgbClr val="132033"/>
                </a:solidFill>
              </a:rPr>
              <a:t>CIP converts static contracts into governed intelligence</a:t>
            </a:r>
          </a:p>
        </p:txBody>
      </p:sp>
      <p:sp>
        <p:nvSpPr>
          <p:cNvPr id="3" name="Rectangle 2">
            <a:extLst>
              <a:ext uri="{FF2B5EF4-FFF2-40B4-BE49-F238E27FC236}">
                <a16:creationId xmlns:a16="http://schemas.microsoft.com/office/drawing/2014/main" id="{2B2928C8-7DBD-4A4C-B969-98F7E4AC46FC}"/>
              </a:ext>
            </a:extLst>
          </p:cNvPr>
          <p:cNvSpPr>
            <a:spLocks noGrp="1"/>
          </p:cNvSpPr>
          <p:nvPr/>
        </p:nvSpPr>
        <p:spPr>
          <a:xfrm>
            <a:off x="457200" y="990600"/>
            <a:ext cx="11277600" cy="9525"/>
          </a:xfrm>
          <a:prstGeom prst="rect">
            <a:avLst/>
          </a:prstGeom>
          <a:solidFill>
            <a:srgbClr val="D8DEE8"/>
          </a:solidFill>
          <a:ln w="0">
            <a:noFill/>
            <a:prstDash val="solid"/>
          </a:ln>
        </p:spPr>
        <p:txBody>
          <a:bodyPr/>
          <a:lstStyle/>
          <a:p>
            <a:endParaRPr lang="en-IN"/>
          </a:p>
        </p:txBody>
      </p:sp>
      <p:sp>
        <p:nvSpPr>
          <p:cNvPr id="4" name="visible-source">
            <a:extLst>
              <a:ext uri="{FF2B5EF4-FFF2-40B4-BE49-F238E27FC236}">
                <a16:creationId xmlns:a16="http://schemas.microsoft.com/office/drawing/2014/main" id="{3DC5E328-7939-4909-B031-3F9DA95C415C}"/>
              </a:ext>
            </a:extLst>
          </p:cNvPr>
          <p:cNvSpPr>
            <a:spLocks noGrp="1"/>
          </p:cNvSpPr>
          <p:nvPr/>
        </p:nvSpPr>
        <p:spPr>
          <a:xfrm>
            <a:off x="457200" y="6524625"/>
            <a:ext cx="9334500" cy="142875"/>
          </a:xfrm>
          <a:prstGeom prst="rect">
            <a:avLst/>
          </a:prstGeom>
          <a:noFill/>
          <a:ln w="0">
            <a:noFill/>
            <a:prstDash val="solid"/>
          </a:ln>
        </p:spPr>
        <p:txBody>
          <a:bodyPr/>
          <a:lstStyle/>
          <a:p>
            <a:pPr algn="l">
              <a:defRPr sz="675" b="0">
                <a:solidFill>
                  <a:srgbClr val="667389"/>
                </a:solidFill>
              </a:defRPr>
            </a:pPr>
            <a:r>
              <a:rPr sz="675" b="0">
                <a:solidFill>
                  <a:srgbClr val="667389"/>
                </a:solidFill>
              </a:rPr>
              <a:t>Source: Pipeline and application documentation</a:t>
            </a:r>
          </a:p>
        </p:txBody>
      </p:sp>
      <p:sp>
        <p:nvSpPr>
          <p:cNvPr id="5" name="page">
            <a:extLst>
              <a:ext uri="{FF2B5EF4-FFF2-40B4-BE49-F238E27FC236}">
                <a16:creationId xmlns:a16="http://schemas.microsoft.com/office/drawing/2014/main" id="{4FE71675-E70B-4234-B13E-93C007A9C826}"/>
              </a:ext>
            </a:extLst>
          </p:cNvPr>
          <p:cNvSpPr>
            <a:spLocks noGrp="1"/>
          </p:cNvSpPr>
          <p:nvPr/>
        </p:nvSpPr>
        <p:spPr>
          <a:xfrm>
            <a:off x="11220450" y="6496050"/>
            <a:ext cx="514350" cy="171450"/>
          </a:xfrm>
          <a:prstGeom prst="rect">
            <a:avLst/>
          </a:prstGeom>
          <a:noFill/>
          <a:ln w="0">
            <a:noFill/>
            <a:prstDash val="solid"/>
          </a:ln>
        </p:spPr>
        <p:txBody>
          <a:bodyPr/>
          <a:lstStyle/>
          <a:p>
            <a:pPr algn="r">
              <a:defRPr sz="750" b="1">
                <a:solidFill>
                  <a:srgbClr val="667389"/>
                </a:solidFill>
              </a:defRPr>
            </a:pPr>
            <a:r>
              <a:rPr sz="750" b="1">
                <a:solidFill>
                  <a:srgbClr val="667389"/>
                </a:solidFill>
              </a:rPr>
              <a:t>04</a:t>
            </a:r>
          </a:p>
        </p:txBody>
      </p:sp>
      <p:sp>
        <p:nvSpPr>
          <p:cNvPr id="6" name="Rectangle: Rounded Corners 5">
            <a:extLst>
              <a:ext uri="{FF2B5EF4-FFF2-40B4-BE49-F238E27FC236}">
                <a16:creationId xmlns:a16="http://schemas.microsoft.com/office/drawing/2014/main" id="{CB70D343-C009-460F-9C34-3F3A55F614CA}"/>
              </a:ext>
            </a:extLst>
          </p:cNvPr>
          <p:cNvSpPr>
            <a:spLocks noGrp="1"/>
          </p:cNvSpPr>
          <p:nvPr/>
        </p:nvSpPr>
        <p:spPr>
          <a:xfrm>
            <a:off x="666750" y="1762125"/>
            <a:ext cx="2667000" cy="2762250"/>
          </a:xfrm>
          <a:prstGeom prst="roundRect">
            <a:avLst>
              <a:gd name="adj" fmla="val 1429"/>
            </a:avLst>
          </a:prstGeom>
          <a:solidFill>
            <a:srgbClr val="F4F6F9"/>
          </a:solidFill>
          <a:ln w="9525">
            <a:solidFill>
              <a:srgbClr val="D8DEE8"/>
            </a:solidFill>
            <a:prstDash val="solid"/>
          </a:ln>
        </p:spPr>
        <p:txBody>
          <a:bodyPr/>
          <a:lstStyle/>
          <a:p>
            <a:endParaRPr lang="en-IN"/>
          </a:p>
        </p:txBody>
      </p:sp>
      <p:sp>
        <p:nvSpPr>
          <p:cNvPr id="7" name="Rectangle: Rounded Corners 6">
            <a:extLst>
              <a:ext uri="{FF2B5EF4-FFF2-40B4-BE49-F238E27FC236}">
                <a16:creationId xmlns:a16="http://schemas.microsoft.com/office/drawing/2014/main" id="{9B8D73C9-7822-41B9-AC53-6A8F8702E006}"/>
              </a:ext>
            </a:extLst>
          </p:cNvPr>
          <p:cNvSpPr>
            <a:spLocks noGrp="1"/>
          </p:cNvSpPr>
          <p:nvPr/>
        </p:nvSpPr>
        <p:spPr>
          <a:xfrm>
            <a:off x="4762500" y="1428750"/>
            <a:ext cx="2667000" cy="3429000"/>
          </a:xfrm>
          <a:prstGeom prst="roundRect">
            <a:avLst>
              <a:gd name="adj" fmla="val 1429"/>
            </a:avLst>
          </a:prstGeom>
          <a:solidFill>
            <a:srgbClr val="E5F4F2"/>
          </a:solidFill>
          <a:ln w="9525">
            <a:solidFill>
              <a:srgbClr val="007A78"/>
            </a:solidFill>
            <a:prstDash val="solid"/>
          </a:ln>
        </p:spPr>
        <p:txBody>
          <a:bodyPr/>
          <a:lstStyle/>
          <a:p>
            <a:endParaRPr lang="en-IN"/>
          </a:p>
        </p:txBody>
      </p:sp>
      <p:sp>
        <p:nvSpPr>
          <p:cNvPr id="8" name="Rectangle: Rounded Corners 7">
            <a:extLst>
              <a:ext uri="{FF2B5EF4-FFF2-40B4-BE49-F238E27FC236}">
                <a16:creationId xmlns:a16="http://schemas.microsoft.com/office/drawing/2014/main" id="{EFF6F63B-3422-4A3C-A022-45777F87DD18}"/>
              </a:ext>
            </a:extLst>
          </p:cNvPr>
          <p:cNvSpPr>
            <a:spLocks noGrp="1"/>
          </p:cNvSpPr>
          <p:nvPr/>
        </p:nvSpPr>
        <p:spPr>
          <a:xfrm>
            <a:off x="8858250" y="1762125"/>
            <a:ext cx="2667000" cy="2762250"/>
          </a:xfrm>
          <a:prstGeom prst="roundRect">
            <a:avLst>
              <a:gd name="adj" fmla="val 1429"/>
            </a:avLst>
          </a:prstGeom>
          <a:solidFill>
            <a:srgbClr val="F4F6F9"/>
          </a:solidFill>
          <a:ln w="9525">
            <a:solidFill>
              <a:srgbClr val="D8DEE8"/>
            </a:solidFill>
            <a:prstDash val="solid"/>
          </a:ln>
        </p:spPr>
        <p:txBody>
          <a:bodyPr/>
          <a:lstStyle/>
          <a:p>
            <a:endParaRPr lang="en-IN"/>
          </a:p>
        </p:txBody>
      </p:sp>
      <p:cxnSp>
        <p:nvCxnSpPr>
          <p:cNvPr id="51" name="Straight Arrow Connector 50"/>
          <p:cNvCxnSpPr>
            <a:stCxn id="6" idx="3"/>
            <a:endCxn id="7" idx="1"/>
          </p:cNvCxnSpPr>
          <p:nvPr/>
        </p:nvCxnSpPr>
        <p:spPr>
          <a:xfrm>
            <a:off x="3333750" y="3143250"/>
            <a:ext cx="1428750" cy="0"/>
          </a:xfrm>
          <a:prstGeom prst="straightConnector1">
            <a:avLst/>
          </a:prstGeom>
          <a:ln w="19050">
            <a:solidFill>
              <a:srgbClr val="007A78"/>
            </a:solidFill>
            <a:prstDash val="solid"/>
            <a:tailEnd type="arrow" w="med" len="med"/>
          </a:ln>
        </p:spPr>
      </p:cxnSp>
      <p:cxnSp>
        <p:nvCxnSpPr>
          <p:cNvPr id="52" name="Straight Arrow Connector 51"/>
          <p:cNvCxnSpPr>
            <a:stCxn id="7" idx="3"/>
            <a:endCxn id="8" idx="1"/>
          </p:cNvCxnSpPr>
          <p:nvPr/>
        </p:nvCxnSpPr>
        <p:spPr>
          <a:xfrm>
            <a:off x="7429500" y="3143250"/>
            <a:ext cx="1428750" cy="0"/>
          </a:xfrm>
          <a:prstGeom prst="straightConnector1">
            <a:avLst/>
          </a:prstGeom>
          <a:ln w="19050">
            <a:solidFill>
              <a:srgbClr val="007A78"/>
            </a:solidFill>
            <a:prstDash val="solid"/>
            <a:tailEnd type="arrow" w="med" len="med"/>
          </a:ln>
        </p:spPr>
      </p:cxnSp>
      <p:sp>
        <p:nvSpPr>
          <p:cNvPr id="11" name="Rectangle 10">
            <a:extLst>
              <a:ext uri="{FF2B5EF4-FFF2-40B4-BE49-F238E27FC236}">
                <a16:creationId xmlns:a16="http://schemas.microsoft.com/office/drawing/2014/main" id="{9F3A0D69-B430-4380-B790-6B8ED860B2FD}"/>
              </a:ext>
            </a:extLst>
          </p:cNvPr>
          <p:cNvSpPr>
            <a:spLocks noGrp="1"/>
          </p:cNvSpPr>
          <p:nvPr/>
        </p:nvSpPr>
        <p:spPr>
          <a:xfrm>
            <a:off x="857250" y="2000250"/>
            <a:ext cx="2286000" cy="228600"/>
          </a:xfrm>
          <a:prstGeom prst="rect">
            <a:avLst/>
          </a:prstGeom>
          <a:noFill/>
          <a:ln w="0">
            <a:noFill/>
            <a:prstDash val="solid"/>
          </a:ln>
        </p:spPr>
        <p:txBody>
          <a:bodyPr/>
          <a:lstStyle/>
          <a:p>
            <a:pPr algn="ctr">
              <a:defRPr sz="1200" b="1">
                <a:solidFill>
                  <a:srgbClr val="1769AA"/>
                </a:solidFill>
              </a:defRPr>
            </a:pPr>
            <a:r>
              <a:rPr sz="1200" b="1">
                <a:solidFill>
                  <a:srgbClr val="1769AA"/>
                </a:solidFill>
              </a:rPr>
              <a:t>DIGITIZE ONCE</a:t>
            </a:r>
          </a:p>
        </p:txBody>
      </p:sp>
      <p:sp>
        <p:nvSpPr>
          <p:cNvPr id="12" name="Rectangle: Rounded Corners 11">
            <a:extLst>
              <a:ext uri="{FF2B5EF4-FFF2-40B4-BE49-F238E27FC236}">
                <a16:creationId xmlns:a16="http://schemas.microsoft.com/office/drawing/2014/main" id="{E8EE8893-4CF5-49EB-959D-30EF31046A84}"/>
              </a:ext>
            </a:extLst>
          </p:cNvPr>
          <p:cNvSpPr>
            <a:spLocks noGrp="1"/>
          </p:cNvSpPr>
          <p:nvPr/>
        </p:nvSpPr>
        <p:spPr>
          <a:xfrm>
            <a:off x="1000125" y="2552700"/>
            <a:ext cx="57150" cy="57150"/>
          </a:xfrm>
          <a:prstGeom prst="roundRect">
            <a:avLst>
              <a:gd name="adj" fmla="val 50000"/>
            </a:avLst>
          </a:prstGeom>
          <a:solidFill>
            <a:srgbClr val="1769AA"/>
          </a:solidFill>
          <a:ln w="0">
            <a:noFill/>
            <a:prstDash val="solid"/>
          </a:ln>
        </p:spPr>
        <p:txBody>
          <a:bodyPr/>
          <a:lstStyle/>
          <a:p>
            <a:endParaRPr lang="en-IN"/>
          </a:p>
        </p:txBody>
      </p:sp>
      <p:sp>
        <p:nvSpPr>
          <p:cNvPr id="13" name="Rectangle 12">
            <a:extLst>
              <a:ext uri="{FF2B5EF4-FFF2-40B4-BE49-F238E27FC236}">
                <a16:creationId xmlns:a16="http://schemas.microsoft.com/office/drawing/2014/main" id="{47FFFBC0-E160-4B2D-A7CB-0FFEA5C883E7}"/>
              </a:ext>
            </a:extLst>
          </p:cNvPr>
          <p:cNvSpPr>
            <a:spLocks noGrp="1"/>
          </p:cNvSpPr>
          <p:nvPr/>
        </p:nvSpPr>
        <p:spPr>
          <a:xfrm>
            <a:off x="1171575" y="2476500"/>
            <a:ext cx="1924050" cy="381000"/>
          </a:xfrm>
          <a:prstGeom prst="rect">
            <a:avLst/>
          </a:prstGeom>
          <a:noFill/>
          <a:ln w="0">
            <a:noFill/>
            <a:prstDash val="solid"/>
          </a:ln>
        </p:spPr>
        <p:txBody>
          <a:bodyPr/>
          <a:lstStyle/>
          <a:p>
            <a:pPr algn="l">
              <a:defRPr sz="1275" b="0">
                <a:solidFill>
                  <a:srgbClr val="35445B"/>
                </a:solidFill>
              </a:defRPr>
            </a:pPr>
            <a:r>
              <a:rPr sz="1275" b="0">
                <a:solidFill>
                  <a:srgbClr val="35445B"/>
                </a:solidFill>
              </a:rPr>
              <a:t>Contracts</a:t>
            </a:r>
          </a:p>
        </p:txBody>
      </p:sp>
      <p:sp>
        <p:nvSpPr>
          <p:cNvPr id="14" name="Rectangle: Rounded Corners 13">
            <a:extLst>
              <a:ext uri="{FF2B5EF4-FFF2-40B4-BE49-F238E27FC236}">
                <a16:creationId xmlns:a16="http://schemas.microsoft.com/office/drawing/2014/main" id="{50C0ECBE-EFD0-4A4D-8072-08AF598A0E02}"/>
              </a:ext>
            </a:extLst>
          </p:cNvPr>
          <p:cNvSpPr>
            <a:spLocks noGrp="1"/>
          </p:cNvSpPr>
          <p:nvPr/>
        </p:nvSpPr>
        <p:spPr>
          <a:xfrm>
            <a:off x="1000125" y="2952750"/>
            <a:ext cx="57150" cy="57150"/>
          </a:xfrm>
          <a:prstGeom prst="roundRect">
            <a:avLst>
              <a:gd name="adj" fmla="val 50000"/>
            </a:avLst>
          </a:prstGeom>
          <a:solidFill>
            <a:srgbClr val="1769AA"/>
          </a:solidFill>
          <a:ln w="0">
            <a:noFill/>
            <a:prstDash val="solid"/>
          </a:ln>
        </p:spPr>
        <p:txBody>
          <a:bodyPr/>
          <a:lstStyle/>
          <a:p>
            <a:endParaRPr lang="en-IN"/>
          </a:p>
        </p:txBody>
      </p:sp>
      <p:sp>
        <p:nvSpPr>
          <p:cNvPr id="15" name="Rectangle 14">
            <a:extLst>
              <a:ext uri="{FF2B5EF4-FFF2-40B4-BE49-F238E27FC236}">
                <a16:creationId xmlns:a16="http://schemas.microsoft.com/office/drawing/2014/main" id="{282E846D-E9F7-4F30-8451-D4B31A4DFBDE}"/>
              </a:ext>
            </a:extLst>
          </p:cNvPr>
          <p:cNvSpPr>
            <a:spLocks noGrp="1"/>
          </p:cNvSpPr>
          <p:nvPr/>
        </p:nvSpPr>
        <p:spPr>
          <a:xfrm>
            <a:off x="1171575" y="2876550"/>
            <a:ext cx="1924050" cy="381000"/>
          </a:xfrm>
          <a:prstGeom prst="rect">
            <a:avLst/>
          </a:prstGeom>
          <a:noFill/>
          <a:ln w="0">
            <a:noFill/>
            <a:prstDash val="solid"/>
          </a:ln>
        </p:spPr>
        <p:txBody>
          <a:bodyPr/>
          <a:lstStyle/>
          <a:p>
            <a:pPr algn="l">
              <a:defRPr sz="1275" b="0">
                <a:solidFill>
                  <a:srgbClr val="35445B"/>
                </a:solidFill>
              </a:defRPr>
            </a:pPr>
            <a:r>
              <a:rPr sz="1275" b="0">
                <a:solidFill>
                  <a:srgbClr val="35445B"/>
                </a:solidFill>
              </a:rPr>
              <a:t>Amendments</a:t>
            </a:r>
          </a:p>
        </p:txBody>
      </p:sp>
      <p:sp>
        <p:nvSpPr>
          <p:cNvPr id="16" name="Rectangle: Rounded Corners 15">
            <a:extLst>
              <a:ext uri="{FF2B5EF4-FFF2-40B4-BE49-F238E27FC236}">
                <a16:creationId xmlns:a16="http://schemas.microsoft.com/office/drawing/2014/main" id="{6715AC10-3A2A-4B75-9B0A-20B2321D1156}"/>
              </a:ext>
            </a:extLst>
          </p:cNvPr>
          <p:cNvSpPr>
            <a:spLocks noGrp="1"/>
          </p:cNvSpPr>
          <p:nvPr/>
        </p:nvSpPr>
        <p:spPr>
          <a:xfrm>
            <a:off x="1000125" y="3352800"/>
            <a:ext cx="57150" cy="57150"/>
          </a:xfrm>
          <a:prstGeom prst="roundRect">
            <a:avLst>
              <a:gd name="adj" fmla="val 50000"/>
            </a:avLst>
          </a:prstGeom>
          <a:solidFill>
            <a:srgbClr val="1769AA"/>
          </a:solidFill>
          <a:ln w="0">
            <a:noFill/>
            <a:prstDash val="solid"/>
          </a:ln>
        </p:spPr>
        <p:txBody>
          <a:bodyPr/>
          <a:lstStyle/>
          <a:p>
            <a:endParaRPr lang="en-IN"/>
          </a:p>
        </p:txBody>
      </p:sp>
      <p:sp>
        <p:nvSpPr>
          <p:cNvPr id="17" name="Rectangle 16">
            <a:extLst>
              <a:ext uri="{FF2B5EF4-FFF2-40B4-BE49-F238E27FC236}">
                <a16:creationId xmlns:a16="http://schemas.microsoft.com/office/drawing/2014/main" id="{64DBD152-CD78-40B3-948E-F9B5E24CFE80}"/>
              </a:ext>
            </a:extLst>
          </p:cNvPr>
          <p:cNvSpPr>
            <a:spLocks noGrp="1"/>
          </p:cNvSpPr>
          <p:nvPr/>
        </p:nvSpPr>
        <p:spPr>
          <a:xfrm>
            <a:off x="1171575" y="3276600"/>
            <a:ext cx="1924050" cy="381000"/>
          </a:xfrm>
          <a:prstGeom prst="rect">
            <a:avLst/>
          </a:prstGeom>
          <a:noFill/>
          <a:ln w="0">
            <a:noFill/>
            <a:prstDash val="solid"/>
          </a:ln>
        </p:spPr>
        <p:txBody>
          <a:bodyPr/>
          <a:lstStyle/>
          <a:p>
            <a:pPr algn="l">
              <a:defRPr sz="1275" b="0">
                <a:solidFill>
                  <a:srgbClr val="35445B"/>
                </a:solidFill>
              </a:defRPr>
            </a:pPr>
            <a:r>
              <a:rPr sz="1275" b="0">
                <a:solidFill>
                  <a:srgbClr val="35445B"/>
                </a:solidFill>
              </a:rPr>
              <a:t>Exhibits</a:t>
            </a:r>
          </a:p>
        </p:txBody>
      </p:sp>
      <p:sp>
        <p:nvSpPr>
          <p:cNvPr id="18" name="Rectangle: Rounded Corners 17">
            <a:extLst>
              <a:ext uri="{FF2B5EF4-FFF2-40B4-BE49-F238E27FC236}">
                <a16:creationId xmlns:a16="http://schemas.microsoft.com/office/drawing/2014/main" id="{A11062CC-F58C-48DA-9A64-951442A4FD2B}"/>
              </a:ext>
            </a:extLst>
          </p:cNvPr>
          <p:cNvSpPr>
            <a:spLocks noGrp="1"/>
          </p:cNvSpPr>
          <p:nvPr/>
        </p:nvSpPr>
        <p:spPr>
          <a:xfrm>
            <a:off x="1000125" y="3752850"/>
            <a:ext cx="57150" cy="57150"/>
          </a:xfrm>
          <a:prstGeom prst="roundRect">
            <a:avLst>
              <a:gd name="adj" fmla="val 50000"/>
            </a:avLst>
          </a:prstGeom>
          <a:solidFill>
            <a:srgbClr val="1769AA"/>
          </a:solidFill>
          <a:ln w="0">
            <a:noFill/>
            <a:prstDash val="solid"/>
          </a:ln>
        </p:spPr>
        <p:txBody>
          <a:bodyPr/>
          <a:lstStyle/>
          <a:p>
            <a:endParaRPr lang="en-IN"/>
          </a:p>
        </p:txBody>
      </p:sp>
      <p:sp>
        <p:nvSpPr>
          <p:cNvPr id="19" name="Rectangle 18">
            <a:extLst>
              <a:ext uri="{FF2B5EF4-FFF2-40B4-BE49-F238E27FC236}">
                <a16:creationId xmlns:a16="http://schemas.microsoft.com/office/drawing/2014/main" id="{44765830-3469-40B8-8C2E-8BEFC3106C1A}"/>
              </a:ext>
            </a:extLst>
          </p:cNvPr>
          <p:cNvSpPr>
            <a:spLocks noGrp="1"/>
          </p:cNvSpPr>
          <p:nvPr/>
        </p:nvSpPr>
        <p:spPr>
          <a:xfrm>
            <a:off x="1171575" y="3676650"/>
            <a:ext cx="1924050" cy="381000"/>
          </a:xfrm>
          <a:prstGeom prst="rect">
            <a:avLst/>
          </a:prstGeom>
          <a:noFill/>
          <a:ln w="0">
            <a:noFill/>
            <a:prstDash val="solid"/>
          </a:ln>
        </p:spPr>
        <p:txBody>
          <a:bodyPr/>
          <a:lstStyle/>
          <a:p>
            <a:pPr algn="l">
              <a:defRPr sz="1275" b="0">
                <a:solidFill>
                  <a:srgbClr val="35445B"/>
                </a:solidFill>
              </a:defRPr>
            </a:pPr>
            <a:r>
              <a:rPr sz="1275" b="0">
                <a:solidFill>
                  <a:srgbClr val="35445B"/>
                </a:solidFill>
              </a:rPr>
              <a:t>Rate schedules</a:t>
            </a:r>
          </a:p>
        </p:txBody>
      </p:sp>
      <p:sp>
        <p:nvSpPr>
          <p:cNvPr id="20" name="Rectangle 19">
            <a:extLst>
              <a:ext uri="{FF2B5EF4-FFF2-40B4-BE49-F238E27FC236}">
                <a16:creationId xmlns:a16="http://schemas.microsoft.com/office/drawing/2014/main" id="{AD357FE3-9017-40BC-8D1B-CFFA36DA5CE8}"/>
              </a:ext>
            </a:extLst>
          </p:cNvPr>
          <p:cNvSpPr>
            <a:spLocks noGrp="1"/>
          </p:cNvSpPr>
          <p:nvPr/>
        </p:nvSpPr>
        <p:spPr>
          <a:xfrm>
            <a:off x="4953000" y="1733550"/>
            <a:ext cx="2286000" cy="228600"/>
          </a:xfrm>
          <a:prstGeom prst="rect">
            <a:avLst/>
          </a:prstGeom>
          <a:noFill/>
          <a:ln w="0">
            <a:noFill/>
            <a:prstDash val="solid"/>
          </a:ln>
        </p:spPr>
        <p:txBody>
          <a:bodyPr/>
          <a:lstStyle/>
          <a:p>
            <a:pPr algn="ctr">
              <a:defRPr sz="1200" b="1">
                <a:solidFill>
                  <a:srgbClr val="007A78"/>
                </a:solidFill>
              </a:defRPr>
            </a:pPr>
            <a:r>
              <a:rPr sz="1200" b="1">
                <a:solidFill>
                  <a:srgbClr val="007A78"/>
                </a:solidFill>
              </a:rPr>
              <a:t>RESOLVE CONTINUOUSLY</a:t>
            </a:r>
          </a:p>
        </p:txBody>
      </p:sp>
      <p:sp>
        <p:nvSpPr>
          <p:cNvPr id="21" name="Rectangle: Rounded Corners 20">
            <a:extLst>
              <a:ext uri="{FF2B5EF4-FFF2-40B4-BE49-F238E27FC236}">
                <a16:creationId xmlns:a16="http://schemas.microsoft.com/office/drawing/2014/main" id="{280DCDFC-EC82-43E2-B5D1-6C0E41EE5A89}"/>
              </a:ext>
            </a:extLst>
          </p:cNvPr>
          <p:cNvSpPr>
            <a:spLocks noGrp="1"/>
          </p:cNvSpPr>
          <p:nvPr/>
        </p:nvSpPr>
        <p:spPr>
          <a:xfrm>
            <a:off x="5067300" y="2314575"/>
            <a:ext cx="57150" cy="57150"/>
          </a:xfrm>
          <a:prstGeom prst="roundRect">
            <a:avLst>
              <a:gd name="adj" fmla="val 50000"/>
            </a:avLst>
          </a:prstGeom>
          <a:solidFill>
            <a:srgbClr val="007A78"/>
          </a:solidFill>
          <a:ln w="0">
            <a:noFill/>
            <a:prstDash val="solid"/>
          </a:ln>
        </p:spPr>
        <p:txBody>
          <a:bodyPr/>
          <a:lstStyle/>
          <a:p>
            <a:endParaRPr lang="en-IN"/>
          </a:p>
        </p:txBody>
      </p:sp>
      <p:sp>
        <p:nvSpPr>
          <p:cNvPr id="22" name="Rectangle 21">
            <a:extLst>
              <a:ext uri="{FF2B5EF4-FFF2-40B4-BE49-F238E27FC236}">
                <a16:creationId xmlns:a16="http://schemas.microsoft.com/office/drawing/2014/main" id="{E56443CA-E2B0-4E25-9241-A09C7269E28C}"/>
              </a:ext>
            </a:extLst>
          </p:cNvPr>
          <p:cNvSpPr>
            <a:spLocks noGrp="1"/>
          </p:cNvSpPr>
          <p:nvPr/>
        </p:nvSpPr>
        <p:spPr>
          <a:xfrm>
            <a:off x="5238750" y="2238375"/>
            <a:ext cx="2066925" cy="419100"/>
          </a:xfrm>
          <a:prstGeom prst="rect">
            <a:avLst/>
          </a:prstGeom>
          <a:noFill/>
          <a:ln w="0">
            <a:noFill/>
            <a:prstDash val="solid"/>
          </a:ln>
        </p:spPr>
        <p:txBody>
          <a:bodyPr/>
          <a:lstStyle/>
          <a:p>
            <a:pPr algn="l">
              <a:defRPr sz="1275" b="0">
                <a:solidFill>
                  <a:srgbClr val="35445B"/>
                </a:solidFill>
              </a:defRPr>
            </a:pPr>
            <a:r>
              <a:rPr sz="1275" b="0">
                <a:solidFill>
                  <a:srgbClr val="35445B"/>
                </a:solidFill>
              </a:rPr>
              <a:t>Structured terms</a:t>
            </a:r>
          </a:p>
        </p:txBody>
      </p:sp>
      <p:sp>
        <p:nvSpPr>
          <p:cNvPr id="23" name="Rectangle: Rounded Corners 22">
            <a:extLst>
              <a:ext uri="{FF2B5EF4-FFF2-40B4-BE49-F238E27FC236}">
                <a16:creationId xmlns:a16="http://schemas.microsoft.com/office/drawing/2014/main" id="{A3D3CFC4-A334-488C-93B6-CFBB77B7F39F}"/>
              </a:ext>
            </a:extLst>
          </p:cNvPr>
          <p:cNvSpPr>
            <a:spLocks noGrp="1"/>
          </p:cNvSpPr>
          <p:nvPr/>
        </p:nvSpPr>
        <p:spPr>
          <a:xfrm>
            <a:off x="5067300" y="2752725"/>
            <a:ext cx="57150" cy="57150"/>
          </a:xfrm>
          <a:prstGeom prst="roundRect">
            <a:avLst>
              <a:gd name="adj" fmla="val 50000"/>
            </a:avLst>
          </a:prstGeom>
          <a:solidFill>
            <a:srgbClr val="007A78"/>
          </a:solidFill>
          <a:ln w="0">
            <a:noFill/>
            <a:prstDash val="solid"/>
          </a:ln>
        </p:spPr>
        <p:txBody>
          <a:bodyPr/>
          <a:lstStyle/>
          <a:p>
            <a:endParaRPr lang="en-IN"/>
          </a:p>
        </p:txBody>
      </p:sp>
      <p:sp>
        <p:nvSpPr>
          <p:cNvPr id="24" name="Rectangle 23">
            <a:extLst>
              <a:ext uri="{FF2B5EF4-FFF2-40B4-BE49-F238E27FC236}">
                <a16:creationId xmlns:a16="http://schemas.microsoft.com/office/drawing/2014/main" id="{0E53C71D-BDFD-42D7-8AF4-59F438A37338}"/>
              </a:ext>
            </a:extLst>
          </p:cNvPr>
          <p:cNvSpPr>
            <a:spLocks noGrp="1"/>
          </p:cNvSpPr>
          <p:nvPr/>
        </p:nvSpPr>
        <p:spPr>
          <a:xfrm>
            <a:off x="5238750" y="2676525"/>
            <a:ext cx="2066925" cy="419100"/>
          </a:xfrm>
          <a:prstGeom prst="rect">
            <a:avLst/>
          </a:prstGeom>
          <a:noFill/>
          <a:ln w="0">
            <a:noFill/>
            <a:prstDash val="solid"/>
          </a:ln>
        </p:spPr>
        <p:txBody>
          <a:bodyPr/>
          <a:lstStyle/>
          <a:p>
            <a:pPr algn="l">
              <a:defRPr sz="1275" b="0">
                <a:solidFill>
                  <a:srgbClr val="35445B"/>
                </a:solidFill>
              </a:defRPr>
            </a:pPr>
            <a:r>
              <a:rPr sz="1275" b="0">
                <a:solidFill>
                  <a:srgbClr val="35445B"/>
                </a:solidFill>
              </a:rPr>
              <a:t>Document relationships</a:t>
            </a:r>
          </a:p>
        </p:txBody>
      </p:sp>
      <p:sp>
        <p:nvSpPr>
          <p:cNvPr id="25" name="Rectangle: Rounded Corners 24">
            <a:extLst>
              <a:ext uri="{FF2B5EF4-FFF2-40B4-BE49-F238E27FC236}">
                <a16:creationId xmlns:a16="http://schemas.microsoft.com/office/drawing/2014/main" id="{8576D457-F2AC-48B3-98E4-D44E6EAA861A}"/>
              </a:ext>
            </a:extLst>
          </p:cNvPr>
          <p:cNvSpPr>
            <a:spLocks noGrp="1"/>
          </p:cNvSpPr>
          <p:nvPr/>
        </p:nvSpPr>
        <p:spPr>
          <a:xfrm>
            <a:off x="5067300" y="3190875"/>
            <a:ext cx="57150" cy="57150"/>
          </a:xfrm>
          <a:prstGeom prst="roundRect">
            <a:avLst>
              <a:gd name="adj" fmla="val 50000"/>
            </a:avLst>
          </a:prstGeom>
          <a:solidFill>
            <a:srgbClr val="007A78"/>
          </a:solidFill>
          <a:ln w="0">
            <a:noFill/>
            <a:prstDash val="solid"/>
          </a:ln>
        </p:spPr>
        <p:txBody>
          <a:bodyPr/>
          <a:lstStyle/>
          <a:p>
            <a:endParaRPr lang="en-IN"/>
          </a:p>
        </p:txBody>
      </p:sp>
      <p:sp>
        <p:nvSpPr>
          <p:cNvPr id="26" name="Rectangle 25">
            <a:extLst>
              <a:ext uri="{FF2B5EF4-FFF2-40B4-BE49-F238E27FC236}">
                <a16:creationId xmlns:a16="http://schemas.microsoft.com/office/drawing/2014/main" id="{EA0584CB-A446-4F94-BE1A-DE412D6A4223}"/>
              </a:ext>
            </a:extLst>
          </p:cNvPr>
          <p:cNvSpPr>
            <a:spLocks noGrp="1"/>
          </p:cNvSpPr>
          <p:nvPr/>
        </p:nvSpPr>
        <p:spPr>
          <a:xfrm>
            <a:off x="5238750" y="3114675"/>
            <a:ext cx="2066925" cy="419100"/>
          </a:xfrm>
          <a:prstGeom prst="rect">
            <a:avLst/>
          </a:prstGeom>
          <a:noFill/>
          <a:ln w="0">
            <a:noFill/>
            <a:prstDash val="solid"/>
          </a:ln>
        </p:spPr>
        <p:txBody>
          <a:bodyPr/>
          <a:lstStyle/>
          <a:p>
            <a:pPr algn="l">
              <a:defRPr sz="1275" b="0">
                <a:solidFill>
                  <a:srgbClr val="35445B"/>
                </a:solidFill>
              </a:defRPr>
            </a:pPr>
            <a:r>
              <a:rPr sz="1275" b="0">
                <a:solidFill>
                  <a:srgbClr val="35445B"/>
                </a:solidFill>
              </a:rPr>
              <a:t>Current-effective state</a:t>
            </a:r>
          </a:p>
        </p:txBody>
      </p:sp>
      <p:sp>
        <p:nvSpPr>
          <p:cNvPr id="27" name="Rectangle: Rounded Corners 26">
            <a:extLst>
              <a:ext uri="{FF2B5EF4-FFF2-40B4-BE49-F238E27FC236}">
                <a16:creationId xmlns:a16="http://schemas.microsoft.com/office/drawing/2014/main" id="{2647A290-467C-46E7-B0E4-8A5A61325C1D}"/>
              </a:ext>
            </a:extLst>
          </p:cNvPr>
          <p:cNvSpPr>
            <a:spLocks noGrp="1"/>
          </p:cNvSpPr>
          <p:nvPr/>
        </p:nvSpPr>
        <p:spPr>
          <a:xfrm>
            <a:off x="5067300" y="3629025"/>
            <a:ext cx="57150" cy="57150"/>
          </a:xfrm>
          <a:prstGeom prst="roundRect">
            <a:avLst>
              <a:gd name="adj" fmla="val 50000"/>
            </a:avLst>
          </a:prstGeom>
          <a:solidFill>
            <a:srgbClr val="007A78"/>
          </a:solidFill>
          <a:ln w="0">
            <a:noFill/>
            <a:prstDash val="solid"/>
          </a:ln>
        </p:spPr>
        <p:txBody>
          <a:bodyPr/>
          <a:lstStyle/>
          <a:p>
            <a:endParaRPr lang="en-IN"/>
          </a:p>
        </p:txBody>
      </p:sp>
      <p:sp>
        <p:nvSpPr>
          <p:cNvPr id="28" name="Rectangle 27">
            <a:extLst>
              <a:ext uri="{FF2B5EF4-FFF2-40B4-BE49-F238E27FC236}">
                <a16:creationId xmlns:a16="http://schemas.microsoft.com/office/drawing/2014/main" id="{992EABBF-2993-4EEF-9C5F-02A5B3296A7D}"/>
              </a:ext>
            </a:extLst>
          </p:cNvPr>
          <p:cNvSpPr>
            <a:spLocks noGrp="1"/>
          </p:cNvSpPr>
          <p:nvPr/>
        </p:nvSpPr>
        <p:spPr>
          <a:xfrm>
            <a:off x="5238750" y="3552825"/>
            <a:ext cx="2066925" cy="419100"/>
          </a:xfrm>
          <a:prstGeom prst="rect">
            <a:avLst/>
          </a:prstGeom>
          <a:noFill/>
          <a:ln w="0">
            <a:noFill/>
            <a:prstDash val="solid"/>
          </a:ln>
        </p:spPr>
        <p:txBody>
          <a:bodyPr/>
          <a:lstStyle/>
          <a:p>
            <a:pPr algn="l">
              <a:defRPr sz="1275" b="0">
                <a:solidFill>
                  <a:srgbClr val="35445B"/>
                </a:solidFill>
              </a:defRPr>
            </a:pPr>
            <a:r>
              <a:rPr sz="1275" b="0">
                <a:solidFill>
                  <a:srgbClr val="35445B"/>
                </a:solidFill>
              </a:rPr>
              <a:t>Page-level evidence</a:t>
            </a:r>
          </a:p>
        </p:txBody>
      </p:sp>
      <p:sp>
        <p:nvSpPr>
          <p:cNvPr id="29" name="Rectangle: Rounded Corners 28">
            <a:extLst>
              <a:ext uri="{FF2B5EF4-FFF2-40B4-BE49-F238E27FC236}">
                <a16:creationId xmlns:a16="http://schemas.microsoft.com/office/drawing/2014/main" id="{E336C3AA-B066-4175-9027-6F0F22E642B9}"/>
              </a:ext>
            </a:extLst>
          </p:cNvPr>
          <p:cNvSpPr>
            <a:spLocks noGrp="1"/>
          </p:cNvSpPr>
          <p:nvPr/>
        </p:nvSpPr>
        <p:spPr>
          <a:xfrm>
            <a:off x="5067300" y="4067175"/>
            <a:ext cx="57150" cy="57150"/>
          </a:xfrm>
          <a:prstGeom prst="roundRect">
            <a:avLst>
              <a:gd name="adj" fmla="val 50000"/>
            </a:avLst>
          </a:prstGeom>
          <a:solidFill>
            <a:srgbClr val="007A78"/>
          </a:solidFill>
          <a:ln w="0">
            <a:noFill/>
            <a:prstDash val="solid"/>
          </a:ln>
        </p:spPr>
        <p:txBody>
          <a:bodyPr/>
          <a:lstStyle/>
          <a:p>
            <a:endParaRPr lang="en-IN"/>
          </a:p>
        </p:txBody>
      </p:sp>
      <p:sp>
        <p:nvSpPr>
          <p:cNvPr id="30" name="Rectangle 29">
            <a:extLst>
              <a:ext uri="{FF2B5EF4-FFF2-40B4-BE49-F238E27FC236}">
                <a16:creationId xmlns:a16="http://schemas.microsoft.com/office/drawing/2014/main" id="{A783EE57-DE71-4042-9237-DF2E385627D1}"/>
              </a:ext>
            </a:extLst>
          </p:cNvPr>
          <p:cNvSpPr>
            <a:spLocks noGrp="1"/>
          </p:cNvSpPr>
          <p:nvPr/>
        </p:nvSpPr>
        <p:spPr>
          <a:xfrm>
            <a:off x="5238750" y="3990975"/>
            <a:ext cx="2066925" cy="419100"/>
          </a:xfrm>
          <a:prstGeom prst="rect">
            <a:avLst/>
          </a:prstGeom>
          <a:noFill/>
          <a:ln w="0">
            <a:noFill/>
            <a:prstDash val="solid"/>
          </a:ln>
        </p:spPr>
        <p:txBody>
          <a:bodyPr/>
          <a:lstStyle/>
          <a:p>
            <a:pPr algn="l">
              <a:defRPr sz="1275" b="0">
                <a:solidFill>
                  <a:srgbClr val="35445B"/>
                </a:solidFill>
              </a:defRPr>
            </a:pPr>
            <a:r>
              <a:rPr sz="1275" b="0">
                <a:solidFill>
                  <a:srgbClr val="35445B"/>
                </a:solidFill>
              </a:rPr>
              <a:t>Governance and audit</a:t>
            </a:r>
          </a:p>
        </p:txBody>
      </p:sp>
      <p:sp>
        <p:nvSpPr>
          <p:cNvPr id="31" name="Rectangle 30">
            <a:extLst>
              <a:ext uri="{FF2B5EF4-FFF2-40B4-BE49-F238E27FC236}">
                <a16:creationId xmlns:a16="http://schemas.microsoft.com/office/drawing/2014/main" id="{98013829-D599-48CD-8219-9C978F9DAD7D}"/>
              </a:ext>
            </a:extLst>
          </p:cNvPr>
          <p:cNvSpPr>
            <a:spLocks noGrp="1"/>
          </p:cNvSpPr>
          <p:nvPr/>
        </p:nvSpPr>
        <p:spPr>
          <a:xfrm>
            <a:off x="9048750" y="2000250"/>
            <a:ext cx="2286000" cy="228600"/>
          </a:xfrm>
          <a:prstGeom prst="rect">
            <a:avLst/>
          </a:prstGeom>
          <a:noFill/>
          <a:ln w="0">
            <a:noFill/>
            <a:prstDash val="solid"/>
          </a:ln>
        </p:spPr>
        <p:txBody>
          <a:bodyPr/>
          <a:lstStyle/>
          <a:p>
            <a:pPr algn="ctr">
              <a:defRPr sz="1200" b="1">
                <a:solidFill>
                  <a:srgbClr val="6B4E8C"/>
                </a:solidFill>
              </a:defRPr>
            </a:pPr>
            <a:r>
              <a:rPr sz="1200" b="1">
                <a:solidFill>
                  <a:srgbClr val="6B4E8C"/>
                </a:solidFill>
              </a:rPr>
              <a:t>REUSE EVERYWHERE</a:t>
            </a:r>
          </a:p>
        </p:txBody>
      </p:sp>
      <p:sp>
        <p:nvSpPr>
          <p:cNvPr id="32" name="Rectangle: Rounded Corners 31">
            <a:extLst>
              <a:ext uri="{FF2B5EF4-FFF2-40B4-BE49-F238E27FC236}">
                <a16:creationId xmlns:a16="http://schemas.microsoft.com/office/drawing/2014/main" id="{C56C5857-7018-4EEF-BF54-7B9C78512611}"/>
              </a:ext>
            </a:extLst>
          </p:cNvPr>
          <p:cNvSpPr>
            <a:spLocks noGrp="1"/>
          </p:cNvSpPr>
          <p:nvPr/>
        </p:nvSpPr>
        <p:spPr>
          <a:xfrm>
            <a:off x="9182100" y="2552700"/>
            <a:ext cx="57150" cy="57150"/>
          </a:xfrm>
          <a:prstGeom prst="roundRect">
            <a:avLst>
              <a:gd name="adj" fmla="val 50000"/>
            </a:avLst>
          </a:prstGeom>
          <a:solidFill>
            <a:srgbClr val="6B4E8C"/>
          </a:solidFill>
          <a:ln w="0">
            <a:noFill/>
            <a:prstDash val="solid"/>
          </a:ln>
        </p:spPr>
        <p:txBody>
          <a:bodyPr/>
          <a:lstStyle/>
          <a:p>
            <a:endParaRPr lang="en-IN"/>
          </a:p>
        </p:txBody>
      </p:sp>
      <p:sp>
        <p:nvSpPr>
          <p:cNvPr id="33" name="Rectangle 32">
            <a:extLst>
              <a:ext uri="{FF2B5EF4-FFF2-40B4-BE49-F238E27FC236}">
                <a16:creationId xmlns:a16="http://schemas.microsoft.com/office/drawing/2014/main" id="{86C3249F-5EDA-4B91-81AA-B367EEC5EAFF}"/>
              </a:ext>
            </a:extLst>
          </p:cNvPr>
          <p:cNvSpPr>
            <a:spLocks noGrp="1"/>
          </p:cNvSpPr>
          <p:nvPr/>
        </p:nvSpPr>
        <p:spPr>
          <a:xfrm>
            <a:off x="9353550" y="2476500"/>
            <a:ext cx="1905000" cy="381000"/>
          </a:xfrm>
          <a:prstGeom prst="rect">
            <a:avLst/>
          </a:prstGeom>
          <a:noFill/>
          <a:ln w="0">
            <a:noFill/>
            <a:prstDash val="solid"/>
          </a:ln>
        </p:spPr>
        <p:txBody>
          <a:bodyPr/>
          <a:lstStyle/>
          <a:p>
            <a:pPr algn="l">
              <a:defRPr sz="1275" b="0">
                <a:solidFill>
                  <a:srgbClr val="35445B"/>
                </a:solidFill>
              </a:defRPr>
            </a:pPr>
            <a:r>
              <a:rPr sz="1275" b="0">
                <a:solidFill>
                  <a:srgbClr val="35445B"/>
                </a:solidFill>
              </a:rPr>
              <a:t>Cited answers</a:t>
            </a:r>
          </a:p>
        </p:txBody>
      </p:sp>
      <p:sp>
        <p:nvSpPr>
          <p:cNvPr id="34" name="Rectangle: Rounded Corners 33">
            <a:extLst>
              <a:ext uri="{FF2B5EF4-FFF2-40B4-BE49-F238E27FC236}">
                <a16:creationId xmlns:a16="http://schemas.microsoft.com/office/drawing/2014/main" id="{F6234501-C5B5-470B-9738-912A29A345BB}"/>
              </a:ext>
            </a:extLst>
          </p:cNvPr>
          <p:cNvSpPr>
            <a:spLocks noGrp="1"/>
          </p:cNvSpPr>
          <p:nvPr/>
        </p:nvSpPr>
        <p:spPr>
          <a:xfrm>
            <a:off x="9182100" y="2952750"/>
            <a:ext cx="57150" cy="57150"/>
          </a:xfrm>
          <a:prstGeom prst="roundRect">
            <a:avLst>
              <a:gd name="adj" fmla="val 50000"/>
            </a:avLst>
          </a:prstGeom>
          <a:solidFill>
            <a:srgbClr val="6B4E8C"/>
          </a:solidFill>
          <a:ln w="0">
            <a:noFill/>
            <a:prstDash val="solid"/>
          </a:ln>
        </p:spPr>
        <p:txBody>
          <a:bodyPr/>
          <a:lstStyle/>
          <a:p>
            <a:endParaRPr lang="en-IN"/>
          </a:p>
        </p:txBody>
      </p:sp>
      <p:sp>
        <p:nvSpPr>
          <p:cNvPr id="35" name="Rectangle 34">
            <a:extLst>
              <a:ext uri="{FF2B5EF4-FFF2-40B4-BE49-F238E27FC236}">
                <a16:creationId xmlns:a16="http://schemas.microsoft.com/office/drawing/2014/main" id="{4C329F45-2EF3-42EC-B070-4FAD46AB8437}"/>
              </a:ext>
            </a:extLst>
          </p:cNvPr>
          <p:cNvSpPr>
            <a:spLocks noGrp="1"/>
          </p:cNvSpPr>
          <p:nvPr/>
        </p:nvSpPr>
        <p:spPr>
          <a:xfrm>
            <a:off x="9353550" y="2876550"/>
            <a:ext cx="1905000" cy="381000"/>
          </a:xfrm>
          <a:prstGeom prst="rect">
            <a:avLst/>
          </a:prstGeom>
          <a:noFill/>
          <a:ln w="0">
            <a:noFill/>
            <a:prstDash val="solid"/>
          </a:ln>
        </p:spPr>
        <p:txBody>
          <a:bodyPr/>
          <a:lstStyle/>
          <a:p>
            <a:pPr algn="l">
              <a:defRPr sz="1275" b="0">
                <a:solidFill>
                  <a:srgbClr val="35445B"/>
                </a:solidFill>
              </a:defRPr>
            </a:pPr>
            <a:r>
              <a:rPr sz="1275" b="0">
                <a:solidFill>
                  <a:srgbClr val="35445B"/>
                </a:solidFill>
              </a:rPr>
              <a:t>Comparisons</a:t>
            </a:r>
          </a:p>
        </p:txBody>
      </p:sp>
      <p:sp>
        <p:nvSpPr>
          <p:cNvPr id="36" name="Rectangle: Rounded Corners 35">
            <a:extLst>
              <a:ext uri="{FF2B5EF4-FFF2-40B4-BE49-F238E27FC236}">
                <a16:creationId xmlns:a16="http://schemas.microsoft.com/office/drawing/2014/main" id="{1D52BCED-C253-44A6-9934-CC978BB4CC7D}"/>
              </a:ext>
            </a:extLst>
          </p:cNvPr>
          <p:cNvSpPr>
            <a:spLocks noGrp="1"/>
          </p:cNvSpPr>
          <p:nvPr/>
        </p:nvSpPr>
        <p:spPr>
          <a:xfrm>
            <a:off x="9182100" y="3352800"/>
            <a:ext cx="57150" cy="57150"/>
          </a:xfrm>
          <a:prstGeom prst="roundRect">
            <a:avLst>
              <a:gd name="adj" fmla="val 50000"/>
            </a:avLst>
          </a:prstGeom>
          <a:solidFill>
            <a:srgbClr val="6B4E8C"/>
          </a:solidFill>
          <a:ln w="0">
            <a:noFill/>
            <a:prstDash val="solid"/>
          </a:ln>
        </p:spPr>
        <p:txBody>
          <a:bodyPr/>
          <a:lstStyle/>
          <a:p>
            <a:endParaRPr lang="en-IN"/>
          </a:p>
        </p:txBody>
      </p:sp>
      <p:sp>
        <p:nvSpPr>
          <p:cNvPr id="37" name="Rectangle 36">
            <a:extLst>
              <a:ext uri="{FF2B5EF4-FFF2-40B4-BE49-F238E27FC236}">
                <a16:creationId xmlns:a16="http://schemas.microsoft.com/office/drawing/2014/main" id="{C15FF74F-878B-43A8-988B-FFC88C804EA6}"/>
              </a:ext>
            </a:extLst>
          </p:cNvPr>
          <p:cNvSpPr>
            <a:spLocks noGrp="1"/>
          </p:cNvSpPr>
          <p:nvPr/>
        </p:nvSpPr>
        <p:spPr>
          <a:xfrm>
            <a:off x="9353550" y="3276600"/>
            <a:ext cx="1905000" cy="381000"/>
          </a:xfrm>
          <a:prstGeom prst="rect">
            <a:avLst/>
          </a:prstGeom>
          <a:noFill/>
          <a:ln w="0">
            <a:noFill/>
            <a:prstDash val="solid"/>
          </a:ln>
        </p:spPr>
        <p:txBody>
          <a:bodyPr/>
          <a:lstStyle/>
          <a:p>
            <a:pPr algn="l">
              <a:defRPr sz="1275" b="0">
                <a:solidFill>
                  <a:srgbClr val="35445B"/>
                </a:solidFill>
              </a:defRPr>
            </a:pPr>
            <a:r>
              <a:rPr sz="1275" b="0">
                <a:solidFill>
                  <a:srgbClr val="35445B"/>
                </a:solidFill>
              </a:rPr>
              <a:t>Renewal intelligence</a:t>
            </a:r>
          </a:p>
        </p:txBody>
      </p:sp>
      <p:sp>
        <p:nvSpPr>
          <p:cNvPr id="38" name="Rectangle: Rounded Corners 37">
            <a:extLst>
              <a:ext uri="{FF2B5EF4-FFF2-40B4-BE49-F238E27FC236}">
                <a16:creationId xmlns:a16="http://schemas.microsoft.com/office/drawing/2014/main" id="{DBE3419C-85A2-48C4-BA3C-F9A63F762B80}"/>
              </a:ext>
            </a:extLst>
          </p:cNvPr>
          <p:cNvSpPr>
            <a:spLocks noGrp="1"/>
          </p:cNvSpPr>
          <p:nvPr/>
        </p:nvSpPr>
        <p:spPr>
          <a:xfrm>
            <a:off x="9182100" y="3752850"/>
            <a:ext cx="57150" cy="57150"/>
          </a:xfrm>
          <a:prstGeom prst="roundRect">
            <a:avLst>
              <a:gd name="adj" fmla="val 50000"/>
            </a:avLst>
          </a:prstGeom>
          <a:solidFill>
            <a:srgbClr val="6B4E8C"/>
          </a:solidFill>
          <a:ln w="0">
            <a:noFill/>
            <a:prstDash val="solid"/>
          </a:ln>
        </p:spPr>
        <p:txBody>
          <a:bodyPr/>
          <a:lstStyle/>
          <a:p>
            <a:endParaRPr lang="en-IN"/>
          </a:p>
        </p:txBody>
      </p:sp>
      <p:sp>
        <p:nvSpPr>
          <p:cNvPr id="39" name="Rectangle 38">
            <a:extLst>
              <a:ext uri="{FF2B5EF4-FFF2-40B4-BE49-F238E27FC236}">
                <a16:creationId xmlns:a16="http://schemas.microsoft.com/office/drawing/2014/main" id="{30CE614E-9911-4E27-A4E7-D03CD81B39A6}"/>
              </a:ext>
            </a:extLst>
          </p:cNvPr>
          <p:cNvSpPr>
            <a:spLocks noGrp="1"/>
          </p:cNvSpPr>
          <p:nvPr/>
        </p:nvSpPr>
        <p:spPr>
          <a:xfrm>
            <a:off x="9353550" y="3676650"/>
            <a:ext cx="1905000" cy="381000"/>
          </a:xfrm>
          <a:prstGeom prst="rect">
            <a:avLst/>
          </a:prstGeom>
          <a:noFill/>
          <a:ln w="0">
            <a:noFill/>
            <a:prstDash val="solid"/>
          </a:ln>
        </p:spPr>
        <p:txBody>
          <a:bodyPr/>
          <a:lstStyle/>
          <a:p>
            <a:pPr algn="l">
              <a:defRPr sz="1275" b="0">
                <a:solidFill>
                  <a:srgbClr val="35445B"/>
                </a:solidFill>
              </a:defRPr>
            </a:pPr>
            <a:r>
              <a:rPr sz="1275" b="0">
                <a:solidFill>
                  <a:srgbClr val="35445B"/>
                </a:solidFill>
              </a:rPr>
              <a:t>Portfolio analytics</a:t>
            </a:r>
          </a:p>
        </p:txBody>
      </p:sp>
      <p:sp>
        <p:nvSpPr>
          <p:cNvPr id="40" name="Rectangle: Rounded Corners 39">
            <a:extLst>
              <a:ext uri="{FF2B5EF4-FFF2-40B4-BE49-F238E27FC236}">
                <a16:creationId xmlns:a16="http://schemas.microsoft.com/office/drawing/2014/main" id="{9096AD8C-8550-4211-A27D-D70D634DCBC8}"/>
              </a:ext>
            </a:extLst>
          </p:cNvPr>
          <p:cNvSpPr>
            <a:spLocks noGrp="1"/>
          </p:cNvSpPr>
          <p:nvPr/>
        </p:nvSpPr>
        <p:spPr>
          <a:xfrm>
            <a:off x="1714500" y="5334000"/>
            <a:ext cx="8763000" cy="609600"/>
          </a:xfrm>
          <a:prstGeom prst="roundRect">
            <a:avLst>
              <a:gd name="adj" fmla="val 6250"/>
            </a:avLst>
          </a:prstGeom>
          <a:solidFill>
            <a:srgbClr val="E5F4F2"/>
          </a:solidFill>
          <a:ln w="9525">
            <a:solidFill>
              <a:srgbClr val="007A78"/>
            </a:solidFill>
            <a:prstDash val="solid"/>
          </a:ln>
        </p:spPr>
        <p:txBody>
          <a:bodyPr/>
          <a:lstStyle/>
          <a:p>
            <a:endParaRPr lang="en-IN"/>
          </a:p>
        </p:txBody>
      </p:sp>
      <p:sp>
        <p:nvSpPr>
          <p:cNvPr id="41" name="Rectangle 40">
            <a:extLst>
              <a:ext uri="{FF2B5EF4-FFF2-40B4-BE49-F238E27FC236}">
                <a16:creationId xmlns:a16="http://schemas.microsoft.com/office/drawing/2014/main" id="{4A3A2419-E6E5-46B5-B6B3-8FD580A5AE6C}"/>
              </a:ext>
            </a:extLst>
          </p:cNvPr>
          <p:cNvSpPr>
            <a:spLocks noGrp="1"/>
          </p:cNvSpPr>
          <p:nvPr/>
        </p:nvSpPr>
        <p:spPr>
          <a:xfrm>
            <a:off x="1714500" y="5334000"/>
            <a:ext cx="57150" cy="609600"/>
          </a:xfrm>
          <a:prstGeom prst="rect">
            <a:avLst/>
          </a:prstGeom>
          <a:solidFill>
            <a:srgbClr val="007A78"/>
          </a:solidFill>
          <a:ln w="0">
            <a:noFill/>
            <a:prstDash val="solid"/>
          </a:ln>
        </p:spPr>
        <p:txBody>
          <a:bodyPr/>
          <a:lstStyle/>
          <a:p>
            <a:endParaRPr lang="en-IN"/>
          </a:p>
        </p:txBody>
      </p:sp>
      <p:sp>
        <p:nvSpPr>
          <p:cNvPr id="42" name="Rectangle 41">
            <a:extLst>
              <a:ext uri="{FF2B5EF4-FFF2-40B4-BE49-F238E27FC236}">
                <a16:creationId xmlns:a16="http://schemas.microsoft.com/office/drawing/2014/main" id="{788EBDE1-6F55-4A23-8AB6-91D07A59A965}"/>
              </a:ext>
            </a:extLst>
          </p:cNvPr>
          <p:cNvSpPr>
            <a:spLocks noGrp="1"/>
          </p:cNvSpPr>
          <p:nvPr/>
        </p:nvSpPr>
        <p:spPr>
          <a:xfrm>
            <a:off x="1924050" y="5457825"/>
            <a:ext cx="8401050" cy="438150"/>
          </a:xfrm>
          <a:prstGeom prst="rect">
            <a:avLst/>
          </a:prstGeom>
          <a:noFill/>
          <a:ln w="0">
            <a:noFill/>
            <a:prstDash val="solid"/>
          </a:ln>
        </p:spPr>
        <p:txBody>
          <a:bodyPr/>
          <a:lstStyle/>
          <a:p>
            <a:pPr algn="l">
              <a:defRPr sz="1500" b="1">
                <a:solidFill>
                  <a:srgbClr val="132033"/>
                </a:solidFill>
              </a:defRPr>
            </a:pPr>
            <a:r>
              <a:rPr sz="1500" b="1">
                <a:solidFill>
                  <a:srgbClr val="132033"/>
                </a:solidFill>
              </a:rPr>
              <a:t>Design principle: deterministic where possible; AI where necessary; evidence at every step.</a:t>
            </a:r>
          </a:p>
        </p:txBody>
      </p:sp>
    </p:spTree>
    <p:extLst>
      <p:ext uri="{BB962C8B-B14F-4D97-AF65-F5344CB8AC3E}">
        <p14:creationId xmlns:p14="http://schemas.microsoft.com/office/powerpoint/2010/main" val="4832309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section">
            <a:extLst>
              <a:ext uri="{FF2B5EF4-FFF2-40B4-BE49-F238E27FC236}">
                <a16:creationId xmlns:a16="http://schemas.microsoft.com/office/drawing/2014/main" id="{6DFA147C-82CC-456A-9420-8958FE9745D7}"/>
              </a:ext>
            </a:extLst>
          </p:cNvPr>
          <p:cNvSpPr>
            <a:spLocks noGrp="1"/>
          </p:cNvSpPr>
          <p:nvPr/>
        </p:nvSpPr>
        <p:spPr>
          <a:xfrm>
            <a:off x="457200" y="209550"/>
            <a:ext cx="6858000" cy="190500"/>
          </a:xfrm>
          <a:prstGeom prst="rect">
            <a:avLst/>
          </a:prstGeom>
          <a:noFill/>
          <a:ln w="0">
            <a:noFill/>
            <a:prstDash val="solid"/>
          </a:ln>
        </p:spPr>
        <p:txBody>
          <a:bodyPr/>
          <a:lstStyle/>
          <a:p>
            <a:pPr algn="l">
              <a:defRPr sz="825" b="1">
                <a:solidFill>
                  <a:srgbClr val="1769AA"/>
                </a:solidFill>
              </a:defRPr>
            </a:pPr>
            <a:r>
              <a:rPr sz="825" b="1">
                <a:solidFill>
                  <a:srgbClr val="1769AA"/>
                </a:solidFill>
              </a:rPr>
              <a:t>DATA AND AI PLATFORM</a:t>
            </a:r>
          </a:p>
        </p:txBody>
      </p:sp>
      <p:sp>
        <p:nvSpPr>
          <p:cNvPr id="2" name="slide-title">
            <a:extLst>
              <a:ext uri="{FF2B5EF4-FFF2-40B4-BE49-F238E27FC236}">
                <a16:creationId xmlns:a16="http://schemas.microsoft.com/office/drawing/2014/main" id="{91BBDE7B-5813-494E-B673-DFAC34F1880D}"/>
              </a:ext>
            </a:extLst>
          </p:cNvPr>
          <p:cNvSpPr>
            <a:spLocks noGrp="1"/>
          </p:cNvSpPr>
          <p:nvPr/>
        </p:nvSpPr>
        <p:spPr>
          <a:xfrm>
            <a:off x="457200" y="457200"/>
            <a:ext cx="11220450" cy="457200"/>
          </a:xfrm>
          <a:prstGeom prst="rect">
            <a:avLst/>
          </a:prstGeom>
          <a:noFill/>
          <a:ln w="0">
            <a:noFill/>
            <a:prstDash val="solid"/>
          </a:ln>
        </p:spPr>
        <p:txBody>
          <a:bodyPr/>
          <a:lstStyle/>
          <a:p>
            <a:pPr algn="l">
              <a:defRPr sz="2625" b="1">
                <a:solidFill>
                  <a:srgbClr val="132033"/>
                </a:solidFill>
              </a:defRPr>
            </a:pPr>
            <a:r>
              <a:rPr sz="2625" b="1">
                <a:solidFill>
                  <a:srgbClr val="132033"/>
                </a:solidFill>
              </a:rPr>
              <a:t>The pipeline scales without rebuilding the corpus</a:t>
            </a:r>
          </a:p>
        </p:txBody>
      </p:sp>
      <p:sp>
        <p:nvSpPr>
          <p:cNvPr id="3" name="Rectangle 2">
            <a:extLst>
              <a:ext uri="{FF2B5EF4-FFF2-40B4-BE49-F238E27FC236}">
                <a16:creationId xmlns:a16="http://schemas.microsoft.com/office/drawing/2014/main" id="{A3F47B8F-4E7B-4EE6-8473-3A6D03FCAE93}"/>
              </a:ext>
            </a:extLst>
          </p:cNvPr>
          <p:cNvSpPr>
            <a:spLocks noGrp="1"/>
          </p:cNvSpPr>
          <p:nvPr/>
        </p:nvSpPr>
        <p:spPr>
          <a:xfrm>
            <a:off x="457200" y="990600"/>
            <a:ext cx="11277600" cy="9525"/>
          </a:xfrm>
          <a:prstGeom prst="rect">
            <a:avLst/>
          </a:prstGeom>
          <a:solidFill>
            <a:srgbClr val="D8DEE8"/>
          </a:solidFill>
          <a:ln w="0">
            <a:noFill/>
            <a:prstDash val="solid"/>
          </a:ln>
        </p:spPr>
        <p:txBody>
          <a:bodyPr/>
          <a:lstStyle/>
          <a:p>
            <a:endParaRPr lang="en-IN"/>
          </a:p>
        </p:txBody>
      </p:sp>
      <p:sp>
        <p:nvSpPr>
          <p:cNvPr id="4" name="visible-source">
            <a:extLst>
              <a:ext uri="{FF2B5EF4-FFF2-40B4-BE49-F238E27FC236}">
                <a16:creationId xmlns:a16="http://schemas.microsoft.com/office/drawing/2014/main" id="{4BABD149-884E-4958-BE04-89CBA6CBE66E}"/>
              </a:ext>
            </a:extLst>
          </p:cNvPr>
          <p:cNvSpPr>
            <a:spLocks noGrp="1"/>
          </p:cNvSpPr>
          <p:nvPr/>
        </p:nvSpPr>
        <p:spPr>
          <a:xfrm>
            <a:off x="457200" y="6524625"/>
            <a:ext cx="9334500" cy="142875"/>
          </a:xfrm>
          <a:prstGeom prst="rect">
            <a:avLst/>
          </a:prstGeom>
          <a:noFill/>
          <a:ln w="0">
            <a:noFill/>
            <a:prstDash val="solid"/>
          </a:ln>
        </p:spPr>
        <p:txBody>
          <a:bodyPr/>
          <a:lstStyle/>
          <a:p>
            <a:pPr algn="l">
              <a:defRPr sz="675" b="0">
                <a:solidFill>
                  <a:srgbClr val="667389"/>
                </a:solidFill>
              </a:defRPr>
            </a:pPr>
            <a:r>
              <a:rPr sz="675" b="0">
                <a:solidFill>
                  <a:srgbClr val="667389"/>
                </a:solidFill>
              </a:rPr>
              <a:t>Source: CONTRACT_INTELLIGENCE_ARCHITECTURE.png; pipeline documentation</a:t>
            </a:r>
          </a:p>
        </p:txBody>
      </p:sp>
      <p:sp>
        <p:nvSpPr>
          <p:cNvPr id="5" name="page">
            <a:extLst>
              <a:ext uri="{FF2B5EF4-FFF2-40B4-BE49-F238E27FC236}">
                <a16:creationId xmlns:a16="http://schemas.microsoft.com/office/drawing/2014/main" id="{4AF04938-9201-4ED3-8485-7CC9E5F39954}"/>
              </a:ext>
            </a:extLst>
          </p:cNvPr>
          <p:cNvSpPr>
            <a:spLocks noGrp="1"/>
          </p:cNvSpPr>
          <p:nvPr/>
        </p:nvSpPr>
        <p:spPr>
          <a:xfrm>
            <a:off x="11220450" y="6496050"/>
            <a:ext cx="514350" cy="171450"/>
          </a:xfrm>
          <a:prstGeom prst="rect">
            <a:avLst/>
          </a:prstGeom>
          <a:noFill/>
          <a:ln w="0">
            <a:noFill/>
            <a:prstDash val="solid"/>
          </a:ln>
        </p:spPr>
        <p:txBody>
          <a:bodyPr/>
          <a:lstStyle/>
          <a:p>
            <a:pPr algn="r">
              <a:defRPr sz="750" b="1">
                <a:solidFill>
                  <a:srgbClr val="667389"/>
                </a:solidFill>
              </a:defRPr>
            </a:pPr>
            <a:r>
              <a:rPr sz="750" b="1">
                <a:solidFill>
                  <a:srgbClr val="667389"/>
                </a:solidFill>
              </a:rPr>
              <a:t>05</a:t>
            </a:r>
          </a:p>
        </p:txBody>
      </p:sp>
      <p:pic>
        <p:nvPicPr>
          <p:cNvPr id="31" name="Picture 30"/>
          <p:cNvPicPr>
            <a:picLocks noChangeAspect="1"/>
          </p:cNvPicPr>
          <p:nvPr/>
        </p:nvPicPr>
        <p:blipFill>
          <a:blip r:embed="rId3"/>
          <a:stretch/>
        </p:blipFill>
        <p:spPr>
          <a:xfrm>
            <a:off x="457200" y="1342033"/>
            <a:ext cx="11277600" cy="3773884"/>
          </a:xfrm>
          <a:prstGeom prst="rect">
            <a:avLst/>
          </a:prstGeom>
        </p:spPr>
      </p:pic>
      <p:sp>
        <p:nvSpPr>
          <p:cNvPr id="7" name="Rectangle 6">
            <a:extLst>
              <a:ext uri="{FF2B5EF4-FFF2-40B4-BE49-F238E27FC236}">
                <a16:creationId xmlns:a16="http://schemas.microsoft.com/office/drawing/2014/main" id="{C442FEC0-69B4-42F0-8627-8D3E60E7F05D}"/>
              </a:ext>
            </a:extLst>
          </p:cNvPr>
          <p:cNvSpPr>
            <a:spLocks noGrp="1"/>
          </p:cNvSpPr>
          <p:nvPr/>
        </p:nvSpPr>
        <p:spPr>
          <a:xfrm>
            <a:off x="552450" y="5219700"/>
            <a:ext cx="2095500" cy="304800"/>
          </a:xfrm>
          <a:prstGeom prst="rect">
            <a:avLst/>
          </a:prstGeom>
          <a:solidFill>
            <a:srgbClr val="0B2D50"/>
          </a:solidFill>
          <a:ln w="9525">
            <a:solidFill>
              <a:srgbClr val="D8DEE8"/>
            </a:solidFill>
            <a:prstDash val="solid"/>
          </a:ln>
        </p:spPr>
        <p:txBody>
          <a:bodyPr/>
          <a:lstStyle/>
          <a:p>
            <a:endParaRPr lang="en-IN"/>
          </a:p>
        </p:txBody>
      </p:sp>
      <p:sp>
        <p:nvSpPr>
          <p:cNvPr id="8" name="Rectangle 7">
            <a:extLst>
              <a:ext uri="{FF2B5EF4-FFF2-40B4-BE49-F238E27FC236}">
                <a16:creationId xmlns:a16="http://schemas.microsoft.com/office/drawing/2014/main" id="{8D89A84F-A6D0-4778-811B-673138BFF1C1}"/>
              </a:ext>
            </a:extLst>
          </p:cNvPr>
          <p:cNvSpPr>
            <a:spLocks noGrp="1"/>
          </p:cNvSpPr>
          <p:nvPr/>
        </p:nvSpPr>
        <p:spPr>
          <a:xfrm>
            <a:off x="647700" y="5286375"/>
            <a:ext cx="1905000" cy="209550"/>
          </a:xfrm>
          <a:prstGeom prst="rect">
            <a:avLst/>
          </a:prstGeom>
          <a:noFill/>
          <a:ln w="0">
            <a:noFill/>
            <a:prstDash val="solid"/>
          </a:ln>
        </p:spPr>
        <p:txBody>
          <a:bodyPr/>
          <a:lstStyle/>
          <a:p>
            <a:pPr algn="l">
              <a:defRPr sz="1275" b="1">
                <a:solidFill>
                  <a:srgbClr val="FFFFFF"/>
                </a:solidFill>
              </a:defRPr>
            </a:pPr>
            <a:r>
              <a:rPr sz="1275" b="1">
                <a:solidFill>
                  <a:srgbClr val="FFFFFF"/>
                </a:solidFill>
              </a:rPr>
              <a:t>Proof point</a:t>
            </a:r>
          </a:p>
        </p:txBody>
      </p:sp>
      <p:sp>
        <p:nvSpPr>
          <p:cNvPr id="9" name="Rectangle 8">
            <a:extLst>
              <a:ext uri="{FF2B5EF4-FFF2-40B4-BE49-F238E27FC236}">
                <a16:creationId xmlns:a16="http://schemas.microsoft.com/office/drawing/2014/main" id="{B090400B-DFDA-4371-9D71-5090BD7F15B5}"/>
              </a:ext>
            </a:extLst>
          </p:cNvPr>
          <p:cNvSpPr>
            <a:spLocks noGrp="1"/>
          </p:cNvSpPr>
          <p:nvPr/>
        </p:nvSpPr>
        <p:spPr>
          <a:xfrm>
            <a:off x="2647950" y="5219700"/>
            <a:ext cx="7334250" cy="304800"/>
          </a:xfrm>
          <a:prstGeom prst="rect">
            <a:avLst/>
          </a:prstGeom>
          <a:solidFill>
            <a:srgbClr val="0B2D50"/>
          </a:solidFill>
          <a:ln w="9525">
            <a:solidFill>
              <a:srgbClr val="D8DEE8"/>
            </a:solidFill>
            <a:prstDash val="solid"/>
          </a:ln>
        </p:spPr>
        <p:txBody>
          <a:bodyPr/>
          <a:lstStyle/>
          <a:p>
            <a:endParaRPr lang="en-IN"/>
          </a:p>
        </p:txBody>
      </p:sp>
      <p:sp>
        <p:nvSpPr>
          <p:cNvPr id="10" name="Rectangle 9">
            <a:extLst>
              <a:ext uri="{FF2B5EF4-FFF2-40B4-BE49-F238E27FC236}">
                <a16:creationId xmlns:a16="http://schemas.microsoft.com/office/drawing/2014/main" id="{AB709E13-C90C-44FE-ABD4-9623AEAF68D7}"/>
              </a:ext>
            </a:extLst>
          </p:cNvPr>
          <p:cNvSpPr>
            <a:spLocks noGrp="1"/>
          </p:cNvSpPr>
          <p:nvPr/>
        </p:nvSpPr>
        <p:spPr>
          <a:xfrm>
            <a:off x="2743200" y="5286375"/>
            <a:ext cx="7143750" cy="209550"/>
          </a:xfrm>
          <a:prstGeom prst="rect">
            <a:avLst/>
          </a:prstGeom>
          <a:noFill/>
          <a:ln w="0">
            <a:noFill/>
            <a:prstDash val="solid"/>
          </a:ln>
        </p:spPr>
        <p:txBody>
          <a:bodyPr/>
          <a:lstStyle/>
          <a:p>
            <a:pPr algn="l">
              <a:defRPr sz="1275" b="1">
                <a:solidFill>
                  <a:srgbClr val="FFFFFF"/>
                </a:solidFill>
              </a:defRPr>
            </a:pPr>
            <a:r>
              <a:rPr sz="1275" b="1">
                <a:solidFill>
                  <a:srgbClr val="FFFFFF"/>
                </a:solidFill>
              </a:rPr>
              <a:t>Implemented / designed state</a:t>
            </a:r>
          </a:p>
        </p:txBody>
      </p:sp>
      <p:sp>
        <p:nvSpPr>
          <p:cNvPr id="11" name="Rectangle 10">
            <a:extLst>
              <a:ext uri="{FF2B5EF4-FFF2-40B4-BE49-F238E27FC236}">
                <a16:creationId xmlns:a16="http://schemas.microsoft.com/office/drawing/2014/main" id="{27F9C1DA-F545-4951-AA3C-D5A063DFEDA5}"/>
              </a:ext>
            </a:extLst>
          </p:cNvPr>
          <p:cNvSpPr>
            <a:spLocks noGrp="1"/>
          </p:cNvSpPr>
          <p:nvPr/>
        </p:nvSpPr>
        <p:spPr>
          <a:xfrm>
            <a:off x="552450" y="5524500"/>
            <a:ext cx="2095500" cy="304800"/>
          </a:xfrm>
          <a:prstGeom prst="rect">
            <a:avLst/>
          </a:prstGeom>
          <a:solidFill>
            <a:srgbClr val="FFFFFF"/>
          </a:solidFill>
          <a:ln w="9525">
            <a:solidFill>
              <a:srgbClr val="D8DEE8"/>
            </a:solidFill>
            <a:prstDash val="solid"/>
          </a:ln>
        </p:spPr>
        <p:txBody>
          <a:bodyPr/>
          <a:lstStyle/>
          <a:p>
            <a:endParaRPr lang="en-IN"/>
          </a:p>
        </p:txBody>
      </p:sp>
      <p:sp>
        <p:nvSpPr>
          <p:cNvPr id="12" name="Rectangle 11">
            <a:extLst>
              <a:ext uri="{FF2B5EF4-FFF2-40B4-BE49-F238E27FC236}">
                <a16:creationId xmlns:a16="http://schemas.microsoft.com/office/drawing/2014/main" id="{E0631C2C-3597-405A-AD25-03F6986A1C3D}"/>
              </a:ext>
            </a:extLst>
          </p:cNvPr>
          <p:cNvSpPr>
            <a:spLocks noGrp="1"/>
          </p:cNvSpPr>
          <p:nvPr/>
        </p:nvSpPr>
        <p:spPr>
          <a:xfrm>
            <a:off x="647700" y="5591175"/>
            <a:ext cx="1905000" cy="209550"/>
          </a:xfrm>
          <a:prstGeom prst="rect">
            <a:avLst/>
          </a:prstGeom>
          <a:noFill/>
          <a:ln w="0">
            <a:noFill/>
            <a:prstDash val="solid"/>
          </a:ln>
        </p:spPr>
        <p:txBody>
          <a:bodyPr/>
          <a:lstStyle/>
          <a:p>
            <a:pPr algn="l">
              <a:defRPr sz="1200" b="1">
                <a:solidFill>
                  <a:srgbClr val="132033"/>
                </a:solidFill>
              </a:defRPr>
            </a:pPr>
            <a:r>
              <a:rPr sz="1200" b="1">
                <a:solidFill>
                  <a:srgbClr val="132033"/>
                </a:solidFill>
              </a:rPr>
              <a:t>Engineering depth</a:t>
            </a:r>
          </a:p>
        </p:txBody>
      </p:sp>
      <p:sp>
        <p:nvSpPr>
          <p:cNvPr id="13" name="Rectangle 12">
            <a:extLst>
              <a:ext uri="{FF2B5EF4-FFF2-40B4-BE49-F238E27FC236}">
                <a16:creationId xmlns:a16="http://schemas.microsoft.com/office/drawing/2014/main" id="{3A23D151-C3BC-44C8-80C0-B22A0E5BFDAE}"/>
              </a:ext>
            </a:extLst>
          </p:cNvPr>
          <p:cNvSpPr>
            <a:spLocks noGrp="1"/>
          </p:cNvSpPr>
          <p:nvPr/>
        </p:nvSpPr>
        <p:spPr>
          <a:xfrm>
            <a:off x="2647950" y="5524500"/>
            <a:ext cx="7334250" cy="304800"/>
          </a:xfrm>
          <a:prstGeom prst="rect">
            <a:avLst/>
          </a:prstGeom>
          <a:solidFill>
            <a:srgbClr val="FFFFFF"/>
          </a:solidFill>
          <a:ln w="9525">
            <a:solidFill>
              <a:srgbClr val="D8DEE8"/>
            </a:solidFill>
            <a:prstDash val="solid"/>
          </a:ln>
        </p:spPr>
        <p:txBody>
          <a:bodyPr/>
          <a:lstStyle/>
          <a:p>
            <a:endParaRPr lang="en-IN"/>
          </a:p>
        </p:txBody>
      </p:sp>
      <p:sp>
        <p:nvSpPr>
          <p:cNvPr id="14" name="Rectangle 13">
            <a:extLst>
              <a:ext uri="{FF2B5EF4-FFF2-40B4-BE49-F238E27FC236}">
                <a16:creationId xmlns:a16="http://schemas.microsoft.com/office/drawing/2014/main" id="{F83ECB5A-CCA3-484A-A878-6E87BECEE1BA}"/>
              </a:ext>
            </a:extLst>
          </p:cNvPr>
          <p:cNvSpPr>
            <a:spLocks noGrp="1"/>
          </p:cNvSpPr>
          <p:nvPr/>
        </p:nvSpPr>
        <p:spPr>
          <a:xfrm>
            <a:off x="2743200" y="5591175"/>
            <a:ext cx="7143750" cy="209550"/>
          </a:xfrm>
          <a:prstGeom prst="rect">
            <a:avLst/>
          </a:prstGeom>
          <a:noFill/>
          <a:ln w="0">
            <a:noFill/>
            <a:prstDash val="solid"/>
          </a:ln>
        </p:spPr>
        <p:txBody>
          <a:bodyPr/>
          <a:lstStyle/>
          <a:p>
            <a:pPr algn="l">
              <a:defRPr sz="1200" b="0">
                <a:solidFill>
                  <a:srgbClr val="35445B"/>
                </a:solidFill>
              </a:defRPr>
            </a:pPr>
            <a:r>
              <a:rPr sz="1200" b="0">
                <a:solidFill>
                  <a:srgbClr val="35445B"/>
                </a:solidFill>
              </a:rPr>
              <a:t>16 stages and 45 governed Delta tables</a:t>
            </a:r>
          </a:p>
        </p:txBody>
      </p:sp>
      <p:sp>
        <p:nvSpPr>
          <p:cNvPr id="15" name="Rectangle 14">
            <a:extLst>
              <a:ext uri="{FF2B5EF4-FFF2-40B4-BE49-F238E27FC236}">
                <a16:creationId xmlns:a16="http://schemas.microsoft.com/office/drawing/2014/main" id="{61A70563-E05A-4B33-AC33-BEA3F0B64816}"/>
              </a:ext>
            </a:extLst>
          </p:cNvPr>
          <p:cNvSpPr>
            <a:spLocks noGrp="1"/>
          </p:cNvSpPr>
          <p:nvPr/>
        </p:nvSpPr>
        <p:spPr>
          <a:xfrm>
            <a:off x="552450" y="5829300"/>
            <a:ext cx="2095500" cy="304800"/>
          </a:xfrm>
          <a:prstGeom prst="rect">
            <a:avLst/>
          </a:prstGeom>
          <a:solidFill>
            <a:srgbClr val="F4F6F9"/>
          </a:solidFill>
          <a:ln w="9525">
            <a:solidFill>
              <a:srgbClr val="D8DEE8"/>
            </a:solidFill>
            <a:prstDash val="solid"/>
          </a:ln>
        </p:spPr>
        <p:txBody>
          <a:bodyPr/>
          <a:lstStyle/>
          <a:p>
            <a:endParaRPr lang="en-IN"/>
          </a:p>
        </p:txBody>
      </p:sp>
      <p:sp>
        <p:nvSpPr>
          <p:cNvPr id="16" name="Rectangle 15">
            <a:extLst>
              <a:ext uri="{FF2B5EF4-FFF2-40B4-BE49-F238E27FC236}">
                <a16:creationId xmlns:a16="http://schemas.microsoft.com/office/drawing/2014/main" id="{5BC768DC-D5E3-4206-86BB-E66CEA97DB72}"/>
              </a:ext>
            </a:extLst>
          </p:cNvPr>
          <p:cNvSpPr>
            <a:spLocks noGrp="1"/>
          </p:cNvSpPr>
          <p:nvPr/>
        </p:nvSpPr>
        <p:spPr>
          <a:xfrm>
            <a:off x="647700" y="5895975"/>
            <a:ext cx="1905000" cy="209550"/>
          </a:xfrm>
          <a:prstGeom prst="rect">
            <a:avLst/>
          </a:prstGeom>
          <a:noFill/>
          <a:ln w="0">
            <a:noFill/>
            <a:prstDash val="solid"/>
          </a:ln>
        </p:spPr>
        <p:txBody>
          <a:bodyPr/>
          <a:lstStyle/>
          <a:p>
            <a:pPr algn="l">
              <a:defRPr sz="1200" b="1">
                <a:solidFill>
                  <a:srgbClr val="132033"/>
                </a:solidFill>
              </a:defRPr>
            </a:pPr>
            <a:r>
              <a:rPr sz="1200" b="1">
                <a:solidFill>
                  <a:srgbClr val="132033"/>
                </a:solidFill>
              </a:rPr>
              <a:t>Current scale</a:t>
            </a:r>
          </a:p>
        </p:txBody>
      </p:sp>
      <p:sp>
        <p:nvSpPr>
          <p:cNvPr id="17" name="Rectangle 16">
            <a:extLst>
              <a:ext uri="{FF2B5EF4-FFF2-40B4-BE49-F238E27FC236}">
                <a16:creationId xmlns:a16="http://schemas.microsoft.com/office/drawing/2014/main" id="{47704C02-7564-43B0-BB9E-3D6EB5FD34B0}"/>
              </a:ext>
            </a:extLst>
          </p:cNvPr>
          <p:cNvSpPr>
            <a:spLocks noGrp="1"/>
          </p:cNvSpPr>
          <p:nvPr/>
        </p:nvSpPr>
        <p:spPr>
          <a:xfrm>
            <a:off x="2647950" y="5829300"/>
            <a:ext cx="7334250" cy="304800"/>
          </a:xfrm>
          <a:prstGeom prst="rect">
            <a:avLst/>
          </a:prstGeom>
          <a:solidFill>
            <a:srgbClr val="F4F6F9"/>
          </a:solidFill>
          <a:ln w="9525">
            <a:solidFill>
              <a:srgbClr val="D8DEE8"/>
            </a:solidFill>
            <a:prstDash val="solid"/>
          </a:ln>
        </p:spPr>
        <p:txBody>
          <a:bodyPr/>
          <a:lstStyle/>
          <a:p>
            <a:endParaRPr lang="en-IN"/>
          </a:p>
        </p:txBody>
      </p:sp>
      <p:sp>
        <p:nvSpPr>
          <p:cNvPr id="18" name="Rectangle 17">
            <a:extLst>
              <a:ext uri="{FF2B5EF4-FFF2-40B4-BE49-F238E27FC236}">
                <a16:creationId xmlns:a16="http://schemas.microsoft.com/office/drawing/2014/main" id="{731D805C-6F9B-43E1-B031-BA0012070E2D}"/>
              </a:ext>
            </a:extLst>
          </p:cNvPr>
          <p:cNvSpPr>
            <a:spLocks noGrp="1"/>
          </p:cNvSpPr>
          <p:nvPr/>
        </p:nvSpPr>
        <p:spPr>
          <a:xfrm>
            <a:off x="2743200" y="5895975"/>
            <a:ext cx="7143750" cy="209550"/>
          </a:xfrm>
          <a:prstGeom prst="rect">
            <a:avLst/>
          </a:prstGeom>
          <a:noFill/>
          <a:ln w="0">
            <a:noFill/>
            <a:prstDash val="solid"/>
          </a:ln>
        </p:spPr>
        <p:txBody>
          <a:bodyPr/>
          <a:lstStyle/>
          <a:p>
            <a:pPr algn="l">
              <a:defRPr sz="1200" b="0">
                <a:solidFill>
                  <a:srgbClr val="35445B"/>
                </a:solidFill>
              </a:defRPr>
            </a:pPr>
            <a:r>
              <a:rPr sz="1200" b="0">
                <a:solidFill>
                  <a:srgbClr val="35445B"/>
                </a:solidFill>
              </a:rPr>
              <a:t>10,500+ documents implemented</a:t>
            </a:r>
          </a:p>
        </p:txBody>
      </p:sp>
      <p:sp>
        <p:nvSpPr>
          <p:cNvPr id="19" name="Rectangle 18">
            <a:extLst>
              <a:ext uri="{FF2B5EF4-FFF2-40B4-BE49-F238E27FC236}">
                <a16:creationId xmlns:a16="http://schemas.microsoft.com/office/drawing/2014/main" id="{0938F5C5-6A9E-4957-A91A-C3C599DCFD9B}"/>
              </a:ext>
            </a:extLst>
          </p:cNvPr>
          <p:cNvSpPr>
            <a:spLocks noGrp="1"/>
          </p:cNvSpPr>
          <p:nvPr/>
        </p:nvSpPr>
        <p:spPr>
          <a:xfrm>
            <a:off x="552450" y="6134100"/>
            <a:ext cx="2095500" cy="304800"/>
          </a:xfrm>
          <a:prstGeom prst="rect">
            <a:avLst/>
          </a:prstGeom>
          <a:solidFill>
            <a:srgbClr val="FFFFFF"/>
          </a:solidFill>
          <a:ln w="9525">
            <a:solidFill>
              <a:srgbClr val="D8DEE8"/>
            </a:solidFill>
            <a:prstDash val="solid"/>
          </a:ln>
        </p:spPr>
        <p:txBody>
          <a:bodyPr/>
          <a:lstStyle/>
          <a:p>
            <a:endParaRPr lang="en-IN"/>
          </a:p>
        </p:txBody>
      </p:sp>
      <p:sp>
        <p:nvSpPr>
          <p:cNvPr id="20" name="Rectangle 19">
            <a:extLst>
              <a:ext uri="{FF2B5EF4-FFF2-40B4-BE49-F238E27FC236}">
                <a16:creationId xmlns:a16="http://schemas.microsoft.com/office/drawing/2014/main" id="{16A69E51-DCC2-4EAD-A1D3-CAD4FC1FB6C8}"/>
              </a:ext>
            </a:extLst>
          </p:cNvPr>
          <p:cNvSpPr>
            <a:spLocks noGrp="1"/>
          </p:cNvSpPr>
          <p:nvPr/>
        </p:nvSpPr>
        <p:spPr>
          <a:xfrm>
            <a:off x="647700" y="6200775"/>
            <a:ext cx="1905000" cy="209550"/>
          </a:xfrm>
          <a:prstGeom prst="rect">
            <a:avLst/>
          </a:prstGeom>
          <a:noFill/>
          <a:ln w="0">
            <a:noFill/>
            <a:prstDash val="solid"/>
          </a:ln>
        </p:spPr>
        <p:txBody>
          <a:bodyPr/>
          <a:lstStyle/>
          <a:p>
            <a:pPr algn="l">
              <a:defRPr sz="1200" b="1">
                <a:solidFill>
                  <a:srgbClr val="132033"/>
                </a:solidFill>
              </a:defRPr>
            </a:pPr>
            <a:r>
              <a:rPr sz="1200" b="1">
                <a:solidFill>
                  <a:srgbClr val="132033"/>
                </a:solidFill>
              </a:rPr>
              <a:t>Expansion path</a:t>
            </a:r>
          </a:p>
        </p:txBody>
      </p:sp>
      <p:sp>
        <p:nvSpPr>
          <p:cNvPr id="21" name="Rectangle 20">
            <a:extLst>
              <a:ext uri="{FF2B5EF4-FFF2-40B4-BE49-F238E27FC236}">
                <a16:creationId xmlns:a16="http://schemas.microsoft.com/office/drawing/2014/main" id="{BAEACB4B-B077-47A1-9AB5-2DFA500EC4E0}"/>
              </a:ext>
            </a:extLst>
          </p:cNvPr>
          <p:cNvSpPr>
            <a:spLocks noGrp="1"/>
          </p:cNvSpPr>
          <p:nvPr/>
        </p:nvSpPr>
        <p:spPr>
          <a:xfrm>
            <a:off x="2647950" y="6134100"/>
            <a:ext cx="7334250" cy="304800"/>
          </a:xfrm>
          <a:prstGeom prst="rect">
            <a:avLst/>
          </a:prstGeom>
          <a:solidFill>
            <a:srgbClr val="FFFFFF"/>
          </a:solidFill>
          <a:ln w="9525">
            <a:solidFill>
              <a:srgbClr val="D8DEE8"/>
            </a:solidFill>
            <a:prstDash val="solid"/>
          </a:ln>
        </p:spPr>
        <p:txBody>
          <a:bodyPr/>
          <a:lstStyle/>
          <a:p>
            <a:endParaRPr lang="en-IN"/>
          </a:p>
        </p:txBody>
      </p:sp>
      <p:sp>
        <p:nvSpPr>
          <p:cNvPr id="22" name="Rectangle 21">
            <a:extLst>
              <a:ext uri="{FF2B5EF4-FFF2-40B4-BE49-F238E27FC236}">
                <a16:creationId xmlns:a16="http://schemas.microsoft.com/office/drawing/2014/main" id="{6A3ED408-3A87-409B-A9F6-2990559748AD}"/>
              </a:ext>
            </a:extLst>
          </p:cNvPr>
          <p:cNvSpPr>
            <a:spLocks noGrp="1"/>
          </p:cNvSpPr>
          <p:nvPr/>
        </p:nvSpPr>
        <p:spPr>
          <a:xfrm>
            <a:off x="2743200" y="6200775"/>
            <a:ext cx="7143750" cy="209550"/>
          </a:xfrm>
          <a:prstGeom prst="rect">
            <a:avLst/>
          </a:prstGeom>
          <a:noFill/>
          <a:ln w="0">
            <a:noFill/>
            <a:prstDash val="solid"/>
          </a:ln>
        </p:spPr>
        <p:txBody>
          <a:bodyPr/>
          <a:lstStyle/>
          <a:p>
            <a:pPr algn="l">
              <a:defRPr sz="1200" b="0">
                <a:solidFill>
                  <a:srgbClr val="35445B"/>
                </a:solidFill>
              </a:defRPr>
            </a:pPr>
            <a:r>
              <a:rPr sz="1200" b="0">
                <a:solidFill>
                  <a:srgbClr val="35445B"/>
                </a:solidFill>
              </a:rPr>
              <a:t>Incremental onboarding toward 30,000+ documents</a:t>
            </a:r>
          </a:p>
        </p:txBody>
      </p:sp>
      <p:sp>
        <p:nvSpPr>
          <p:cNvPr id="23" name="Rectangle: Rounded Corners 22">
            <a:extLst>
              <a:ext uri="{FF2B5EF4-FFF2-40B4-BE49-F238E27FC236}">
                <a16:creationId xmlns:a16="http://schemas.microsoft.com/office/drawing/2014/main" id="{99B71036-8EE5-4811-8D1D-99E06176E798}"/>
              </a:ext>
            </a:extLst>
          </p:cNvPr>
          <p:cNvSpPr>
            <a:spLocks noGrp="1"/>
          </p:cNvSpPr>
          <p:nvPr/>
        </p:nvSpPr>
        <p:spPr>
          <a:xfrm>
            <a:off x="9925050" y="5219700"/>
            <a:ext cx="1809750" cy="1219200"/>
          </a:xfrm>
          <a:prstGeom prst="roundRect">
            <a:avLst>
              <a:gd name="adj" fmla="val 3125"/>
            </a:avLst>
          </a:prstGeom>
          <a:solidFill>
            <a:srgbClr val="E8F2F9"/>
          </a:solidFill>
          <a:ln w="9525">
            <a:solidFill>
              <a:srgbClr val="1769AA"/>
            </a:solidFill>
            <a:prstDash val="solid"/>
          </a:ln>
        </p:spPr>
        <p:txBody>
          <a:bodyPr/>
          <a:lstStyle/>
          <a:p>
            <a:endParaRPr lang="en-IN"/>
          </a:p>
        </p:txBody>
      </p:sp>
      <p:sp>
        <p:nvSpPr>
          <p:cNvPr id="24" name="Rectangle 23">
            <a:extLst>
              <a:ext uri="{FF2B5EF4-FFF2-40B4-BE49-F238E27FC236}">
                <a16:creationId xmlns:a16="http://schemas.microsoft.com/office/drawing/2014/main" id="{81CCEF03-995B-4C35-91B4-12199EB4F3D5}"/>
              </a:ext>
            </a:extLst>
          </p:cNvPr>
          <p:cNvSpPr>
            <a:spLocks noGrp="1"/>
          </p:cNvSpPr>
          <p:nvPr/>
        </p:nvSpPr>
        <p:spPr>
          <a:xfrm>
            <a:off x="9925050" y="5219700"/>
            <a:ext cx="57150" cy="1219200"/>
          </a:xfrm>
          <a:prstGeom prst="rect">
            <a:avLst/>
          </a:prstGeom>
          <a:solidFill>
            <a:srgbClr val="1769AA"/>
          </a:solidFill>
          <a:ln w="0">
            <a:noFill/>
            <a:prstDash val="solid"/>
          </a:ln>
        </p:spPr>
        <p:txBody>
          <a:bodyPr/>
          <a:lstStyle/>
          <a:p>
            <a:endParaRPr lang="en-IN"/>
          </a:p>
        </p:txBody>
      </p:sp>
      <p:sp>
        <p:nvSpPr>
          <p:cNvPr id="25" name="Rectangle 24">
            <a:extLst>
              <a:ext uri="{FF2B5EF4-FFF2-40B4-BE49-F238E27FC236}">
                <a16:creationId xmlns:a16="http://schemas.microsoft.com/office/drawing/2014/main" id="{8B313104-3B11-49C2-9AF3-EFEAC6AA7C39}"/>
              </a:ext>
            </a:extLst>
          </p:cNvPr>
          <p:cNvSpPr>
            <a:spLocks noGrp="1"/>
          </p:cNvSpPr>
          <p:nvPr/>
        </p:nvSpPr>
        <p:spPr>
          <a:xfrm>
            <a:off x="10134600" y="5343525"/>
            <a:ext cx="1447800" cy="1047750"/>
          </a:xfrm>
          <a:prstGeom prst="rect">
            <a:avLst/>
          </a:prstGeom>
          <a:noFill/>
          <a:ln w="0">
            <a:noFill/>
            <a:prstDash val="solid"/>
          </a:ln>
        </p:spPr>
        <p:txBody>
          <a:bodyPr/>
          <a:lstStyle/>
          <a:p>
            <a:pPr algn="l">
              <a:defRPr sz="975" b="1">
                <a:solidFill>
                  <a:srgbClr val="132033"/>
                </a:solidFill>
              </a:defRPr>
            </a:pPr>
            <a:r>
              <a:rPr sz="975" b="1">
                <a:solidFill>
                  <a:srgbClr val="132033"/>
                </a:solidFill>
              </a:rPr>
              <a:t>WHY IT SCALES</a:t>
            </a:r>
          </a:p>
          <a:p>
            <a:pPr algn="l">
              <a:defRPr sz="975" b="1">
                <a:solidFill>
                  <a:srgbClr val="132033"/>
                </a:solidFill>
              </a:defRPr>
            </a:pPr>
            <a:r>
              <a:rPr sz="975" b="1">
                <a:solidFill>
                  <a:srgbClr val="132033"/>
                </a:solidFill>
              </a:rPr>
              <a:t>Hash checkpoints</a:t>
            </a:r>
          </a:p>
          <a:p>
            <a:pPr algn="l">
              <a:defRPr sz="975" b="1">
                <a:solidFill>
                  <a:srgbClr val="132033"/>
                </a:solidFill>
              </a:defRPr>
            </a:pPr>
            <a:r>
              <a:rPr sz="975" b="1">
                <a:solidFill>
                  <a:srgbClr val="132033"/>
                </a:solidFill>
              </a:rPr>
              <a:t>Distributed OCR</a:t>
            </a:r>
          </a:p>
          <a:p>
            <a:pPr algn="l">
              <a:defRPr sz="975" b="1">
                <a:solidFill>
                  <a:srgbClr val="132033"/>
                </a:solidFill>
              </a:defRPr>
            </a:pPr>
            <a:r>
              <a:rPr sz="975" b="1">
                <a:solidFill>
                  <a:srgbClr val="132033"/>
                </a:solidFill>
              </a:rPr>
              <a:t>Incremental MERGE</a:t>
            </a:r>
          </a:p>
          <a:p>
            <a:pPr algn="l">
              <a:defRPr sz="975" b="1">
                <a:solidFill>
                  <a:srgbClr val="132033"/>
                </a:solidFill>
              </a:defRPr>
            </a:pPr>
            <a:r>
              <a:rPr sz="975" b="1">
                <a:solidFill>
                  <a:srgbClr val="132033"/>
                </a:solidFill>
              </a:rPr>
              <a:t>Changed-unit re-indexing</a:t>
            </a:r>
          </a:p>
        </p:txBody>
      </p:sp>
    </p:spTree>
    <p:extLst>
      <p:ext uri="{BB962C8B-B14F-4D97-AF65-F5344CB8AC3E}">
        <p14:creationId xmlns:p14="http://schemas.microsoft.com/office/powerpoint/2010/main" val="9661176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0" name="section">
            <a:extLst>
              <a:ext uri="{FF2B5EF4-FFF2-40B4-BE49-F238E27FC236}">
                <a16:creationId xmlns:a16="http://schemas.microsoft.com/office/drawing/2014/main" id="{B5D03759-9DCE-49A7-979E-FB58794585D7}"/>
              </a:ext>
            </a:extLst>
          </p:cNvPr>
          <p:cNvSpPr>
            <a:spLocks noGrp="1"/>
          </p:cNvSpPr>
          <p:nvPr/>
        </p:nvSpPr>
        <p:spPr>
          <a:xfrm>
            <a:off x="457200" y="209550"/>
            <a:ext cx="6858000" cy="190500"/>
          </a:xfrm>
          <a:prstGeom prst="rect">
            <a:avLst/>
          </a:prstGeom>
          <a:noFill/>
          <a:ln w="0">
            <a:noFill/>
            <a:prstDash val="solid"/>
          </a:ln>
        </p:spPr>
        <p:txBody>
          <a:bodyPr/>
          <a:lstStyle/>
          <a:p>
            <a:pPr algn="l">
              <a:defRPr sz="825" b="1">
                <a:solidFill>
                  <a:srgbClr val="6B4E8C"/>
                </a:solidFill>
              </a:defRPr>
            </a:pPr>
            <a:r>
              <a:rPr sz="825" b="1">
                <a:solidFill>
                  <a:srgbClr val="6B4E8C"/>
                </a:solidFill>
              </a:rPr>
              <a:t>CORE TECHNICAL INNOVATION</a:t>
            </a:r>
          </a:p>
        </p:txBody>
      </p:sp>
      <p:sp>
        <p:nvSpPr>
          <p:cNvPr id="2" name="slide-title">
            <a:extLst>
              <a:ext uri="{FF2B5EF4-FFF2-40B4-BE49-F238E27FC236}">
                <a16:creationId xmlns:a16="http://schemas.microsoft.com/office/drawing/2014/main" id="{720E725B-82AF-4475-9211-50A09D844CA5}"/>
              </a:ext>
            </a:extLst>
          </p:cNvPr>
          <p:cNvSpPr>
            <a:spLocks noGrp="1"/>
          </p:cNvSpPr>
          <p:nvPr/>
        </p:nvSpPr>
        <p:spPr>
          <a:xfrm>
            <a:off x="457200" y="457200"/>
            <a:ext cx="11220450" cy="457200"/>
          </a:xfrm>
          <a:prstGeom prst="rect">
            <a:avLst/>
          </a:prstGeom>
          <a:noFill/>
          <a:ln w="0">
            <a:noFill/>
            <a:prstDash val="solid"/>
          </a:ln>
        </p:spPr>
        <p:txBody>
          <a:bodyPr/>
          <a:lstStyle/>
          <a:p>
            <a:pPr algn="l">
              <a:defRPr sz="2625" b="1">
                <a:solidFill>
                  <a:srgbClr val="132033"/>
                </a:solidFill>
              </a:defRPr>
            </a:pPr>
            <a:r>
              <a:rPr sz="2625" b="1">
                <a:solidFill>
                  <a:srgbClr val="132033"/>
                </a:solidFill>
              </a:rPr>
              <a:t>The state engine determines what is valid now</a:t>
            </a:r>
          </a:p>
        </p:txBody>
      </p:sp>
      <p:sp>
        <p:nvSpPr>
          <p:cNvPr id="3" name="Rectangle 2">
            <a:extLst>
              <a:ext uri="{FF2B5EF4-FFF2-40B4-BE49-F238E27FC236}">
                <a16:creationId xmlns:a16="http://schemas.microsoft.com/office/drawing/2014/main" id="{6F5DC9B9-45FF-4A1F-A02E-C0038A27BE5C}"/>
              </a:ext>
            </a:extLst>
          </p:cNvPr>
          <p:cNvSpPr>
            <a:spLocks noGrp="1"/>
          </p:cNvSpPr>
          <p:nvPr/>
        </p:nvSpPr>
        <p:spPr>
          <a:xfrm>
            <a:off x="457200" y="990600"/>
            <a:ext cx="11277600" cy="9525"/>
          </a:xfrm>
          <a:prstGeom prst="rect">
            <a:avLst/>
          </a:prstGeom>
          <a:solidFill>
            <a:srgbClr val="D8DEE8"/>
          </a:solidFill>
          <a:ln w="0">
            <a:noFill/>
            <a:prstDash val="solid"/>
          </a:ln>
        </p:spPr>
        <p:txBody>
          <a:bodyPr/>
          <a:lstStyle/>
          <a:p>
            <a:endParaRPr lang="en-IN"/>
          </a:p>
        </p:txBody>
      </p:sp>
      <p:sp>
        <p:nvSpPr>
          <p:cNvPr id="4" name="visible-source">
            <a:extLst>
              <a:ext uri="{FF2B5EF4-FFF2-40B4-BE49-F238E27FC236}">
                <a16:creationId xmlns:a16="http://schemas.microsoft.com/office/drawing/2014/main" id="{21D73288-E387-4689-8060-BF38126566B5}"/>
              </a:ext>
            </a:extLst>
          </p:cNvPr>
          <p:cNvSpPr>
            <a:spLocks noGrp="1"/>
          </p:cNvSpPr>
          <p:nvPr/>
        </p:nvSpPr>
        <p:spPr>
          <a:xfrm>
            <a:off x="457200" y="6524625"/>
            <a:ext cx="9334500" cy="142875"/>
          </a:xfrm>
          <a:prstGeom prst="rect">
            <a:avLst/>
          </a:prstGeom>
          <a:noFill/>
          <a:ln w="0">
            <a:noFill/>
            <a:prstDash val="solid"/>
          </a:ln>
        </p:spPr>
        <p:txBody>
          <a:bodyPr/>
          <a:lstStyle/>
          <a:p>
            <a:pPr algn="l">
              <a:defRPr sz="675" b="0">
                <a:solidFill>
                  <a:srgbClr val="667389"/>
                </a:solidFill>
              </a:defRPr>
            </a:pPr>
            <a:r>
              <a:rPr sz="675" b="0">
                <a:solidFill>
                  <a:srgbClr val="667389"/>
                </a:solidFill>
              </a:rPr>
              <a:t>Source: State-engine and data-model documentation</a:t>
            </a:r>
          </a:p>
        </p:txBody>
      </p:sp>
      <p:sp>
        <p:nvSpPr>
          <p:cNvPr id="5" name="page">
            <a:extLst>
              <a:ext uri="{FF2B5EF4-FFF2-40B4-BE49-F238E27FC236}">
                <a16:creationId xmlns:a16="http://schemas.microsoft.com/office/drawing/2014/main" id="{88AFD38E-5F93-4E31-B694-21C27B6C441E}"/>
              </a:ext>
            </a:extLst>
          </p:cNvPr>
          <p:cNvSpPr>
            <a:spLocks noGrp="1"/>
          </p:cNvSpPr>
          <p:nvPr/>
        </p:nvSpPr>
        <p:spPr>
          <a:xfrm>
            <a:off x="11220450" y="6496050"/>
            <a:ext cx="514350" cy="171450"/>
          </a:xfrm>
          <a:prstGeom prst="rect">
            <a:avLst/>
          </a:prstGeom>
          <a:noFill/>
          <a:ln w="0">
            <a:noFill/>
            <a:prstDash val="solid"/>
          </a:ln>
        </p:spPr>
        <p:txBody>
          <a:bodyPr/>
          <a:lstStyle/>
          <a:p>
            <a:pPr algn="r">
              <a:defRPr sz="750" b="1">
                <a:solidFill>
                  <a:srgbClr val="667389"/>
                </a:solidFill>
              </a:defRPr>
            </a:pPr>
            <a:r>
              <a:rPr sz="750" b="1">
                <a:solidFill>
                  <a:srgbClr val="667389"/>
                </a:solidFill>
              </a:rPr>
              <a:t>06</a:t>
            </a:r>
          </a:p>
        </p:txBody>
      </p:sp>
      <p:sp>
        <p:nvSpPr>
          <p:cNvPr id="6" name="Rectangle: Rounded Corners 5">
            <a:extLst>
              <a:ext uri="{FF2B5EF4-FFF2-40B4-BE49-F238E27FC236}">
                <a16:creationId xmlns:a16="http://schemas.microsoft.com/office/drawing/2014/main" id="{37C2CCF9-E9B6-4F1E-B492-4075CDA724C3}"/>
              </a:ext>
            </a:extLst>
          </p:cNvPr>
          <p:cNvSpPr>
            <a:spLocks noGrp="1"/>
          </p:cNvSpPr>
          <p:nvPr/>
        </p:nvSpPr>
        <p:spPr>
          <a:xfrm>
            <a:off x="571500" y="1447800"/>
            <a:ext cx="2057400" cy="1047750"/>
          </a:xfrm>
          <a:prstGeom prst="roundRect">
            <a:avLst>
              <a:gd name="adj" fmla="val 3636"/>
            </a:avLst>
          </a:prstGeom>
          <a:solidFill>
            <a:srgbClr val="FFFFFF"/>
          </a:solidFill>
          <a:ln w="9525">
            <a:solidFill>
              <a:srgbClr val="0B2D50"/>
            </a:solidFill>
            <a:prstDash val="solid"/>
          </a:ln>
        </p:spPr>
        <p:txBody>
          <a:bodyPr/>
          <a:lstStyle/>
          <a:p>
            <a:endParaRPr lang="en-IN"/>
          </a:p>
        </p:txBody>
      </p:sp>
      <p:sp>
        <p:nvSpPr>
          <p:cNvPr id="7" name="Rectangle 6">
            <a:extLst>
              <a:ext uri="{FF2B5EF4-FFF2-40B4-BE49-F238E27FC236}">
                <a16:creationId xmlns:a16="http://schemas.microsoft.com/office/drawing/2014/main" id="{4DFC60EF-02BA-4856-ACF5-912D053313B9}"/>
              </a:ext>
            </a:extLst>
          </p:cNvPr>
          <p:cNvSpPr>
            <a:spLocks noGrp="1"/>
          </p:cNvSpPr>
          <p:nvPr/>
        </p:nvSpPr>
        <p:spPr>
          <a:xfrm>
            <a:off x="685800" y="1657350"/>
            <a:ext cx="1828800" cy="266700"/>
          </a:xfrm>
          <a:prstGeom prst="rect">
            <a:avLst/>
          </a:prstGeom>
          <a:noFill/>
          <a:ln w="0">
            <a:noFill/>
            <a:prstDash val="solid"/>
          </a:ln>
        </p:spPr>
        <p:txBody>
          <a:bodyPr/>
          <a:lstStyle/>
          <a:p>
            <a:pPr algn="ctr">
              <a:defRPr sz="1275" b="1">
                <a:solidFill>
                  <a:srgbClr val="0B2D50"/>
                </a:solidFill>
              </a:defRPr>
            </a:pPr>
            <a:r>
              <a:rPr sz="1275" b="1">
                <a:solidFill>
                  <a:srgbClr val="0B2D50"/>
                </a:solidFill>
              </a:rPr>
              <a:t>Base Agreement</a:t>
            </a:r>
          </a:p>
        </p:txBody>
      </p:sp>
      <p:sp>
        <p:nvSpPr>
          <p:cNvPr id="8" name="Rectangle 7">
            <a:extLst>
              <a:ext uri="{FF2B5EF4-FFF2-40B4-BE49-F238E27FC236}">
                <a16:creationId xmlns:a16="http://schemas.microsoft.com/office/drawing/2014/main" id="{A86FB281-E8ED-4E58-A896-88581F1394DD}"/>
              </a:ext>
            </a:extLst>
          </p:cNvPr>
          <p:cNvSpPr>
            <a:spLocks noGrp="1"/>
          </p:cNvSpPr>
          <p:nvPr/>
        </p:nvSpPr>
        <p:spPr>
          <a:xfrm>
            <a:off x="704850" y="2076450"/>
            <a:ext cx="1790700" cy="209550"/>
          </a:xfrm>
          <a:prstGeom prst="rect">
            <a:avLst/>
          </a:prstGeom>
          <a:noFill/>
          <a:ln w="0">
            <a:noFill/>
            <a:prstDash val="solid"/>
          </a:ln>
        </p:spPr>
        <p:txBody>
          <a:bodyPr/>
          <a:lstStyle/>
          <a:p>
            <a:pPr algn="ctr">
              <a:defRPr sz="1050" b="0">
                <a:solidFill>
                  <a:srgbClr val="667389"/>
                </a:solidFill>
              </a:defRPr>
            </a:pPr>
            <a:r>
              <a:rPr sz="1050" b="0">
                <a:solidFill>
                  <a:srgbClr val="667389"/>
                </a:solidFill>
              </a:rPr>
              <a:t>Original terms</a:t>
            </a:r>
          </a:p>
        </p:txBody>
      </p:sp>
      <p:sp>
        <p:nvSpPr>
          <p:cNvPr id="9" name="Rectangle: Rounded Corners 8">
            <a:extLst>
              <a:ext uri="{FF2B5EF4-FFF2-40B4-BE49-F238E27FC236}">
                <a16:creationId xmlns:a16="http://schemas.microsoft.com/office/drawing/2014/main" id="{13C8824F-A7A0-4EB5-8F17-5D59BF908881}"/>
              </a:ext>
            </a:extLst>
          </p:cNvPr>
          <p:cNvSpPr>
            <a:spLocks noGrp="1"/>
          </p:cNvSpPr>
          <p:nvPr/>
        </p:nvSpPr>
        <p:spPr>
          <a:xfrm>
            <a:off x="2819400" y="1447800"/>
            <a:ext cx="2057400" cy="1047750"/>
          </a:xfrm>
          <a:prstGeom prst="roundRect">
            <a:avLst>
              <a:gd name="adj" fmla="val 3636"/>
            </a:avLst>
          </a:prstGeom>
          <a:solidFill>
            <a:srgbClr val="FFFFFF"/>
          </a:solidFill>
          <a:ln w="9525">
            <a:solidFill>
              <a:srgbClr val="1769AA"/>
            </a:solidFill>
            <a:prstDash val="solid"/>
          </a:ln>
        </p:spPr>
        <p:txBody>
          <a:bodyPr/>
          <a:lstStyle/>
          <a:p>
            <a:endParaRPr lang="en-IN"/>
          </a:p>
        </p:txBody>
      </p:sp>
      <p:sp>
        <p:nvSpPr>
          <p:cNvPr id="10" name="Rectangle 9">
            <a:extLst>
              <a:ext uri="{FF2B5EF4-FFF2-40B4-BE49-F238E27FC236}">
                <a16:creationId xmlns:a16="http://schemas.microsoft.com/office/drawing/2014/main" id="{CD0952E1-D96B-4209-9FEA-C2BBABE0E32C}"/>
              </a:ext>
            </a:extLst>
          </p:cNvPr>
          <p:cNvSpPr>
            <a:spLocks noGrp="1"/>
          </p:cNvSpPr>
          <p:nvPr/>
        </p:nvSpPr>
        <p:spPr>
          <a:xfrm>
            <a:off x="2933700" y="1657350"/>
            <a:ext cx="1828800" cy="266700"/>
          </a:xfrm>
          <a:prstGeom prst="rect">
            <a:avLst/>
          </a:prstGeom>
          <a:noFill/>
          <a:ln w="0">
            <a:noFill/>
            <a:prstDash val="solid"/>
          </a:ln>
        </p:spPr>
        <p:txBody>
          <a:bodyPr/>
          <a:lstStyle/>
          <a:p>
            <a:pPr algn="ctr">
              <a:defRPr sz="1275" b="1">
                <a:solidFill>
                  <a:srgbClr val="1769AA"/>
                </a:solidFill>
              </a:defRPr>
            </a:pPr>
            <a:r>
              <a:rPr sz="1275" b="1">
                <a:solidFill>
                  <a:srgbClr val="1769AA"/>
                </a:solidFill>
              </a:rPr>
              <a:t>Amendment 1</a:t>
            </a:r>
          </a:p>
        </p:txBody>
      </p:sp>
      <p:sp>
        <p:nvSpPr>
          <p:cNvPr id="11" name="Rectangle 10">
            <a:extLst>
              <a:ext uri="{FF2B5EF4-FFF2-40B4-BE49-F238E27FC236}">
                <a16:creationId xmlns:a16="http://schemas.microsoft.com/office/drawing/2014/main" id="{95FB0980-E4E6-448E-80F8-D2926F236AAE}"/>
              </a:ext>
            </a:extLst>
          </p:cNvPr>
          <p:cNvSpPr>
            <a:spLocks noGrp="1"/>
          </p:cNvSpPr>
          <p:nvPr/>
        </p:nvSpPr>
        <p:spPr>
          <a:xfrm>
            <a:off x="2952750" y="2076450"/>
            <a:ext cx="1790700" cy="209550"/>
          </a:xfrm>
          <a:prstGeom prst="rect">
            <a:avLst/>
          </a:prstGeom>
          <a:noFill/>
          <a:ln w="0">
            <a:noFill/>
            <a:prstDash val="solid"/>
          </a:ln>
        </p:spPr>
        <p:txBody>
          <a:bodyPr/>
          <a:lstStyle/>
          <a:p>
            <a:pPr algn="ctr">
              <a:defRPr sz="1050" b="0">
                <a:solidFill>
                  <a:srgbClr val="667389"/>
                </a:solidFill>
              </a:defRPr>
            </a:pPr>
            <a:r>
              <a:rPr sz="1050" b="0">
                <a:solidFill>
                  <a:srgbClr val="667389"/>
                </a:solidFill>
              </a:rPr>
              <a:t>Rate changed</a:t>
            </a:r>
          </a:p>
        </p:txBody>
      </p:sp>
      <p:sp>
        <p:nvSpPr>
          <p:cNvPr id="12" name="Rectangle: Rounded Corners 11">
            <a:extLst>
              <a:ext uri="{FF2B5EF4-FFF2-40B4-BE49-F238E27FC236}">
                <a16:creationId xmlns:a16="http://schemas.microsoft.com/office/drawing/2014/main" id="{4C924467-F7BB-4DCD-82C6-70F139948002}"/>
              </a:ext>
            </a:extLst>
          </p:cNvPr>
          <p:cNvSpPr>
            <a:spLocks noGrp="1"/>
          </p:cNvSpPr>
          <p:nvPr/>
        </p:nvSpPr>
        <p:spPr>
          <a:xfrm>
            <a:off x="5067300" y="1447800"/>
            <a:ext cx="2057400" cy="1047750"/>
          </a:xfrm>
          <a:prstGeom prst="roundRect">
            <a:avLst>
              <a:gd name="adj" fmla="val 3636"/>
            </a:avLst>
          </a:prstGeom>
          <a:solidFill>
            <a:srgbClr val="FFFFFF"/>
          </a:solidFill>
          <a:ln w="9525">
            <a:solidFill>
              <a:srgbClr val="6B4E8C"/>
            </a:solidFill>
            <a:prstDash val="solid"/>
          </a:ln>
        </p:spPr>
        <p:txBody>
          <a:bodyPr/>
          <a:lstStyle/>
          <a:p>
            <a:endParaRPr lang="en-IN"/>
          </a:p>
        </p:txBody>
      </p:sp>
      <p:sp>
        <p:nvSpPr>
          <p:cNvPr id="13" name="Rectangle 12">
            <a:extLst>
              <a:ext uri="{FF2B5EF4-FFF2-40B4-BE49-F238E27FC236}">
                <a16:creationId xmlns:a16="http://schemas.microsoft.com/office/drawing/2014/main" id="{59C765C3-B128-423B-AE3D-CC7A8A5611BF}"/>
              </a:ext>
            </a:extLst>
          </p:cNvPr>
          <p:cNvSpPr>
            <a:spLocks noGrp="1"/>
          </p:cNvSpPr>
          <p:nvPr/>
        </p:nvSpPr>
        <p:spPr>
          <a:xfrm>
            <a:off x="5181600" y="1657350"/>
            <a:ext cx="1828800" cy="266700"/>
          </a:xfrm>
          <a:prstGeom prst="rect">
            <a:avLst/>
          </a:prstGeom>
          <a:noFill/>
          <a:ln w="0">
            <a:noFill/>
            <a:prstDash val="solid"/>
          </a:ln>
        </p:spPr>
        <p:txBody>
          <a:bodyPr/>
          <a:lstStyle/>
          <a:p>
            <a:pPr algn="ctr">
              <a:defRPr sz="1275" b="1">
                <a:solidFill>
                  <a:srgbClr val="6B4E8C"/>
                </a:solidFill>
              </a:defRPr>
            </a:pPr>
            <a:r>
              <a:rPr sz="1275" b="1">
                <a:solidFill>
                  <a:srgbClr val="6B4E8C"/>
                </a:solidFill>
              </a:rPr>
              <a:t>Amendment 3</a:t>
            </a:r>
          </a:p>
        </p:txBody>
      </p:sp>
      <p:sp>
        <p:nvSpPr>
          <p:cNvPr id="14" name="Rectangle 13">
            <a:extLst>
              <a:ext uri="{FF2B5EF4-FFF2-40B4-BE49-F238E27FC236}">
                <a16:creationId xmlns:a16="http://schemas.microsoft.com/office/drawing/2014/main" id="{D8690B22-3A47-430B-A768-97164CF8A8F7}"/>
              </a:ext>
            </a:extLst>
          </p:cNvPr>
          <p:cNvSpPr>
            <a:spLocks noGrp="1"/>
          </p:cNvSpPr>
          <p:nvPr/>
        </p:nvSpPr>
        <p:spPr>
          <a:xfrm>
            <a:off x="5200650" y="2076450"/>
            <a:ext cx="1790700" cy="209550"/>
          </a:xfrm>
          <a:prstGeom prst="rect">
            <a:avLst/>
          </a:prstGeom>
          <a:noFill/>
          <a:ln w="0">
            <a:noFill/>
            <a:prstDash val="solid"/>
          </a:ln>
        </p:spPr>
        <p:txBody>
          <a:bodyPr/>
          <a:lstStyle/>
          <a:p>
            <a:pPr algn="ctr">
              <a:defRPr sz="1050" b="0">
                <a:solidFill>
                  <a:srgbClr val="667389"/>
                </a:solidFill>
              </a:defRPr>
            </a:pPr>
            <a:r>
              <a:rPr sz="1050" b="0">
                <a:solidFill>
                  <a:srgbClr val="667389"/>
                </a:solidFill>
              </a:rPr>
              <a:t>Selected term replaced</a:t>
            </a:r>
          </a:p>
        </p:txBody>
      </p:sp>
      <p:sp>
        <p:nvSpPr>
          <p:cNvPr id="15" name="Rectangle: Rounded Corners 14">
            <a:extLst>
              <a:ext uri="{FF2B5EF4-FFF2-40B4-BE49-F238E27FC236}">
                <a16:creationId xmlns:a16="http://schemas.microsoft.com/office/drawing/2014/main" id="{1CA09805-E349-4D77-BE88-82AD6D79DEA5}"/>
              </a:ext>
            </a:extLst>
          </p:cNvPr>
          <p:cNvSpPr>
            <a:spLocks noGrp="1"/>
          </p:cNvSpPr>
          <p:nvPr/>
        </p:nvSpPr>
        <p:spPr>
          <a:xfrm>
            <a:off x="7315200" y="1447800"/>
            <a:ext cx="2057400" cy="1047750"/>
          </a:xfrm>
          <a:prstGeom prst="roundRect">
            <a:avLst>
              <a:gd name="adj" fmla="val 3636"/>
            </a:avLst>
          </a:prstGeom>
          <a:solidFill>
            <a:srgbClr val="FFFFFF"/>
          </a:solidFill>
          <a:ln w="9525">
            <a:solidFill>
              <a:srgbClr val="007A78"/>
            </a:solidFill>
            <a:prstDash val="solid"/>
          </a:ln>
        </p:spPr>
        <p:txBody>
          <a:bodyPr/>
          <a:lstStyle/>
          <a:p>
            <a:endParaRPr lang="en-IN"/>
          </a:p>
        </p:txBody>
      </p:sp>
      <p:sp>
        <p:nvSpPr>
          <p:cNvPr id="16" name="Rectangle 15">
            <a:extLst>
              <a:ext uri="{FF2B5EF4-FFF2-40B4-BE49-F238E27FC236}">
                <a16:creationId xmlns:a16="http://schemas.microsoft.com/office/drawing/2014/main" id="{9ADB7ABB-E620-448D-95ED-30EE64A55AA1}"/>
              </a:ext>
            </a:extLst>
          </p:cNvPr>
          <p:cNvSpPr>
            <a:spLocks noGrp="1"/>
          </p:cNvSpPr>
          <p:nvPr/>
        </p:nvSpPr>
        <p:spPr>
          <a:xfrm>
            <a:off x="7429500" y="1657350"/>
            <a:ext cx="1828800" cy="266700"/>
          </a:xfrm>
          <a:prstGeom prst="rect">
            <a:avLst/>
          </a:prstGeom>
          <a:noFill/>
          <a:ln w="0">
            <a:noFill/>
            <a:prstDash val="solid"/>
          </a:ln>
        </p:spPr>
        <p:txBody>
          <a:bodyPr/>
          <a:lstStyle/>
          <a:p>
            <a:pPr algn="ctr">
              <a:defRPr sz="1275" b="1">
                <a:solidFill>
                  <a:srgbClr val="007A78"/>
                </a:solidFill>
              </a:defRPr>
            </a:pPr>
            <a:r>
              <a:rPr sz="1275" b="1">
                <a:solidFill>
                  <a:srgbClr val="007A78"/>
                </a:solidFill>
              </a:rPr>
              <a:t>Corrected Version</a:t>
            </a:r>
          </a:p>
        </p:txBody>
      </p:sp>
      <p:sp>
        <p:nvSpPr>
          <p:cNvPr id="17" name="Rectangle 16">
            <a:extLst>
              <a:ext uri="{FF2B5EF4-FFF2-40B4-BE49-F238E27FC236}">
                <a16:creationId xmlns:a16="http://schemas.microsoft.com/office/drawing/2014/main" id="{DDE7CCCC-5C1B-40B3-9FA9-F3E147643AB4}"/>
              </a:ext>
            </a:extLst>
          </p:cNvPr>
          <p:cNvSpPr>
            <a:spLocks noGrp="1"/>
          </p:cNvSpPr>
          <p:nvPr/>
        </p:nvSpPr>
        <p:spPr>
          <a:xfrm>
            <a:off x="7448550" y="2076450"/>
            <a:ext cx="1790700" cy="209550"/>
          </a:xfrm>
          <a:prstGeom prst="rect">
            <a:avLst/>
          </a:prstGeom>
          <a:noFill/>
          <a:ln w="0">
            <a:noFill/>
            <a:prstDash val="solid"/>
          </a:ln>
        </p:spPr>
        <p:txBody>
          <a:bodyPr/>
          <a:lstStyle/>
          <a:p>
            <a:pPr algn="ctr">
              <a:defRPr sz="1050" b="0">
                <a:solidFill>
                  <a:srgbClr val="667389"/>
                </a:solidFill>
              </a:defRPr>
            </a:pPr>
            <a:r>
              <a:rPr sz="1050" b="0">
                <a:solidFill>
                  <a:srgbClr val="667389"/>
                </a:solidFill>
              </a:rPr>
              <a:t>Final language</a:t>
            </a:r>
          </a:p>
        </p:txBody>
      </p:sp>
      <p:sp>
        <p:nvSpPr>
          <p:cNvPr id="18" name="Rectangle: Rounded Corners 17">
            <a:extLst>
              <a:ext uri="{FF2B5EF4-FFF2-40B4-BE49-F238E27FC236}">
                <a16:creationId xmlns:a16="http://schemas.microsoft.com/office/drawing/2014/main" id="{7C159B7E-0F7E-410C-B34E-DAC8BAD4E912}"/>
              </a:ext>
            </a:extLst>
          </p:cNvPr>
          <p:cNvSpPr>
            <a:spLocks noGrp="1"/>
          </p:cNvSpPr>
          <p:nvPr/>
        </p:nvSpPr>
        <p:spPr>
          <a:xfrm>
            <a:off x="9563100" y="1447800"/>
            <a:ext cx="2057400" cy="1047750"/>
          </a:xfrm>
          <a:prstGeom prst="roundRect">
            <a:avLst>
              <a:gd name="adj" fmla="val 3636"/>
            </a:avLst>
          </a:prstGeom>
          <a:solidFill>
            <a:srgbClr val="E9F5EF"/>
          </a:solidFill>
          <a:ln w="9525">
            <a:solidFill>
              <a:srgbClr val="2D7D5B"/>
            </a:solidFill>
            <a:prstDash val="solid"/>
          </a:ln>
        </p:spPr>
        <p:txBody>
          <a:bodyPr/>
          <a:lstStyle/>
          <a:p>
            <a:endParaRPr lang="en-IN"/>
          </a:p>
        </p:txBody>
      </p:sp>
      <p:sp>
        <p:nvSpPr>
          <p:cNvPr id="19" name="Rectangle 18">
            <a:extLst>
              <a:ext uri="{FF2B5EF4-FFF2-40B4-BE49-F238E27FC236}">
                <a16:creationId xmlns:a16="http://schemas.microsoft.com/office/drawing/2014/main" id="{3C95B387-7A2E-4A72-B636-12E28B83A9F5}"/>
              </a:ext>
            </a:extLst>
          </p:cNvPr>
          <p:cNvSpPr>
            <a:spLocks noGrp="1"/>
          </p:cNvSpPr>
          <p:nvPr/>
        </p:nvSpPr>
        <p:spPr>
          <a:xfrm>
            <a:off x="9677400" y="1657350"/>
            <a:ext cx="1828800" cy="266700"/>
          </a:xfrm>
          <a:prstGeom prst="rect">
            <a:avLst/>
          </a:prstGeom>
          <a:noFill/>
          <a:ln w="0">
            <a:noFill/>
            <a:prstDash val="solid"/>
          </a:ln>
        </p:spPr>
        <p:txBody>
          <a:bodyPr/>
          <a:lstStyle/>
          <a:p>
            <a:pPr algn="ctr">
              <a:defRPr sz="1275" b="1">
                <a:solidFill>
                  <a:srgbClr val="2D7D5B"/>
                </a:solidFill>
              </a:defRPr>
            </a:pPr>
            <a:r>
              <a:rPr sz="1275" b="1">
                <a:solidFill>
                  <a:srgbClr val="2D7D5B"/>
                </a:solidFill>
              </a:rPr>
              <a:t>CURRENT STATE</a:t>
            </a:r>
          </a:p>
        </p:txBody>
      </p:sp>
      <p:sp>
        <p:nvSpPr>
          <p:cNvPr id="20" name="Rectangle 19">
            <a:extLst>
              <a:ext uri="{FF2B5EF4-FFF2-40B4-BE49-F238E27FC236}">
                <a16:creationId xmlns:a16="http://schemas.microsoft.com/office/drawing/2014/main" id="{47FC7396-B2C8-4D1B-8620-DA4EB7ED49A0}"/>
              </a:ext>
            </a:extLst>
          </p:cNvPr>
          <p:cNvSpPr>
            <a:spLocks noGrp="1"/>
          </p:cNvSpPr>
          <p:nvPr/>
        </p:nvSpPr>
        <p:spPr>
          <a:xfrm>
            <a:off x="9696450" y="2076450"/>
            <a:ext cx="1790700" cy="209550"/>
          </a:xfrm>
          <a:prstGeom prst="rect">
            <a:avLst/>
          </a:prstGeom>
          <a:noFill/>
          <a:ln w="0">
            <a:noFill/>
            <a:prstDash val="solid"/>
          </a:ln>
        </p:spPr>
        <p:txBody>
          <a:bodyPr/>
          <a:lstStyle/>
          <a:p>
            <a:pPr algn="ctr">
              <a:defRPr sz="1050" b="0">
                <a:solidFill>
                  <a:srgbClr val="667389"/>
                </a:solidFill>
              </a:defRPr>
            </a:pPr>
            <a:r>
              <a:rPr sz="1050" b="0">
                <a:solidFill>
                  <a:srgbClr val="667389"/>
                </a:solidFill>
              </a:rPr>
              <a:t>Used by retrieval</a:t>
            </a:r>
          </a:p>
        </p:txBody>
      </p:sp>
      <p:cxnSp>
        <p:nvCxnSpPr>
          <p:cNvPr id="70" name="Straight Arrow Connector 69"/>
          <p:cNvCxnSpPr>
            <a:stCxn id="6" idx="3"/>
            <a:endCxn id="9" idx="1"/>
          </p:cNvCxnSpPr>
          <p:nvPr/>
        </p:nvCxnSpPr>
        <p:spPr>
          <a:xfrm>
            <a:off x="2628900" y="1971675"/>
            <a:ext cx="190500" cy="0"/>
          </a:xfrm>
          <a:prstGeom prst="straightConnector1">
            <a:avLst/>
          </a:prstGeom>
          <a:ln w="19050">
            <a:solidFill>
              <a:srgbClr val="667389"/>
            </a:solidFill>
            <a:prstDash val="solid"/>
            <a:tailEnd type="arrow" w="med" len="med"/>
          </a:ln>
        </p:spPr>
      </p:cxnSp>
      <p:cxnSp>
        <p:nvCxnSpPr>
          <p:cNvPr id="71" name="Straight Arrow Connector 70"/>
          <p:cNvCxnSpPr>
            <a:stCxn id="9" idx="3"/>
            <a:endCxn id="12" idx="1"/>
          </p:cNvCxnSpPr>
          <p:nvPr/>
        </p:nvCxnSpPr>
        <p:spPr>
          <a:xfrm>
            <a:off x="4876800" y="1971675"/>
            <a:ext cx="190500" cy="0"/>
          </a:xfrm>
          <a:prstGeom prst="straightConnector1">
            <a:avLst/>
          </a:prstGeom>
          <a:ln w="19050">
            <a:solidFill>
              <a:srgbClr val="667389"/>
            </a:solidFill>
            <a:prstDash val="solid"/>
            <a:tailEnd type="arrow" w="med" len="med"/>
          </a:ln>
        </p:spPr>
      </p:cxnSp>
      <p:cxnSp>
        <p:nvCxnSpPr>
          <p:cNvPr id="72" name="Straight Arrow Connector 71"/>
          <p:cNvCxnSpPr>
            <a:stCxn id="12" idx="3"/>
            <a:endCxn id="15" idx="1"/>
          </p:cNvCxnSpPr>
          <p:nvPr/>
        </p:nvCxnSpPr>
        <p:spPr>
          <a:xfrm>
            <a:off x="7124700" y="1971675"/>
            <a:ext cx="190500" cy="0"/>
          </a:xfrm>
          <a:prstGeom prst="straightConnector1">
            <a:avLst/>
          </a:prstGeom>
          <a:ln w="19050">
            <a:solidFill>
              <a:srgbClr val="667389"/>
            </a:solidFill>
            <a:prstDash val="solid"/>
            <a:tailEnd type="arrow" w="med" len="med"/>
          </a:ln>
        </p:spPr>
      </p:cxnSp>
      <p:cxnSp>
        <p:nvCxnSpPr>
          <p:cNvPr id="73" name="Straight Arrow Connector 72"/>
          <p:cNvCxnSpPr>
            <a:stCxn id="15" idx="3"/>
            <a:endCxn id="18" idx="1"/>
          </p:cNvCxnSpPr>
          <p:nvPr/>
        </p:nvCxnSpPr>
        <p:spPr>
          <a:xfrm>
            <a:off x="9372600" y="1971675"/>
            <a:ext cx="190500" cy="0"/>
          </a:xfrm>
          <a:prstGeom prst="straightConnector1">
            <a:avLst/>
          </a:prstGeom>
          <a:ln w="19050">
            <a:solidFill>
              <a:srgbClr val="667389"/>
            </a:solidFill>
            <a:prstDash val="solid"/>
            <a:tailEnd type="arrow" w="med" len="med"/>
          </a:ln>
        </p:spPr>
      </p:cxnSp>
      <p:sp>
        <p:nvSpPr>
          <p:cNvPr id="25" name="Rectangle 24">
            <a:extLst>
              <a:ext uri="{FF2B5EF4-FFF2-40B4-BE49-F238E27FC236}">
                <a16:creationId xmlns:a16="http://schemas.microsoft.com/office/drawing/2014/main" id="{0B5300AA-24BE-4293-8BE8-3B3FA19768DF}"/>
              </a:ext>
            </a:extLst>
          </p:cNvPr>
          <p:cNvSpPr>
            <a:spLocks noGrp="1"/>
          </p:cNvSpPr>
          <p:nvPr/>
        </p:nvSpPr>
        <p:spPr>
          <a:xfrm>
            <a:off x="552450" y="3000375"/>
            <a:ext cx="6191250" cy="266700"/>
          </a:xfrm>
          <a:prstGeom prst="rect">
            <a:avLst/>
          </a:prstGeom>
          <a:noFill/>
          <a:ln w="0">
            <a:noFill/>
            <a:prstDash val="solid"/>
          </a:ln>
        </p:spPr>
        <p:txBody>
          <a:bodyPr/>
          <a:lstStyle/>
          <a:p>
            <a:pPr algn="l">
              <a:defRPr sz="1500" b="1">
                <a:solidFill>
                  <a:srgbClr val="132033"/>
                </a:solidFill>
              </a:defRPr>
            </a:pPr>
            <a:r>
              <a:rPr sz="1500" b="1">
                <a:solidFill>
                  <a:srgbClr val="132033"/>
                </a:solidFill>
              </a:rPr>
              <a:t>The engine computes six dimensions of contract state</a:t>
            </a:r>
          </a:p>
        </p:txBody>
      </p:sp>
      <p:sp>
        <p:nvSpPr>
          <p:cNvPr id="26" name="Rectangle 25">
            <a:extLst>
              <a:ext uri="{FF2B5EF4-FFF2-40B4-BE49-F238E27FC236}">
                <a16:creationId xmlns:a16="http://schemas.microsoft.com/office/drawing/2014/main" id="{20A220F8-817D-41C3-8AA6-6EB816303C61}"/>
              </a:ext>
            </a:extLst>
          </p:cNvPr>
          <p:cNvSpPr>
            <a:spLocks noGrp="1"/>
          </p:cNvSpPr>
          <p:nvPr/>
        </p:nvSpPr>
        <p:spPr>
          <a:xfrm>
            <a:off x="571500" y="3476625"/>
            <a:ext cx="266700" cy="209550"/>
          </a:xfrm>
          <a:prstGeom prst="rect">
            <a:avLst/>
          </a:prstGeom>
          <a:noFill/>
          <a:ln w="0">
            <a:noFill/>
            <a:prstDash val="solid"/>
          </a:ln>
        </p:spPr>
        <p:txBody>
          <a:bodyPr/>
          <a:lstStyle/>
          <a:p>
            <a:pPr algn="l">
              <a:defRPr sz="975" b="1">
                <a:solidFill>
                  <a:srgbClr val="6B4E8C"/>
                </a:solidFill>
              </a:defRPr>
            </a:pPr>
            <a:r>
              <a:rPr sz="975" b="1">
                <a:solidFill>
                  <a:srgbClr val="6B4E8C"/>
                </a:solidFill>
              </a:rPr>
              <a:t>1</a:t>
            </a:r>
          </a:p>
        </p:txBody>
      </p:sp>
      <p:sp>
        <p:nvSpPr>
          <p:cNvPr id="27" name="Rectangle 26">
            <a:extLst>
              <a:ext uri="{FF2B5EF4-FFF2-40B4-BE49-F238E27FC236}">
                <a16:creationId xmlns:a16="http://schemas.microsoft.com/office/drawing/2014/main" id="{4C012849-93B9-4D42-A2D6-482D51E1DD2F}"/>
              </a:ext>
            </a:extLst>
          </p:cNvPr>
          <p:cNvSpPr>
            <a:spLocks noGrp="1"/>
          </p:cNvSpPr>
          <p:nvPr/>
        </p:nvSpPr>
        <p:spPr>
          <a:xfrm>
            <a:off x="952500" y="3476625"/>
            <a:ext cx="4762500" cy="228600"/>
          </a:xfrm>
          <a:prstGeom prst="rect">
            <a:avLst/>
          </a:prstGeom>
          <a:noFill/>
          <a:ln w="0">
            <a:noFill/>
            <a:prstDash val="solid"/>
          </a:ln>
        </p:spPr>
        <p:txBody>
          <a:bodyPr/>
          <a:lstStyle/>
          <a:p>
            <a:pPr algn="l">
              <a:defRPr sz="1200" b="0">
                <a:solidFill>
                  <a:srgbClr val="35445B"/>
                </a:solidFill>
              </a:defRPr>
            </a:pPr>
            <a:r>
              <a:rPr sz="1200" b="0">
                <a:solidFill>
                  <a:srgbClr val="35445B"/>
                </a:solidFill>
              </a:rPr>
              <a:t>Base-to-amendment hierarchy</a:t>
            </a:r>
          </a:p>
        </p:txBody>
      </p:sp>
      <p:sp>
        <p:nvSpPr>
          <p:cNvPr id="28" name="Rectangle 27">
            <a:extLst>
              <a:ext uri="{FF2B5EF4-FFF2-40B4-BE49-F238E27FC236}">
                <a16:creationId xmlns:a16="http://schemas.microsoft.com/office/drawing/2014/main" id="{BD6217FA-63A0-463C-A2AB-E3229F51A038}"/>
              </a:ext>
            </a:extLst>
          </p:cNvPr>
          <p:cNvSpPr>
            <a:spLocks noGrp="1"/>
          </p:cNvSpPr>
          <p:nvPr/>
        </p:nvSpPr>
        <p:spPr>
          <a:xfrm>
            <a:off x="6096000" y="3476625"/>
            <a:ext cx="266700" cy="209550"/>
          </a:xfrm>
          <a:prstGeom prst="rect">
            <a:avLst/>
          </a:prstGeom>
          <a:noFill/>
          <a:ln w="0">
            <a:noFill/>
            <a:prstDash val="solid"/>
          </a:ln>
        </p:spPr>
        <p:txBody>
          <a:bodyPr/>
          <a:lstStyle/>
          <a:p>
            <a:pPr algn="l">
              <a:defRPr sz="975" b="1">
                <a:solidFill>
                  <a:srgbClr val="6B4E8C"/>
                </a:solidFill>
              </a:defRPr>
            </a:pPr>
            <a:r>
              <a:rPr sz="975" b="1">
                <a:solidFill>
                  <a:srgbClr val="6B4E8C"/>
                </a:solidFill>
              </a:rPr>
              <a:t>2</a:t>
            </a:r>
          </a:p>
        </p:txBody>
      </p:sp>
      <p:sp>
        <p:nvSpPr>
          <p:cNvPr id="29" name="Rectangle 28">
            <a:extLst>
              <a:ext uri="{FF2B5EF4-FFF2-40B4-BE49-F238E27FC236}">
                <a16:creationId xmlns:a16="http://schemas.microsoft.com/office/drawing/2014/main" id="{F9365301-6BC2-49A8-97AE-7AC5CC8D8CCE}"/>
              </a:ext>
            </a:extLst>
          </p:cNvPr>
          <p:cNvSpPr>
            <a:spLocks noGrp="1"/>
          </p:cNvSpPr>
          <p:nvPr/>
        </p:nvSpPr>
        <p:spPr>
          <a:xfrm>
            <a:off x="6477000" y="3476625"/>
            <a:ext cx="4762500" cy="228600"/>
          </a:xfrm>
          <a:prstGeom prst="rect">
            <a:avLst/>
          </a:prstGeom>
          <a:noFill/>
          <a:ln w="0">
            <a:noFill/>
            <a:prstDash val="solid"/>
          </a:ln>
        </p:spPr>
        <p:txBody>
          <a:bodyPr/>
          <a:lstStyle/>
          <a:p>
            <a:pPr algn="l">
              <a:defRPr sz="1200" b="0">
                <a:solidFill>
                  <a:srgbClr val="35445B"/>
                </a:solidFill>
              </a:defRPr>
            </a:pPr>
            <a:r>
              <a:rPr sz="1200" b="0">
                <a:solidFill>
                  <a:srgbClr val="35445B"/>
                </a:solidFill>
              </a:rPr>
              <a:t>Effective and termination dates</a:t>
            </a:r>
          </a:p>
        </p:txBody>
      </p:sp>
      <p:sp>
        <p:nvSpPr>
          <p:cNvPr id="30" name="Rectangle 29">
            <a:extLst>
              <a:ext uri="{FF2B5EF4-FFF2-40B4-BE49-F238E27FC236}">
                <a16:creationId xmlns:a16="http://schemas.microsoft.com/office/drawing/2014/main" id="{CC0E4B29-A066-4EC4-89E7-F17F81C058E1}"/>
              </a:ext>
            </a:extLst>
          </p:cNvPr>
          <p:cNvSpPr>
            <a:spLocks noGrp="1"/>
          </p:cNvSpPr>
          <p:nvPr/>
        </p:nvSpPr>
        <p:spPr>
          <a:xfrm>
            <a:off x="571500" y="4010025"/>
            <a:ext cx="266700" cy="209550"/>
          </a:xfrm>
          <a:prstGeom prst="rect">
            <a:avLst/>
          </a:prstGeom>
          <a:noFill/>
          <a:ln w="0">
            <a:noFill/>
            <a:prstDash val="solid"/>
          </a:ln>
        </p:spPr>
        <p:txBody>
          <a:bodyPr/>
          <a:lstStyle/>
          <a:p>
            <a:pPr algn="l">
              <a:defRPr sz="975" b="1">
                <a:solidFill>
                  <a:srgbClr val="6B4E8C"/>
                </a:solidFill>
              </a:defRPr>
            </a:pPr>
            <a:r>
              <a:rPr sz="975" b="1">
                <a:solidFill>
                  <a:srgbClr val="6B4E8C"/>
                </a:solidFill>
              </a:rPr>
              <a:t>3</a:t>
            </a:r>
          </a:p>
        </p:txBody>
      </p:sp>
      <p:sp>
        <p:nvSpPr>
          <p:cNvPr id="31" name="Rectangle 30">
            <a:extLst>
              <a:ext uri="{FF2B5EF4-FFF2-40B4-BE49-F238E27FC236}">
                <a16:creationId xmlns:a16="http://schemas.microsoft.com/office/drawing/2014/main" id="{F10A48C2-341D-49AB-BAD6-B9432421C9E5}"/>
              </a:ext>
            </a:extLst>
          </p:cNvPr>
          <p:cNvSpPr>
            <a:spLocks noGrp="1"/>
          </p:cNvSpPr>
          <p:nvPr/>
        </p:nvSpPr>
        <p:spPr>
          <a:xfrm>
            <a:off x="952500" y="4010025"/>
            <a:ext cx="4762500" cy="228600"/>
          </a:xfrm>
          <a:prstGeom prst="rect">
            <a:avLst/>
          </a:prstGeom>
          <a:noFill/>
          <a:ln w="0">
            <a:noFill/>
            <a:prstDash val="solid"/>
          </a:ln>
        </p:spPr>
        <p:txBody>
          <a:bodyPr/>
          <a:lstStyle/>
          <a:p>
            <a:pPr algn="l">
              <a:defRPr sz="1200" b="0">
                <a:solidFill>
                  <a:srgbClr val="35445B"/>
                </a:solidFill>
              </a:defRPr>
            </a:pPr>
            <a:r>
              <a:rPr sz="1200" b="0">
                <a:solidFill>
                  <a:srgbClr val="35445B"/>
                </a:solidFill>
              </a:rPr>
              <a:t>Version and correction relationships</a:t>
            </a:r>
          </a:p>
        </p:txBody>
      </p:sp>
      <p:sp>
        <p:nvSpPr>
          <p:cNvPr id="32" name="Rectangle 31">
            <a:extLst>
              <a:ext uri="{FF2B5EF4-FFF2-40B4-BE49-F238E27FC236}">
                <a16:creationId xmlns:a16="http://schemas.microsoft.com/office/drawing/2014/main" id="{F958478D-8345-4880-9643-5C49CAC08391}"/>
              </a:ext>
            </a:extLst>
          </p:cNvPr>
          <p:cNvSpPr>
            <a:spLocks noGrp="1"/>
          </p:cNvSpPr>
          <p:nvPr/>
        </p:nvSpPr>
        <p:spPr>
          <a:xfrm>
            <a:off x="6096000" y="4010025"/>
            <a:ext cx="266700" cy="209550"/>
          </a:xfrm>
          <a:prstGeom prst="rect">
            <a:avLst/>
          </a:prstGeom>
          <a:noFill/>
          <a:ln w="0">
            <a:noFill/>
            <a:prstDash val="solid"/>
          </a:ln>
        </p:spPr>
        <p:txBody>
          <a:bodyPr/>
          <a:lstStyle/>
          <a:p>
            <a:pPr algn="l">
              <a:defRPr sz="975" b="1">
                <a:solidFill>
                  <a:srgbClr val="6B4E8C"/>
                </a:solidFill>
              </a:defRPr>
            </a:pPr>
            <a:r>
              <a:rPr sz="975" b="1">
                <a:solidFill>
                  <a:srgbClr val="6B4E8C"/>
                </a:solidFill>
              </a:rPr>
              <a:t>4</a:t>
            </a:r>
          </a:p>
        </p:txBody>
      </p:sp>
      <p:sp>
        <p:nvSpPr>
          <p:cNvPr id="33" name="Rectangle 32">
            <a:extLst>
              <a:ext uri="{FF2B5EF4-FFF2-40B4-BE49-F238E27FC236}">
                <a16:creationId xmlns:a16="http://schemas.microsoft.com/office/drawing/2014/main" id="{87F73EE6-B1EE-4BF5-8F36-D46A43EC9647}"/>
              </a:ext>
            </a:extLst>
          </p:cNvPr>
          <p:cNvSpPr>
            <a:spLocks noGrp="1"/>
          </p:cNvSpPr>
          <p:nvPr/>
        </p:nvSpPr>
        <p:spPr>
          <a:xfrm>
            <a:off x="6477000" y="4010025"/>
            <a:ext cx="4762500" cy="228600"/>
          </a:xfrm>
          <a:prstGeom prst="rect">
            <a:avLst/>
          </a:prstGeom>
          <a:noFill/>
          <a:ln w="0">
            <a:noFill/>
            <a:prstDash val="solid"/>
          </a:ln>
        </p:spPr>
        <p:txBody>
          <a:bodyPr/>
          <a:lstStyle/>
          <a:p>
            <a:pPr algn="l">
              <a:defRPr sz="1200" b="0">
                <a:solidFill>
                  <a:srgbClr val="35445B"/>
                </a:solidFill>
              </a:defRPr>
            </a:pPr>
            <a:r>
              <a:rPr sz="1200" b="0">
                <a:solidFill>
                  <a:srgbClr val="35445B"/>
                </a:solidFill>
              </a:rPr>
              <a:t>Provision-level supersession</a:t>
            </a:r>
          </a:p>
        </p:txBody>
      </p:sp>
      <p:sp>
        <p:nvSpPr>
          <p:cNvPr id="34" name="Rectangle 33">
            <a:extLst>
              <a:ext uri="{FF2B5EF4-FFF2-40B4-BE49-F238E27FC236}">
                <a16:creationId xmlns:a16="http://schemas.microsoft.com/office/drawing/2014/main" id="{C7264AD2-6261-4B28-9DAC-0E0C252B03EC}"/>
              </a:ext>
            </a:extLst>
          </p:cNvPr>
          <p:cNvSpPr>
            <a:spLocks noGrp="1"/>
          </p:cNvSpPr>
          <p:nvPr/>
        </p:nvSpPr>
        <p:spPr>
          <a:xfrm>
            <a:off x="571500" y="4543425"/>
            <a:ext cx="266700" cy="209550"/>
          </a:xfrm>
          <a:prstGeom prst="rect">
            <a:avLst/>
          </a:prstGeom>
          <a:noFill/>
          <a:ln w="0">
            <a:noFill/>
            <a:prstDash val="solid"/>
          </a:ln>
        </p:spPr>
        <p:txBody>
          <a:bodyPr/>
          <a:lstStyle/>
          <a:p>
            <a:pPr algn="l">
              <a:defRPr sz="975" b="1">
                <a:solidFill>
                  <a:srgbClr val="6B4E8C"/>
                </a:solidFill>
              </a:defRPr>
            </a:pPr>
            <a:r>
              <a:rPr sz="975" b="1">
                <a:solidFill>
                  <a:srgbClr val="6B4E8C"/>
                </a:solidFill>
              </a:rPr>
              <a:t>5</a:t>
            </a:r>
          </a:p>
        </p:txBody>
      </p:sp>
      <p:sp>
        <p:nvSpPr>
          <p:cNvPr id="35" name="Rectangle 34">
            <a:extLst>
              <a:ext uri="{FF2B5EF4-FFF2-40B4-BE49-F238E27FC236}">
                <a16:creationId xmlns:a16="http://schemas.microsoft.com/office/drawing/2014/main" id="{F8D6099D-93F1-47C3-AFC4-82EBA2892B0B}"/>
              </a:ext>
            </a:extLst>
          </p:cNvPr>
          <p:cNvSpPr>
            <a:spLocks noGrp="1"/>
          </p:cNvSpPr>
          <p:nvPr/>
        </p:nvSpPr>
        <p:spPr>
          <a:xfrm>
            <a:off x="952500" y="4543425"/>
            <a:ext cx="4762500" cy="228600"/>
          </a:xfrm>
          <a:prstGeom prst="rect">
            <a:avLst/>
          </a:prstGeom>
          <a:noFill/>
          <a:ln w="0">
            <a:noFill/>
            <a:prstDash val="solid"/>
          </a:ln>
        </p:spPr>
        <p:txBody>
          <a:bodyPr/>
          <a:lstStyle/>
          <a:p>
            <a:pPr algn="l">
              <a:defRPr sz="1200" b="0">
                <a:solidFill>
                  <a:srgbClr val="35445B"/>
                </a:solidFill>
              </a:defRPr>
            </a:pPr>
            <a:r>
              <a:rPr sz="1200" b="0">
                <a:solidFill>
                  <a:srgbClr val="35445B"/>
                </a:solidFill>
              </a:rPr>
              <a:t>Parallel contract-chain separation</a:t>
            </a:r>
          </a:p>
        </p:txBody>
      </p:sp>
      <p:sp>
        <p:nvSpPr>
          <p:cNvPr id="36" name="Rectangle 35">
            <a:extLst>
              <a:ext uri="{FF2B5EF4-FFF2-40B4-BE49-F238E27FC236}">
                <a16:creationId xmlns:a16="http://schemas.microsoft.com/office/drawing/2014/main" id="{98B806D3-7053-4936-8CB2-BB420172DB88}"/>
              </a:ext>
            </a:extLst>
          </p:cNvPr>
          <p:cNvSpPr>
            <a:spLocks noGrp="1"/>
          </p:cNvSpPr>
          <p:nvPr/>
        </p:nvSpPr>
        <p:spPr>
          <a:xfrm>
            <a:off x="6096000" y="4543425"/>
            <a:ext cx="266700" cy="209550"/>
          </a:xfrm>
          <a:prstGeom prst="rect">
            <a:avLst/>
          </a:prstGeom>
          <a:noFill/>
          <a:ln w="0">
            <a:noFill/>
            <a:prstDash val="solid"/>
          </a:ln>
        </p:spPr>
        <p:txBody>
          <a:bodyPr/>
          <a:lstStyle/>
          <a:p>
            <a:pPr algn="l">
              <a:defRPr sz="975" b="1">
                <a:solidFill>
                  <a:srgbClr val="6B4E8C"/>
                </a:solidFill>
              </a:defRPr>
            </a:pPr>
            <a:r>
              <a:rPr sz="975" b="1">
                <a:solidFill>
                  <a:srgbClr val="6B4E8C"/>
                </a:solidFill>
              </a:rPr>
              <a:t>6</a:t>
            </a:r>
          </a:p>
        </p:txBody>
      </p:sp>
      <p:sp>
        <p:nvSpPr>
          <p:cNvPr id="37" name="Rectangle 36">
            <a:extLst>
              <a:ext uri="{FF2B5EF4-FFF2-40B4-BE49-F238E27FC236}">
                <a16:creationId xmlns:a16="http://schemas.microsoft.com/office/drawing/2014/main" id="{8DC7DB66-4D31-4415-A066-EA1C9161FECC}"/>
              </a:ext>
            </a:extLst>
          </p:cNvPr>
          <p:cNvSpPr>
            <a:spLocks noGrp="1"/>
          </p:cNvSpPr>
          <p:nvPr/>
        </p:nvSpPr>
        <p:spPr>
          <a:xfrm>
            <a:off x="6477000" y="4543425"/>
            <a:ext cx="4762500" cy="228600"/>
          </a:xfrm>
          <a:prstGeom prst="rect">
            <a:avLst/>
          </a:prstGeom>
          <a:noFill/>
          <a:ln w="0">
            <a:noFill/>
            <a:prstDash val="solid"/>
          </a:ln>
        </p:spPr>
        <p:txBody>
          <a:bodyPr/>
          <a:lstStyle/>
          <a:p>
            <a:pPr algn="l">
              <a:defRPr sz="1200" b="1">
                <a:solidFill>
                  <a:srgbClr val="35445B"/>
                </a:solidFill>
              </a:defRPr>
            </a:pPr>
            <a:r>
              <a:rPr sz="1200" b="1">
                <a:solidFill>
                  <a:srgbClr val="35445B"/>
                </a:solidFill>
              </a:rPr>
              <a:t>Current-effective status used by retrieval</a:t>
            </a:r>
          </a:p>
        </p:txBody>
      </p:sp>
      <p:sp>
        <p:nvSpPr>
          <p:cNvPr id="38" name="Rectangle 37">
            <a:extLst>
              <a:ext uri="{FF2B5EF4-FFF2-40B4-BE49-F238E27FC236}">
                <a16:creationId xmlns:a16="http://schemas.microsoft.com/office/drawing/2014/main" id="{5B13E287-2145-47B2-AFCF-5C39B6BBF2D1}"/>
              </a:ext>
            </a:extLst>
          </p:cNvPr>
          <p:cNvSpPr>
            <a:spLocks noGrp="1"/>
          </p:cNvSpPr>
          <p:nvPr/>
        </p:nvSpPr>
        <p:spPr>
          <a:xfrm>
            <a:off x="571500" y="5286375"/>
            <a:ext cx="11049000" cy="9525"/>
          </a:xfrm>
          <a:prstGeom prst="rect">
            <a:avLst/>
          </a:prstGeom>
          <a:solidFill>
            <a:srgbClr val="D8DEE8"/>
          </a:solidFill>
          <a:ln w="0">
            <a:noFill/>
            <a:prstDash val="solid"/>
          </a:ln>
        </p:spPr>
        <p:txBody>
          <a:bodyPr/>
          <a:lstStyle/>
          <a:p>
            <a:endParaRPr lang="en-IN"/>
          </a:p>
        </p:txBody>
      </p:sp>
      <p:sp>
        <p:nvSpPr>
          <p:cNvPr id="39" name="Rectangle 38">
            <a:extLst>
              <a:ext uri="{FF2B5EF4-FFF2-40B4-BE49-F238E27FC236}">
                <a16:creationId xmlns:a16="http://schemas.microsoft.com/office/drawing/2014/main" id="{4F68F0BE-A70F-4692-B7BD-2490BA362214}"/>
              </a:ext>
            </a:extLst>
          </p:cNvPr>
          <p:cNvSpPr>
            <a:spLocks noGrp="1"/>
          </p:cNvSpPr>
          <p:nvPr/>
        </p:nvSpPr>
        <p:spPr>
          <a:xfrm>
            <a:off x="571500" y="5524500"/>
            <a:ext cx="1905000" cy="228600"/>
          </a:xfrm>
          <a:prstGeom prst="rect">
            <a:avLst/>
          </a:prstGeom>
          <a:noFill/>
          <a:ln w="0">
            <a:noFill/>
            <a:prstDash val="solid"/>
          </a:ln>
        </p:spPr>
        <p:txBody>
          <a:bodyPr/>
          <a:lstStyle/>
          <a:p>
            <a:pPr algn="l">
              <a:defRPr sz="1275" b="1">
                <a:solidFill>
                  <a:srgbClr val="132033"/>
                </a:solidFill>
              </a:defRPr>
            </a:pPr>
            <a:r>
              <a:rPr sz="1275" b="1">
                <a:solidFill>
                  <a:srgbClr val="132033"/>
                </a:solidFill>
              </a:rPr>
              <a:t>Data lineage</a:t>
            </a:r>
          </a:p>
        </p:txBody>
      </p:sp>
      <p:sp>
        <p:nvSpPr>
          <p:cNvPr id="40" name="Rectangle 39">
            <a:extLst>
              <a:ext uri="{FF2B5EF4-FFF2-40B4-BE49-F238E27FC236}">
                <a16:creationId xmlns:a16="http://schemas.microsoft.com/office/drawing/2014/main" id="{10ACB426-A979-4619-B1C9-4091D46A6995}"/>
              </a:ext>
            </a:extLst>
          </p:cNvPr>
          <p:cNvSpPr>
            <a:spLocks noGrp="1"/>
          </p:cNvSpPr>
          <p:nvPr/>
        </p:nvSpPr>
        <p:spPr>
          <a:xfrm>
            <a:off x="2476500" y="5524500"/>
            <a:ext cx="1619250" cy="228600"/>
          </a:xfrm>
          <a:prstGeom prst="rect">
            <a:avLst/>
          </a:prstGeom>
          <a:noFill/>
          <a:ln w="0">
            <a:noFill/>
            <a:prstDash val="solid"/>
          </a:ln>
        </p:spPr>
        <p:txBody>
          <a:bodyPr/>
          <a:lstStyle/>
          <a:p>
            <a:pPr algn="ctr">
              <a:defRPr sz="1200" b="1">
                <a:solidFill>
                  <a:srgbClr val="35445B"/>
                </a:solidFill>
              </a:defRPr>
            </a:pPr>
            <a:r>
              <a:rPr sz="1200" b="1">
                <a:solidFill>
                  <a:srgbClr val="35445B"/>
                </a:solidFill>
              </a:rPr>
              <a:t>Contract fact</a:t>
            </a:r>
          </a:p>
        </p:txBody>
      </p:sp>
      <p:sp>
        <p:nvSpPr>
          <p:cNvPr id="41" name="Rectangle 40">
            <a:extLst>
              <a:ext uri="{FF2B5EF4-FFF2-40B4-BE49-F238E27FC236}">
                <a16:creationId xmlns:a16="http://schemas.microsoft.com/office/drawing/2014/main" id="{275450FA-0E78-4E44-8281-351D180FC748}"/>
              </a:ext>
            </a:extLst>
          </p:cNvPr>
          <p:cNvSpPr>
            <a:spLocks noGrp="1"/>
          </p:cNvSpPr>
          <p:nvPr/>
        </p:nvSpPr>
        <p:spPr>
          <a:xfrm>
            <a:off x="4191000" y="5524500"/>
            <a:ext cx="285750" cy="228600"/>
          </a:xfrm>
          <a:prstGeom prst="rect">
            <a:avLst/>
          </a:prstGeom>
          <a:noFill/>
          <a:ln w="0">
            <a:noFill/>
            <a:prstDash val="solid"/>
          </a:ln>
        </p:spPr>
        <p:txBody>
          <a:bodyPr/>
          <a:lstStyle/>
          <a:p>
            <a:pPr algn="ctr">
              <a:defRPr sz="1350" b="1">
                <a:solidFill>
                  <a:srgbClr val="667389"/>
                </a:solidFill>
              </a:defRPr>
            </a:pPr>
            <a:r>
              <a:rPr sz="1350" b="1">
                <a:solidFill>
                  <a:srgbClr val="667389"/>
                </a:solidFill>
              </a:rPr>
              <a:t>+</a:t>
            </a:r>
          </a:p>
        </p:txBody>
      </p:sp>
      <p:sp>
        <p:nvSpPr>
          <p:cNvPr id="42" name="Rectangle 41">
            <a:extLst>
              <a:ext uri="{FF2B5EF4-FFF2-40B4-BE49-F238E27FC236}">
                <a16:creationId xmlns:a16="http://schemas.microsoft.com/office/drawing/2014/main" id="{8083E30E-CEB6-48CD-BEFF-9AD1F6D57FE0}"/>
              </a:ext>
            </a:extLst>
          </p:cNvPr>
          <p:cNvSpPr>
            <a:spLocks noGrp="1"/>
          </p:cNvSpPr>
          <p:nvPr/>
        </p:nvSpPr>
        <p:spPr>
          <a:xfrm>
            <a:off x="4572000" y="5524500"/>
            <a:ext cx="1809750" cy="228600"/>
          </a:xfrm>
          <a:prstGeom prst="rect">
            <a:avLst/>
          </a:prstGeom>
          <a:noFill/>
          <a:ln w="0">
            <a:noFill/>
            <a:prstDash val="solid"/>
          </a:ln>
        </p:spPr>
        <p:txBody>
          <a:bodyPr/>
          <a:lstStyle/>
          <a:p>
            <a:pPr algn="ctr">
              <a:defRPr sz="1200" b="1">
                <a:solidFill>
                  <a:srgbClr val="35445B"/>
                </a:solidFill>
              </a:defRPr>
            </a:pPr>
            <a:r>
              <a:rPr sz="1200" b="1">
                <a:solidFill>
                  <a:srgbClr val="35445B"/>
                </a:solidFill>
              </a:rPr>
              <a:t>State relationship</a:t>
            </a:r>
          </a:p>
        </p:txBody>
      </p:sp>
      <p:sp>
        <p:nvSpPr>
          <p:cNvPr id="43" name="Rectangle 42">
            <a:extLst>
              <a:ext uri="{FF2B5EF4-FFF2-40B4-BE49-F238E27FC236}">
                <a16:creationId xmlns:a16="http://schemas.microsoft.com/office/drawing/2014/main" id="{A97099F1-D134-4F43-A0DD-F8DB11458E0C}"/>
              </a:ext>
            </a:extLst>
          </p:cNvPr>
          <p:cNvSpPr>
            <a:spLocks noGrp="1"/>
          </p:cNvSpPr>
          <p:nvPr/>
        </p:nvSpPr>
        <p:spPr>
          <a:xfrm>
            <a:off x="6477000" y="5524500"/>
            <a:ext cx="285750" cy="228600"/>
          </a:xfrm>
          <a:prstGeom prst="rect">
            <a:avLst/>
          </a:prstGeom>
          <a:noFill/>
          <a:ln w="0">
            <a:noFill/>
            <a:prstDash val="solid"/>
          </a:ln>
        </p:spPr>
        <p:txBody>
          <a:bodyPr/>
          <a:lstStyle/>
          <a:p>
            <a:pPr algn="ctr">
              <a:defRPr sz="1350" b="1">
                <a:solidFill>
                  <a:srgbClr val="667389"/>
                </a:solidFill>
              </a:defRPr>
            </a:pPr>
            <a:r>
              <a:rPr sz="1350" b="1">
                <a:solidFill>
                  <a:srgbClr val="667389"/>
                </a:solidFill>
              </a:rPr>
              <a:t>+</a:t>
            </a:r>
          </a:p>
        </p:txBody>
      </p:sp>
      <p:sp>
        <p:nvSpPr>
          <p:cNvPr id="44" name="Rectangle 43">
            <a:extLst>
              <a:ext uri="{FF2B5EF4-FFF2-40B4-BE49-F238E27FC236}">
                <a16:creationId xmlns:a16="http://schemas.microsoft.com/office/drawing/2014/main" id="{5616FEEE-5D6F-4DA8-A05C-831613247AC1}"/>
              </a:ext>
            </a:extLst>
          </p:cNvPr>
          <p:cNvSpPr>
            <a:spLocks noGrp="1"/>
          </p:cNvSpPr>
          <p:nvPr/>
        </p:nvSpPr>
        <p:spPr>
          <a:xfrm>
            <a:off x="6858000" y="5524500"/>
            <a:ext cx="2190750" cy="228600"/>
          </a:xfrm>
          <a:prstGeom prst="rect">
            <a:avLst/>
          </a:prstGeom>
          <a:noFill/>
          <a:ln w="0">
            <a:noFill/>
            <a:prstDash val="solid"/>
          </a:ln>
        </p:spPr>
        <p:txBody>
          <a:bodyPr/>
          <a:lstStyle/>
          <a:p>
            <a:pPr algn="ctr">
              <a:defRPr sz="1200" b="1">
                <a:solidFill>
                  <a:srgbClr val="35445B"/>
                </a:solidFill>
              </a:defRPr>
            </a:pPr>
            <a:r>
              <a:rPr sz="1200" b="1">
                <a:solidFill>
                  <a:srgbClr val="35445B"/>
                </a:solidFill>
              </a:rPr>
              <a:t>Source document / page</a:t>
            </a:r>
          </a:p>
        </p:txBody>
      </p:sp>
      <p:sp>
        <p:nvSpPr>
          <p:cNvPr id="45" name="Rectangle 44">
            <a:extLst>
              <a:ext uri="{FF2B5EF4-FFF2-40B4-BE49-F238E27FC236}">
                <a16:creationId xmlns:a16="http://schemas.microsoft.com/office/drawing/2014/main" id="{8D209EAE-3326-493A-9DD1-34186D1627B3}"/>
              </a:ext>
            </a:extLst>
          </p:cNvPr>
          <p:cNvSpPr>
            <a:spLocks noGrp="1"/>
          </p:cNvSpPr>
          <p:nvPr/>
        </p:nvSpPr>
        <p:spPr>
          <a:xfrm>
            <a:off x="9144000" y="5524500"/>
            <a:ext cx="285750" cy="228600"/>
          </a:xfrm>
          <a:prstGeom prst="rect">
            <a:avLst/>
          </a:prstGeom>
          <a:noFill/>
          <a:ln w="0">
            <a:noFill/>
            <a:prstDash val="solid"/>
          </a:ln>
        </p:spPr>
        <p:txBody>
          <a:bodyPr/>
          <a:lstStyle/>
          <a:p>
            <a:pPr algn="ctr">
              <a:defRPr sz="1350" b="1">
                <a:solidFill>
                  <a:srgbClr val="667389"/>
                </a:solidFill>
              </a:defRPr>
            </a:pPr>
            <a:r>
              <a:rPr sz="1350" b="1">
                <a:solidFill>
                  <a:srgbClr val="667389"/>
                </a:solidFill>
              </a:rPr>
              <a:t>=</a:t>
            </a:r>
          </a:p>
        </p:txBody>
      </p:sp>
      <p:sp>
        <p:nvSpPr>
          <p:cNvPr id="46" name="Rectangle 45">
            <a:extLst>
              <a:ext uri="{FF2B5EF4-FFF2-40B4-BE49-F238E27FC236}">
                <a16:creationId xmlns:a16="http://schemas.microsoft.com/office/drawing/2014/main" id="{B910F263-6FEA-4784-956A-E86F6692088F}"/>
              </a:ext>
            </a:extLst>
          </p:cNvPr>
          <p:cNvSpPr>
            <a:spLocks noGrp="1"/>
          </p:cNvSpPr>
          <p:nvPr/>
        </p:nvSpPr>
        <p:spPr>
          <a:xfrm>
            <a:off x="9525000" y="5524500"/>
            <a:ext cx="1905000" cy="228600"/>
          </a:xfrm>
          <a:prstGeom prst="rect">
            <a:avLst/>
          </a:prstGeom>
          <a:noFill/>
          <a:ln w="0">
            <a:noFill/>
            <a:prstDash val="solid"/>
          </a:ln>
        </p:spPr>
        <p:txBody>
          <a:bodyPr/>
          <a:lstStyle/>
          <a:p>
            <a:pPr algn="ctr">
              <a:defRPr sz="1200" b="1">
                <a:solidFill>
                  <a:srgbClr val="2D7D5B"/>
                </a:solidFill>
              </a:defRPr>
            </a:pPr>
            <a:r>
              <a:rPr sz="1200" b="1">
                <a:solidFill>
                  <a:srgbClr val="2D7D5B"/>
                </a:solidFill>
              </a:rPr>
              <a:t>Defensible answer</a:t>
            </a:r>
          </a:p>
        </p:txBody>
      </p:sp>
      <p:sp>
        <p:nvSpPr>
          <p:cNvPr id="47" name="Rectangle: Rounded Corners 46">
            <a:extLst>
              <a:ext uri="{FF2B5EF4-FFF2-40B4-BE49-F238E27FC236}">
                <a16:creationId xmlns:a16="http://schemas.microsoft.com/office/drawing/2014/main" id="{B7A4ED5E-89D1-4041-8BF9-9A5D563F71B9}"/>
              </a:ext>
            </a:extLst>
          </p:cNvPr>
          <p:cNvSpPr>
            <a:spLocks noGrp="1"/>
          </p:cNvSpPr>
          <p:nvPr/>
        </p:nvSpPr>
        <p:spPr>
          <a:xfrm>
            <a:off x="2381250" y="6000750"/>
            <a:ext cx="7429500" cy="381000"/>
          </a:xfrm>
          <a:prstGeom prst="roundRect">
            <a:avLst>
              <a:gd name="adj" fmla="val 10000"/>
            </a:avLst>
          </a:prstGeom>
          <a:solidFill>
            <a:srgbClr val="F1ECF6"/>
          </a:solidFill>
          <a:ln w="9525">
            <a:solidFill>
              <a:srgbClr val="6B4E8C"/>
            </a:solidFill>
            <a:prstDash val="solid"/>
          </a:ln>
        </p:spPr>
        <p:txBody>
          <a:bodyPr/>
          <a:lstStyle/>
          <a:p>
            <a:endParaRPr lang="en-IN"/>
          </a:p>
        </p:txBody>
      </p:sp>
      <p:sp>
        <p:nvSpPr>
          <p:cNvPr id="48" name="Rectangle 47">
            <a:extLst>
              <a:ext uri="{FF2B5EF4-FFF2-40B4-BE49-F238E27FC236}">
                <a16:creationId xmlns:a16="http://schemas.microsoft.com/office/drawing/2014/main" id="{A83AF526-610E-4EE4-A1F3-908F0BF49C15}"/>
              </a:ext>
            </a:extLst>
          </p:cNvPr>
          <p:cNvSpPr>
            <a:spLocks noGrp="1"/>
          </p:cNvSpPr>
          <p:nvPr/>
        </p:nvSpPr>
        <p:spPr>
          <a:xfrm>
            <a:off x="2381250" y="6000750"/>
            <a:ext cx="57150" cy="381000"/>
          </a:xfrm>
          <a:prstGeom prst="rect">
            <a:avLst/>
          </a:prstGeom>
          <a:solidFill>
            <a:srgbClr val="6B4E8C"/>
          </a:solidFill>
          <a:ln w="0">
            <a:noFill/>
            <a:prstDash val="solid"/>
          </a:ln>
        </p:spPr>
        <p:txBody>
          <a:bodyPr/>
          <a:lstStyle/>
          <a:p>
            <a:endParaRPr lang="en-IN"/>
          </a:p>
        </p:txBody>
      </p:sp>
      <p:sp>
        <p:nvSpPr>
          <p:cNvPr id="49" name="Rectangle 48">
            <a:extLst>
              <a:ext uri="{FF2B5EF4-FFF2-40B4-BE49-F238E27FC236}">
                <a16:creationId xmlns:a16="http://schemas.microsoft.com/office/drawing/2014/main" id="{CEE7C1B7-224C-4627-A6D5-CA54B50550CE}"/>
              </a:ext>
            </a:extLst>
          </p:cNvPr>
          <p:cNvSpPr>
            <a:spLocks noGrp="1"/>
          </p:cNvSpPr>
          <p:nvPr/>
        </p:nvSpPr>
        <p:spPr>
          <a:xfrm>
            <a:off x="2590800" y="6124575"/>
            <a:ext cx="7067550" cy="209550"/>
          </a:xfrm>
          <a:prstGeom prst="rect">
            <a:avLst/>
          </a:prstGeom>
          <a:noFill/>
          <a:ln w="0">
            <a:noFill/>
            <a:prstDash val="solid"/>
          </a:ln>
        </p:spPr>
        <p:txBody>
          <a:bodyPr/>
          <a:lstStyle/>
          <a:p>
            <a:pPr algn="l">
              <a:defRPr sz="1275" b="1">
                <a:solidFill>
                  <a:srgbClr val="132033"/>
                </a:solidFill>
              </a:defRPr>
            </a:pPr>
            <a:r>
              <a:rPr sz="1275" b="1">
                <a:solidFill>
                  <a:srgbClr val="132033"/>
                </a:solidFill>
              </a:rPr>
              <a:t>Implication: retrieval returns what is relevant and what is valid now.</a:t>
            </a:r>
          </a:p>
        </p:txBody>
      </p:sp>
    </p:spTree>
    <p:extLst>
      <p:ext uri="{BB962C8B-B14F-4D97-AF65-F5344CB8AC3E}">
        <p14:creationId xmlns:p14="http://schemas.microsoft.com/office/powerpoint/2010/main" val="1701584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 name="section">
            <a:extLst>
              <a:ext uri="{FF2B5EF4-FFF2-40B4-BE49-F238E27FC236}">
                <a16:creationId xmlns:a16="http://schemas.microsoft.com/office/drawing/2014/main" id="{9B16EF2F-ED00-4F5D-9DFC-BB8F2FDCB611}"/>
              </a:ext>
            </a:extLst>
          </p:cNvPr>
          <p:cNvSpPr>
            <a:spLocks noGrp="1"/>
          </p:cNvSpPr>
          <p:nvPr/>
        </p:nvSpPr>
        <p:spPr>
          <a:xfrm>
            <a:off x="457200" y="209550"/>
            <a:ext cx="6858000" cy="190500"/>
          </a:xfrm>
          <a:prstGeom prst="rect">
            <a:avLst/>
          </a:prstGeom>
          <a:noFill/>
          <a:ln w="0">
            <a:noFill/>
            <a:prstDash val="solid"/>
          </a:ln>
        </p:spPr>
        <p:txBody>
          <a:bodyPr/>
          <a:lstStyle/>
          <a:p>
            <a:pPr algn="l">
              <a:defRPr sz="825" b="1">
                <a:solidFill>
                  <a:srgbClr val="007A78"/>
                </a:solidFill>
              </a:defRPr>
            </a:pPr>
            <a:r>
              <a:rPr sz="825" b="1">
                <a:solidFill>
                  <a:srgbClr val="007A78"/>
                </a:solidFill>
              </a:rPr>
              <a:t>RETRIEVAL ARCHITECTURE</a:t>
            </a:r>
          </a:p>
        </p:txBody>
      </p:sp>
      <p:sp>
        <p:nvSpPr>
          <p:cNvPr id="2" name="slide-title">
            <a:extLst>
              <a:ext uri="{FF2B5EF4-FFF2-40B4-BE49-F238E27FC236}">
                <a16:creationId xmlns:a16="http://schemas.microsoft.com/office/drawing/2014/main" id="{2D8E8158-9499-43DC-9172-0DD62F25E81D}"/>
              </a:ext>
            </a:extLst>
          </p:cNvPr>
          <p:cNvSpPr>
            <a:spLocks noGrp="1"/>
          </p:cNvSpPr>
          <p:nvPr/>
        </p:nvSpPr>
        <p:spPr>
          <a:xfrm>
            <a:off x="457200" y="457200"/>
            <a:ext cx="11220450" cy="457200"/>
          </a:xfrm>
          <a:prstGeom prst="rect">
            <a:avLst/>
          </a:prstGeom>
          <a:noFill/>
          <a:ln w="0">
            <a:noFill/>
            <a:prstDash val="solid"/>
          </a:ln>
        </p:spPr>
        <p:txBody>
          <a:bodyPr/>
          <a:lstStyle/>
          <a:p>
            <a:pPr algn="l">
              <a:defRPr sz="2625" b="1">
                <a:solidFill>
                  <a:srgbClr val="132033"/>
                </a:solidFill>
              </a:defRPr>
            </a:pPr>
            <a:r>
              <a:rPr sz="2625" b="1">
                <a:solidFill>
                  <a:srgbClr val="132033"/>
                </a:solidFill>
              </a:rPr>
              <a:t>Four retrieval channels recover complete evidence</a:t>
            </a:r>
          </a:p>
        </p:txBody>
      </p:sp>
      <p:sp>
        <p:nvSpPr>
          <p:cNvPr id="3" name="Rectangle 2">
            <a:extLst>
              <a:ext uri="{FF2B5EF4-FFF2-40B4-BE49-F238E27FC236}">
                <a16:creationId xmlns:a16="http://schemas.microsoft.com/office/drawing/2014/main" id="{EC73851C-01DB-4B39-B08B-F387CA65EF8D}"/>
              </a:ext>
            </a:extLst>
          </p:cNvPr>
          <p:cNvSpPr>
            <a:spLocks noGrp="1"/>
          </p:cNvSpPr>
          <p:nvPr/>
        </p:nvSpPr>
        <p:spPr>
          <a:xfrm>
            <a:off x="457200" y="990600"/>
            <a:ext cx="11277600" cy="9525"/>
          </a:xfrm>
          <a:prstGeom prst="rect">
            <a:avLst/>
          </a:prstGeom>
          <a:solidFill>
            <a:srgbClr val="D8DEE8"/>
          </a:solidFill>
          <a:ln w="0">
            <a:noFill/>
            <a:prstDash val="solid"/>
          </a:ln>
        </p:spPr>
        <p:txBody>
          <a:bodyPr/>
          <a:lstStyle/>
          <a:p>
            <a:endParaRPr lang="en-IN"/>
          </a:p>
        </p:txBody>
      </p:sp>
      <p:sp>
        <p:nvSpPr>
          <p:cNvPr id="4" name="visible-source">
            <a:extLst>
              <a:ext uri="{FF2B5EF4-FFF2-40B4-BE49-F238E27FC236}">
                <a16:creationId xmlns:a16="http://schemas.microsoft.com/office/drawing/2014/main" id="{4F4D2469-174C-49B6-AD8D-3CFBA54896EB}"/>
              </a:ext>
            </a:extLst>
          </p:cNvPr>
          <p:cNvSpPr>
            <a:spLocks noGrp="1"/>
          </p:cNvSpPr>
          <p:nvPr/>
        </p:nvSpPr>
        <p:spPr>
          <a:xfrm>
            <a:off x="457200" y="6524625"/>
            <a:ext cx="9334500" cy="142875"/>
          </a:xfrm>
          <a:prstGeom prst="rect">
            <a:avLst/>
          </a:prstGeom>
          <a:noFill/>
          <a:ln w="0">
            <a:noFill/>
            <a:prstDash val="solid"/>
          </a:ln>
        </p:spPr>
        <p:txBody>
          <a:bodyPr/>
          <a:lstStyle/>
          <a:p>
            <a:pPr algn="l">
              <a:defRPr sz="675" b="0">
                <a:solidFill>
                  <a:srgbClr val="667389"/>
                </a:solidFill>
              </a:defRPr>
            </a:pPr>
            <a:r>
              <a:rPr sz="675" b="0">
                <a:solidFill>
                  <a:srgbClr val="667389"/>
                </a:solidFill>
              </a:rPr>
              <a:t>Source: Pipeline and application documentation</a:t>
            </a:r>
          </a:p>
        </p:txBody>
      </p:sp>
      <p:sp>
        <p:nvSpPr>
          <p:cNvPr id="5" name="page">
            <a:extLst>
              <a:ext uri="{FF2B5EF4-FFF2-40B4-BE49-F238E27FC236}">
                <a16:creationId xmlns:a16="http://schemas.microsoft.com/office/drawing/2014/main" id="{0B299435-7B52-4B37-8D95-880970CACF0D}"/>
              </a:ext>
            </a:extLst>
          </p:cNvPr>
          <p:cNvSpPr>
            <a:spLocks noGrp="1"/>
          </p:cNvSpPr>
          <p:nvPr/>
        </p:nvSpPr>
        <p:spPr>
          <a:xfrm>
            <a:off x="11220450" y="6496050"/>
            <a:ext cx="514350" cy="171450"/>
          </a:xfrm>
          <a:prstGeom prst="rect">
            <a:avLst/>
          </a:prstGeom>
          <a:noFill/>
          <a:ln w="0">
            <a:noFill/>
            <a:prstDash val="solid"/>
          </a:ln>
        </p:spPr>
        <p:txBody>
          <a:bodyPr/>
          <a:lstStyle/>
          <a:p>
            <a:pPr algn="r">
              <a:defRPr sz="750" b="1">
                <a:solidFill>
                  <a:srgbClr val="667389"/>
                </a:solidFill>
              </a:defRPr>
            </a:pPr>
            <a:r>
              <a:rPr sz="750" b="1">
                <a:solidFill>
                  <a:srgbClr val="667389"/>
                </a:solidFill>
              </a:rPr>
              <a:t>07</a:t>
            </a:r>
          </a:p>
        </p:txBody>
      </p:sp>
      <p:sp>
        <p:nvSpPr>
          <p:cNvPr id="6" name="Rectangle: Rounded Corners 5">
            <a:extLst>
              <a:ext uri="{FF2B5EF4-FFF2-40B4-BE49-F238E27FC236}">
                <a16:creationId xmlns:a16="http://schemas.microsoft.com/office/drawing/2014/main" id="{C543B7F2-B924-4E84-BD7B-8775E89652AF}"/>
              </a:ext>
            </a:extLst>
          </p:cNvPr>
          <p:cNvSpPr>
            <a:spLocks noGrp="1"/>
          </p:cNvSpPr>
          <p:nvPr/>
        </p:nvSpPr>
        <p:spPr>
          <a:xfrm>
            <a:off x="457200" y="1524000"/>
            <a:ext cx="2647950" cy="2628900"/>
          </a:xfrm>
          <a:prstGeom prst="roundRect">
            <a:avLst>
              <a:gd name="adj" fmla="val 1449"/>
            </a:avLst>
          </a:prstGeom>
          <a:solidFill>
            <a:srgbClr val="FFFFFF"/>
          </a:solidFill>
          <a:ln w="9525">
            <a:solidFill>
              <a:srgbClr val="1769AA"/>
            </a:solidFill>
            <a:prstDash val="solid"/>
          </a:ln>
        </p:spPr>
        <p:txBody>
          <a:bodyPr/>
          <a:lstStyle/>
          <a:p>
            <a:endParaRPr lang="en-IN"/>
          </a:p>
        </p:txBody>
      </p:sp>
      <p:sp>
        <p:nvSpPr>
          <p:cNvPr id="7" name="Rectangle 6">
            <a:extLst>
              <a:ext uri="{FF2B5EF4-FFF2-40B4-BE49-F238E27FC236}">
                <a16:creationId xmlns:a16="http://schemas.microsoft.com/office/drawing/2014/main" id="{5FABB769-4D49-4B91-A7D6-D49405519E3E}"/>
              </a:ext>
            </a:extLst>
          </p:cNvPr>
          <p:cNvSpPr>
            <a:spLocks noGrp="1"/>
          </p:cNvSpPr>
          <p:nvPr/>
        </p:nvSpPr>
        <p:spPr>
          <a:xfrm>
            <a:off x="457200" y="1524000"/>
            <a:ext cx="2647950" cy="76200"/>
          </a:xfrm>
          <a:prstGeom prst="rect">
            <a:avLst/>
          </a:prstGeom>
          <a:solidFill>
            <a:srgbClr val="1769AA"/>
          </a:solidFill>
          <a:ln w="0">
            <a:noFill/>
            <a:prstDash val="solid"/>
          </a:ln>
        </p:spPr>
        <p:txBody>
          <a:bodyPr/>
          <a:lstStyle/>
          <a:p>
            <a:endParaRPr lang="en-IN"/>
          </a:p>
        </p:txBody>
      </p:sp>
      <p:sp>
        <p:nvSpPr>
          <p:cNvPr id="8" name="Rectangle 7">
            <a:extLst>
              <a:ext uri="{FF2B5EF4-FFF2-40B4-BE49-F238E27FC236}">
                <a16:creationId xmlns:a16="http://schemas.microsoft.com/office/drawing/2014/main" id="{DAE931D3-9373-464B-A044-1854F1A940DB}"/>
              </a:ext>
            </a:extLst>
          </p:cNvPr>
          <p:cNvSpPr>
            <a:spLocks noGrp="1"/>
          </p:cNvSpPr>
          <p:nvPr/>
        </p:nvSpPr>
        <p:spPr>
          <a:xfrm>
            <a:off x="628650" y="1790700"/>
            <a:ext cx="2305050" cy="209550"/>
          </a:xfrm>
          <a:prstGeom prst="rect">
            <a:avLst/>
          </a:prstGeom>
          <a:noFill/>
          <a:ln w="0">
            <a:noFill/>
            <a:prstDash val="solid"/>
          </a:ln>
        </p:spPr>
        <p:txBody>
          <a:bodyPr/>
          <a:lstStyle/>
          <a:p>
            <a:pPr algn="ctr">
              <a:defRPr sz="1125" b="1">
                <a:solidFill>
                  <a:srgbClr val="1769AA"/>
                </a:solidFill>
              </a:defRPr>
            </a:pPr>
            <a:r>
              <a:rPr sz="1125" b="1">
                <a:solidFill>
                  <a:srgbClr val="1769AA"/>
                </a:solidFill>
              </a:rPr>
              <a:t>SEMANTIC</a:t>
            </a:r>
          </a:p>
        </p:txBody>
      </p:sp>
      <p:sp>
        <p:nvSpPr>
          <p:cNvPr id="9" name="Rectangle 8">
            <a:extLst>
              <a:ext uri="{FF2B5EF4-FFF2-40B4-BE49-F238E27FC236}">
                <a16:creationId xmlns:a16="http://schemas.microsoft.com/office/drawing/2014/main" id="{FC541BED-F3EF-43FA-B367-BA36DE40EE96}"/>
              </a:ext>
            </a:extLst>
          </p:cNvPr>
          <p:cNvSpPr>
            <a:spLocks noGrp="1"/>
          </p:cNvSpPr>
          <p:nvPr/>
        </p:nvSpPr>
        <p:spPr>
          <a:xfrm>
            <a:off x="647700" y="2381250"/>
            <a:ext cx="2266950" cy="419100"/>
          </a:xfrm>
          <a:prstGeom prst="rect">
            <a:avLst/>
          </a:prstGeom>
          <a:noFill/>
          <a:ln w="0">
            <a:noFill/>
            <a:prstDash val="solid"/>
          </a:ln>
        </p:spPr>
        <p:txBody>
          <a:bodyPr/>
          <a:lstStyle/>
          <a:p>
            <a:pPr algn="ctr">
              <a:defRPr sz="1500" b="1">
                <a:solidFill>
                  <a:srgbClr val="132033"/>
                </a:solidFill>
              </a:defRPr>
            </a:pPr>
            <a:r>
              <a:rPr sz="1500" b="1">
                <a:solidFill>
                  <a:srgbClr val="132033"/>
                </a:solidFill>
              </a:rPr>
              <a:t>Equivalent meaning</a:t>
            </a:r>
          </a:p>
        </p:txBody>
      </p:sp>
      <p:sp>
        <p:nvSpPr>
          <p:cNvPr id="10" name="Rectangle 9">
            <a:extLst>
              <a:ext uri="{FF2B5EF4-FFF2-40B4-BE49-F238E27FC236}">
                <a16:creationId xmlns:a16="http://schemas.microsoft.com/office/drawing/2014/main" id="{E1EF7702-6780-4DD3-9946-32F1110DF7A2}"/>
              </a:ext>
            </a:extLst>
          </p:cNvPr>
          <p:cNvSpPr>
            <a:spLocks noGrp="1"/>
          </p:cNvSpPr>
          <p:nvPr/>
        </p:nvSpPr>
        <p:spPr>
          <a:xfrm>
            <a:off x="647700" y="3190875"/>
            <a:ext cx="2266950" cy="438150"/>
          </a:xfrm>
          <a:prstGeom prst="rect">
            <a:avLst/>
          </a:prstGeom>
          <a:noFill/>
          <a:ln w="0">
            <a:noFill/>
            <a:prstDash val="solid"/>
          </a:ln>
        </p:spPr>
        <p:txBody>
          <a:bodyPr/>
          <a:lstStyle/>
          <a:p>
            <a:pPr algn="ctr">
              <a:defRPr sz="1200" b="0">
                <a:solidFill>
                  <a:srgbClr val="667389"/>
                </a:solidFill>
              </a:defRPr>
            </a:pPr>
            <a:r>
              <a:rPr sz="1200" b="0">
                <a:solidFill>
                  <a:srgbClr val="667389"/>
                </a:solidFill>
              </a:rPr>
              <a:t>Varied legal language</a:t>
            </a:r>
          </a:p>
        </p:txBody>
      </p:sp>
      <p:sp>
        <p:nvSpPr>
          <p:cNvPr id="11" name="Rectangle: Rounded Corners 10">
            <a:extLst>
              <a:ext uri="{FF2B5EF4-FFF2-40B4-BE49-F238E27FC236}">
                <a16:creationId xmlns:a16="http://schemas.microsoft.com/office/drawing/2014/main" id="{F3C5FCF6-A2C4-4625-B7E9-2B11E6B10139}"/>
              </a:ext>
            </a:extLst>
          </p:cNvPr>
          <p:cNvSpPr>
            <a:spLocks noGrp="1"/>
          </p:cNvSpPr>
          <p:nvPr/>
        </p:nvSpPr>
        <p:spPr>
          <a:xfrm>
            <a:off x="3333750" y="1524000"/>
            <a:ext cx="2647950" cy="2628900"/>
          </a:xfrm>
          <a:prstGeom prst="roundRect">
            <a:avLst>
              <a:gd name="adj" fmla="val 1449"/>
            </a:avLst>
          </a:prstGeom>
          <a:solidFill>
            <a:srgbClr val="FFFFFF"/>
          </a:solidFill>
          <a:ln w="9525">
            <a:solidFill>
              <a:srgbClr val="6B4E8C"/>
            </a:solidFill>
            <a:prstDash val="solid"/>
          </a:ln>
        </p:spPr>
        <p:txBody>
          <a:bodyPr/>
          <a:lstStyle/>
          <a:p>
            <a:endParaRPr lang="en-IN"/>
          </a:p>
        </p:txBody>
      </p:sp>
      <p:sp>
        <p:nvSpPr>
          <p:cNvPr id="12" name="Rectangle 11">
            <a:extLst>
              <a:ext uri="{FF2B5EF4-FFF2-40B4-BE49-F238E27FC236}">
                <a16:creationId xmlns:a16="http://schemas.microsoft.com/office/drawing/2014/main" id="{D04E80BB-3E8A-48FE-8730-9740B9965D6D}"/>
              </a:ext>
            </a:extLst>
          </p:cNvPr>
          <p:cNvSpPr>
            <a:spLocks noGrp="1"/>
          </p:cNvSpPr>
          <p:nvPr/>
        </p:nvSpPr>
        <p:spPr>
          <a:xfrm>
            <a:off x="3333750" y="1524000"/>
            <a:ext cx="2647950" cy="76200"/>
          </a:xfrm>
          <a:prstGeom prst="rect">
            <a:avLst/>
          </a:prstGeom>
          <a:solidFill>
            <a:srgbClr val="6B4E8C"/>
          </a:solidFill>
          <a:ln w="0">
            <a:noFill/>
            <a:prstDash val="solid"/>
          </a:ln>
        </p:spPr>
        <p:txBody>
          <a:bodyPr/>
          <a:lstStyle/>
          <a:p>
            <a:endParaRPr lang="en-IN"/>
          </a:p>
        </p:txBody>
      </p:sp>
      <p:sp>
        <p:nvSpPr>
          <p:cNvPr id="13" name="Rectangle 12">
            <a:extLst>
              <a:ext uri="{FF2B5EF4-FFF2-40B4-BE49-F238E27FC236}">
                <a16:creationId xmlns:a16="http://schemas.microsoft.com/office/drawing/2014/main" id="{6CB1B7F6-6194-47A7-A262-8C4317E473E8}"/>
              </a:ext>
            </a:extLst>
          </p:cNvPr>
          <p:cNvSpPr>
            <a:spLocks noGrp="1"/>
          </p:cNvSpPr>
          <p:nvPr/>
        </p:nvSpPr>
        <p:spPr>
          <a:xfrm>
            <a:off x="3505200" y="1790700"/>
            <a:ext cx="2305050" cy="209550"/>
          </a:xfrm>
          <a:prstGeom prst="rect">
            <a:avLst/>
          </a:prstGeom>
          <a:noFill/>
          <a:ln w="0">
            <a:noFill/>
            <a:prstDash val="solid"/>
          </a:ln>
        </p:spPr>
        <p:txBody>
          <a:bodyPr/>
          <a:lstStyle/>
          <a:p>
            <a:pPr algn="ctr">
              <a:defRPr sz="1125" b="1">
                <a:solidFill>
                  <a:srgbClr val="6B4E8C"/>
                </a:solidFill>
              </a:defRPr>
            </a:pPr>
            <a:r>
              <a:rPr sz="1125" b="1">
                <a:solidFill>
                  <a:srgbClr val="6B4E8C"/>
                </a:solidFill>
              </a:rPr>
              <a:t>LEXICAL</a:t>
            </a:r>
          </a:p>
        </p:txBody>
      </p:sp>
      <p:sp>
        <p:nvSpPr>
          <p:cNvPr id="14" name="Rectangle 13">
            <a:extLst>
              <a:ext uri="{FF2B5EF4-FFF2-40B4-BE49-F238E27FC236}">
                <a16:creationId xmlns:a16="http://schemas.microsoft.com/office/drawing/2014/main" id="{4C644A1A-7224-4C61-9939-8266E5120C25}"/>
              </a:ext>
            </a:extLst>
          </p:cNvPr>
          <p:cNvSpPr>
            <a:spLocks noGrp="1"/>
          </p:cNvSpPr>
          <p:nvPr/>
        </p:nvSpPr>
        <p:spPr>
          <a:xfrm>
            <a:off x="3524250" y="2381250"/>
            <a:ext cx="2266950" cy="419100"/>
          </a:xfrm>
          <a:prstGeom prst="rect">
            <a:avLst/>
          </a:prstGeom>
          <a:noFill/>
          <a:ln w="0">
            <a:noFill/>
            <a:prstDash val="solid"/>
          </a:ln>
        </p:spPr>
        <p:txBody>
          <a:bodyPr/>
          <a:lstStyle/>
          <a:p>
            <a:pPr algn="ctr">
              <a:defRPr sz="1500" b="1">
                <a:solidFill>
                  <a:srgbClr val="132033"/>
                </a:solidFill>
              </a:defRPr>
            </a:pPr>
            <a:r>
              <a:rPr sz="1500" b="1">
                <a:solidFill>
                  <a:srgbClr val="132033"/>
                </a:solidFill>
              </a:rPr>
              <a:t>Exact terms and values</a:t>
            </a:r>
          </a:p>
        </p:txBody>
      </p:sp>
      <p:sp>
        <p:nvSpPr>
          <p:cNvPr id="15" name="Rectangle 14">
            <a:extLst>
              <a:ext uri="{FF2B5EF4-FFF2-40B4-BE49-F238E27FC236}">
                <a16:creationId xmlns:a16="http://schemas.microsoft.com/office/drawing/2014/main" id="{E3612FAA-914C-4B76-AFE5-2EF7B9B1727E}"/>
              </a:ext>
            </a:extLst>
          </p:cNvPr>
          <p:cNvSpPr>
            <a:spLocks noGrp="1"/>
          </p:cNvSpPr>
          <p:nvPr/>
        </p:nvSpPr>
        <p:spPr>
          <a:xfrm>
            <a:off x="3524250" y="3190875"/>
            <a:ext cx="2266950" cy="438150"/>
          </a:xfrm>
          <a:prstGeom prst="rect">
            <a:avLst/>
          </a:prstGeom>
          <a:noFill/>
          <a:ln w="0">
            <a:noFill/>
            <a:prstDash val="solid"/>
          </a:ln>
        </p:spPr>
        <p:txBody>
          <a:bodyPr/>
          <a:lstStyle/>
          <a:p>
            <a:pPr algn="ctr">
              <a:defRPr sz="1200" b="0">
                <a:solidFill>
                  <a:srgbClr val="667389"/>
                </a:solidFill>
              </a:defRPr>
            </a:pPr>
            <a:r>
              <a:rPr sz="1200" b="0">
                <a:solidFill>
                  <a:srgbClr val="667389"/>
                </a:solidFill>
              </a:rPr>
              <a:t>DRG • per diem • $2,847</a:t>
            </a:r>
          </a:p>
        </p:txBody>
      </p:sp>
      <p:sp>
        <p:nvSpPr>
          <p:cNvPr id="16" name="Rectangle: Rounded Corners 15">
            <a:extLst>
              <a:ext uri="{FF2B5EF4-FFF2-40B4-BE49-F238E27FC236}">
                <a16:creationId xmlns:a16="http://schemas.microsoft.com/office/drawing/2014/main" id="{F69AEBA4-8067-46E4-8830-9DC421E71AD9}"/>
              </a:ext>
            </a:extLst>
          </p:cNvPr>
          <p:cNvSpPr>
            <a:spLocks noGrp="1"/>
          </p:cNvSpPr>
          <p:nvPr/>
        </p:nvSpPr>
        <p:spPr>
          <a:xfrm>
            <a:off x="6210300" y="1524000"/>
            <a:ext cx="2647950" cy="2628900"/>
          </a:xfrm>
          <a:prstGeom prst="roundRect">
            <a:avLst>
              <a:gd name="adj" fmla="val 1449"/>
            </a:avLst>
          </a:prstGeom>
          <a:solidFill>
            <a:srgbClr val="FFFFFF"/>
          </a:solidFill>
          <a:ln w="9525">
            <a:solidFill>
              <a:srgbClr val="007A78"/>
            </a:solidFill>
            <a:prstDash val="solid"/>
          </a:ln>
        </p:spPr>
        <p:txBody>
          <a:bodyPr/>
          <a:lstStyle/>
          <a:p>
            <a:endParaRPr lang="en-IN"/>
          </a:p>
        </p:txBody>
      </p:sp>
      <p:sp>
        <p:nvSpPr>
          <p:cNvPr id="17" name="Rectangle 16">
            <a:extLst>
              <a:ext uri="{FF2B5EF4-FFF2-40B4-BE49-F238E27FC236}">
                <a16:creationId xmlns:a16="http://schemas.microsoft.com/office/drawing/2014/main" id="{5CEB09CF-4CE4-4E50-813B-7CB2A418C6FB}"/>
              </a:ext>
            </a:extLst>
          </p:cNvPr>
          <p:cNvSpPr>
            <a:spLocks noGrp="1"/>
          </p:cNvSpPr>
          <p:nvPr/>
        </p:nvSpPr>
        <p:spPr>
          <a:xfrm>
            <a:off x="6210300" y="1524000"/>
            <a:ext cx="2647950" cy="76200"/>
          </a:xfrm>
          <a:prstGeom prst="rect">
            <a:avLst/>
          </a:prstGeom>
          <a:solidFill>
            <a:srgbClr val="007A78"/>
          </a:solidFill>
          <a:ln w="0">
            <a:noFill/>
            <a:prstDash val="solid"/>
          </a:ln>
        </p:spPr>
        <p:txBody>
          <a:bodyPr/>
          <a:lstStyle/>
          <a:p>
            <a:endParaRPr lang="en-IN"/>
          </a:p>
        </p:txBody>
      </p:sp>
      <p:sp>
        <p:nvSpPr>
          <p:cNvPr id="18" name="Rectangle 17">
            <a:extLst>
              <a:ext uri="{FF2B5EF4-FFF2-40B4-BE49-F238E27FC236}">
                <a16:creationId xmlns:a16="http://schemas.microsoft.com/office/drawing/2014/main" id="{6EFC6B9D-CC33-40D2-A704-76780E388372}"/>
              </a:ext>
            </a:extLst>
          </p:cNvPr>
          <p:cNvSpPr>
            <a:spLocks noGrp="1"/>
          </p:cNvSpPr>
          <p:nvPr/>
        </p:nvSpPr>
        <p:spPr>
          <a:xfrm>
            <a:off x="6381750" y="1790700"/>
            <a:ext cx="2305050" cy="209550"/>
          </a:xfrm>
          <a:prstGeom prst="rect">
            <a:avLst/>
          </a:prstGeom>
          <a:noFill/>
          <a:ln w="0">
            <a:noFill/>
            <a:prstDash val="solid"/>
          </a:ln>
        </p:spPr>
        <p:txBody>
          <a:bodyPr/>
          <a:lstStyle/>
          <a:p>
            <a:pPr algn="ctr">
              <a:defRPr sz="1125" b="1">
                <a:solidFill>
                  <a:srgbClr val="007A78"/>
                </a:solidFill>
              </a:defRPr>
            </a:pPr>
            <a:r>
              <a:rPr sz="1125" b="1">
                <a:solidFill>
                  <a:srgbClr val="007A78"/>
                </a:solidFill>
              </a:rPr>
              <a:t>METADATA + SQL</a:t>
            </a:r>
          </a:p>
        </p:txBody>
      </p:sp>
      <p:sp>
        <p:nvSpPr>
          <p:cNvPr id="19" name="Rectangle 18">
            <a:extLst>
              <a:ext uri="{FF2B5EF4-FFF2-40B4-BE49-F238E27FC236}">
                <a16:creationId xmlns:a16="http://schemas.microsoft.com/office/drawing/2014/main" id="{7EA67CC8-1E1E-4502-8791-D68A7E44F7A7}"/>
              </a:ext>
            </a:extLst>
          </p:cNvPr>
          <p:cNvSpPr>
            <a:spLocks noGrp="1"/>
          </p:cNvSpPr>
          <p:nvPr/>
        </p:nvSpPr>
        <p:spPr>
          <a:xfrm>
            <a:off x="6400800" y="2381250"/>
            <a:ext cx="2266950" cy="419100"/>
          </a:xfrm>
          <a:prstGeom prst="rect">
            <a:avLst/>
          </a:prstGeom>
          <a:noFill/>
          <a:ln w="0">
            <a:noFill/>
            <a:prstDash val="solid"/>
          </a:ln>
        </p:spPr>
        <p:txBody>
          <a:bodyPr/>
          <a:lstStyle/>
          <a:p>
            <a:pPr algn="ctr">
              <a:defRPr sz="1500" b="1">
                <a:solidFill>
                  <a:srgbClr val="132033"/>
                </a:solidFill>
              </a:defRPr>
            </a:pPr>
            <a:r>
              <a:rPr sz="1500" b="1">
                <a:solidFill>
                  <a:srgbClr val="132033"/>
                </a:solidFill>
              </a:rPr>
              <a:t>Exact filters</a:t>
            </a:r>
          </a:p>
        </p:txBody>
      </p:sp>
      <p:sp>
        <p:nvSpPr>
          <p:cNvPr id="20" name="Rectangle 19">
            <a:extLst>
              <a:ext uri="{FF2B5EF4-FFF2-40B4-BE49-F238E27FC236}">
                <a16:creationId xmlns:a16="http://schemas.microsoft.com/office/drawing/2014/main" id="{6808852B-C6DB-4761-A255-FC61E1C9C278}"/>
              </a:ext>
            </a:extLst>
          </p:cNvPr>
          <p:cNvSpPr>
            <a:spLocks noGrp="1"/>
          </p:cNvSpPr>
          <p:nvPr/>
        </p:nvSpPr>
        <p:spPr>
          <a:xfrm>
            <a:off x="6400800" y="3190875"/>
            <a:ext cx="2266950" cy="438150"/>
          </a:xfrm>
          <a:prstGeom prst="rect">
            <a:avLst/>
          </a:prstGeom>
          <a:noFill/>
          <a:ln w="0">
            <a:noFill/>
            <a:prstDash val="solid"/>
          </a:ln>
        </p:spPr>
        <p:txBody>
          <a:bodyPr/>
          <a:lstStyle/>
          <a:p>
            <a:pPr algn="ctr">
              <a:defRPr sz="1200" b="0">
                <a:solidFill>
                  <a:srgbClr val="667389"/>
                </a:solidFill>
              </a:defRPr>
            </a:pPr>
            <a:r>
              <a:rPr sz="1200" b="0">
                <a:solidFill>
                  <a:srgbClr val="667389"/>
                </a:solidFill>
              </a:rPr>
              <a:t>Provider • date • current state</a:t>
            </a:r>
          </a:p>
        </p:txBody>
      </p:sp>
      <p:sp>
        <p:nvSpPr>
          <p:cNvPr id="21" name="Rectangle: Rounded Corners 20">
            <a:extLst>
              <a:ext uri="{FF2B5EF4-FFF2-40B4-BE49-F238E27FC236}">
                <a16:creationId xmlns:a16="http://schemas.microsoft.com/office/drawing/2014/main" id="{D171D7A9-5668-4D4D-BD81-7E3A56FD0FE9}"/>
              </a:ext>
            </a:extLst>
          </p:cNvPr>
          <p:cNvSpPr>
            <a:spLocks noGrp="1"/>
          </p:cNvSpPr>
          <p:nvPr/>
        </p:nvSpPr>
        <p:spPr>
          <a:xfrm>
            <a:off x="9086850" y="1524000"/>
            <a:ext cx="2647950" cy="2628900"/>
          </a:xfrm>
          <a:prstGeom prst="roundRect">
            <a:avLst>
              <a:gd name="adj" fmla="val 1449"/>
            </a:avLst>
          </a:prstGeom>
          <a:solidFill>
            <a:srgbClr val="FFFFFF"/>
          </a:solidFill>
          <a:ln w="9525">
            <a:solidFill>
              <a:srgbClr val="2D7D5B"/>
            </a:solidFill>
            <a:prstDash val="solid"/>
          </a:ln>
        </p:spPr>
        <p:txBody>
          <a:bodyPr/>
          <a:lstStyle/>
          <a:p>
            <a:endParaRPr lang="en-IN"/>
          </a:p>
        </p:txBody>
      </p:sp>
      <p:sp>
        <p:nvSpPr>
          <p:cNvPr id="22" name="Rectangle 21">
            <a:extLst>
              <a:ext uri="{FF2B5EF4-FFF2-40B4-BE49-F238E27FC236}">
                <a16:creationId xmlns:a16="http://schemas.microsoft.com/office/drawing/2014/main" id="{89FB87B4-F833-4088-8313-733792BF8D22}"/>
              </a:ext>
            </a:extLst>
          </p:cNvPr>
          <p:cNvSpPr>
            <a:spLocks noGrp="1"/>
          </p:cNvSpPr>
          <p:nvPr/>
        </p:nvSpPr>
        <p:spPr>
          <a:xfrm>
            <a:off x="9086850" y="1524000"/>
            <a:ext cx="2647950" cy="76200"/>
          </a:xfrm>
          <a:prstGeom prst="rect">
            <a:avLst/>
          </a:prstGeom>
          <a:solidFill>
            <a:srgbClr val="2D7D5B"/>
          </a:solidFill>
          <a:ln w="0">
            <a:noFill/>
            <a:prstDash val="solid"/>
          </a:ln>
        </p:spPr>
        <p:txBody>
          <a:bodyPr/>
          <a:lstStyle/>
          <a:p>
            <a:endParaRPr lang="en-IN"/>
          </a:p>
        </p:txBody>
      </p:sp>
      <p:sp>
        <p:nvSpPr>
          <p:cNvPr id="23" name="Rectangle 22">
            <a:extLst>
              <a:ext uri="{FF2B5EF4-FFF2-40B4-BE49-F238E27FC236}">
                <a16:creationId xmlns:a16="http://schemas.microsoft.com/office/drawing/2014/main" id="{E39D81A3-6585-4364-880F-78D768B75DE5}"/>
              </a:ext>
            </a:extLst>
          </p:cNvPr>
          <p:cNvSpPr>
            <a:spLocks noGrp="1"/>
          </p:cNvSpPr>
          <p:nvPr/>
        </p:nvSpPr>
        <p:spPr>
          <a:xfrm>
            <a:off x="9258300" y="1790700"/>
            <a:ext cx="2305050" cy="209550"/>
          </a:xfrm>
          <a:prstGeom prst="rect">
            <a:avLst/>
          </a:prstGeom>
          <a:noFill/>
          <a:ln w="0">
            <a:noFill/>
            <a:prstDash val="solid"/>
          </a:ln>
        </p:spPr>
        <p:txBody>
          <a:bodyPr/>
          <a:lstStyle/>
          <a:p>
            <a:pPr algn="ctr">
              <a:defRPr sz="1125" b="1">
                <a:solidFill>
                  <a:srgbClr val="2D7D5B"/>
                </a:solidFill>
              </a:defRPr>
            </a:pPr>
            <a:r>
              <a:rPr sz="1125" b="1">
                <a:solidFill>
                  <a:srgbClr val="2D7D5B"/>
                </a:solidFill>
              </a:rPr>
              <a:t>STRUCTURAL</a:t>
            </a:r>
          </a:p>
        </p:txBody>
      </p:sp>
      <p:sp>
        <p:nvSpPr>
          <p:cNvPr id="24" name="Rectangle 23">
            <a:extLst>
              <a:ext uri="{FF2B5EF4-FFF2-40B4-BE49-F238E27FC236}">
                <a16:creationId xmlns:a16="http://schemas.microsoft.com/office/drawing/2014/main" id="{E2B619FA-1F28-4890-BBFF-25EDC6852DBC}"/>
              </a:ext>
            </a:extLst>
          </p:cNvPr>
          <p:cNvSpPr>
            <a:spLocks noGrp="1"/>
          </p:cNvSpPr>
          <p:nvPr/>
        </p:nvSpPr>
        <p:spPr>
          <a:xfrm>
            <a:off x="9277350" y="2381250"/>
            <a:ext cx="2266950" cy="419100"/>
          </a:xfrm>
          <a:prstGeom prst="rect">
            <a:avLst/>
          </a:prstGeom>
          <a:noFill/>
          <a:ln w="0">
            <a:noFill/>
            <a:prstDash val="solid"/>
          </a:ln>
        </p:spPr>
        <p:txBody>
          <a:bodyPr/>
          <a:lstStyle/>
          <a:p>
            <a:pPr algn="ctr">
              <a:defRPr sz="1500" b="1">
                <a:solidFill>
                  <a:srgbClr val="132033"/>
                </a:solidFill>
              </a:defRPr>
            </a:pPr>
            <a:r>
              <a:rPr sz="1500" b="1">
                <a:solidFill>
                  <a:srgbClr val="132033"/>
                </a:solidFill>
              </a:rPr>
              <a:t>Related provisions</a:t>
            </a:r>
          </a:p>
        </p:txBody>
      </p:sp>
      <p:sp>
        <p:nvSpPr>
          <p:cNvPr id="25" name="Rectangle 24">
            <a:extLst>
              <a:ext uri="{FF2B5EF4-FFF2-40B4-BE49-F238E27FC236}">
                <a16:creationId xmlns:a16="http://schemas.microsoft.com/office/drawing/2014/main" id="{46190055-A2CC-4A06-85F1-95996F86664C}"/>
              </a:ext>
            </a:extLst>
          </p:cNvPr>
          <p:cNvSpPr>
            <a:spLocks noGrp="1"/>
          </p:cNvSpPr>
          <p:nvPr/>
        </p:nvSpPr>
        <p:spPr>
          <a:xfrm>
            <a:off x="9277350" y="3190875"/>
            <a:ext cx="2266950" cy="438150"/>
          </a:xfrm>
          <a:prstGeom prst="rect">
            <a:avLst/>
          </a:prstGeom>
          <a:noFill/>
          <a:ln w="0">
            <a:noFill/>
            <a:prstDash val="solid"/>
          </a:ln>
        </p:spPr>
        <p:txBody>
          <a:bodyPr/>
          <a:lstStyle/>
          <a:p>
            <a:pPr algn="ctr">
              <a:defRPr sz="1200" b="0">
                <a:solidFill>
                  <a:srgbClr val="667389"/>
                </a:solidFill>
              </a:defRPr>
            </a:pPr>
            <a:r>
              <a:rPr sz="1200" b="0">
                <a:solidFill>
                  <a:srgbClr val="667389"/>
                </a:solidFill>
              </a:rPr>
              <a:t>Clauses • exhibits • amendment chain</a:t>
            </a:r>
          </a:p>
        </p:txBody>
      </p:sp>
      <p:sp>
        <p:nvSpPr>
          <p:cNvPr id="26" name="Rectangle: Rounded Corners 25">
            <a:extLst>
              <a:ext uri="{FF2B5EF4-FFF2-40B4-BE49-F238E27FC236}">
                <a16:creationId xmlns:a16="http://schemas.microsoft.com/office/drawing/2014/main" id="{8C97710E-B9C0-4FB6-B815-55BAD79EAFE8}"/>
              </a:ext>
            </a:extLst>
          </p:cNvPr>
          <p:cNvSpPr>
            <a:spLocks noGrp="1"/>
          </p:cNvSpPr>
          <p:nvPr/>
        </p:nvSpPr>
        <p:spPr>
          <a:xfrm>
            <a:off x="1600200" y="4533900"/>
            <a:ext cx="8991600" cy="533400"/>
          </a:xfrm>
          <a:prstGeom prst="roundRect">
            <a:avLst>
              <a:gd name="adj" fmla="val 7143"/>
            </a:avLst>
          </a:prstGeom>
          <a:solidFill>
            <a:srgbClr val="E5F4F2"/>
          </a:solidFill>
          <a:ln w="9525">
            <a:solidFill>
              <a:srgbClr val="007A78"/>
            </a:solidFill>
            <a:prstDash val="solid"/>
          </a:ln>
        </p:spPr>
        <p:txBody>
          <a:bodyPr/>
          <a:lstStyle/>
          <a:p>
            <a:endParaRPr lang="en-IN"/>
          </a:p>
        </p:txBody>
      </p:sp>
      <p:sp>
        <p:nvSpPr>
          <p:cNvPr id="27" name="Rectangle 26">
            <a:extLst>
              <a:ext uri="{FF2B5EF4-FFF2-40B4-BE49-F238E27FC236}">
                <a16:creationId xmlns:a16="http://schemas.microsoft.com/office/drawing/2014/main" id="{265F1267-2BE3-4189-A59E-57D154317231}"/>
              </a:ext>
            </a:extLst>
          </p:cNvPr>
          <p:cNvSpPr>
            <a:spLocks noGrp="1"/>
          </p:cNvSpPr>
          <p:nvPr/>
        </p:nvSpPr>
        <p:spPr>
          <a:xfrm>
            <a:off x="1809750" y="4695825"/>
            <a:ext cx="2571750" cy="209550"/>
          </a:xfrm>
          <a:prstGeom prst="rect">
            <a:avLst/>
          </a:prstGeom>
          <a:noFill/>
          <a:ln w="0">
            <a:noFill/>
            <a:prstDash val="solid"/>
          </a:ln>
        </p:spPr>
        <p:txBody>
          <a:bodyPr/>
          <a:lstStyle/>
          <a:p>
            <a:pPr algn="l">
              <a:defRPr sz="1200" b="1">
                <a:solidFill>
                  <a:srgbClr val="007A78"/>
                </a:solidFill>
              </a:defRPr>
            </a:pPr>
            <a:r>
              <a:rPr sz="1200" b="1">
                <a:solidFill>
                  <a:srgbClr val="007A78"/>
                </a:solidFill>
              </a:rPr>
              <a:t>RECIPROCAL RANK FUSION</a:t>
            </a:r>
          </a:p>
        </p:txBody>
      </p:sp>
      <p:sp>
        <p:nvSpPr>
          <p:cNvPr id="28" name="Rectangle 27">
            <a:extLst>
              <a:ext uri="{FF2B5EF4-FFF2-40B4-BE49-F238E27FC236}">
                <a16:creationId xmlns:a16="http://schemas.microsoft.com/office/drawing/2014/main" id="{5109B5E0-1423-4E6F-9521-7102D08FE53C}"/>
              </a:ext>
            </a:extLst>
          </p:cNvPr>
          <p:cNvSpPr>
            <a:spLocks noGrp="1"/>
          </p:cNvSpPr>
          <p:nvPr/>
        </p:nvSpPr>
        <p:spPr>
          <a:xfrm>
            <a:off x="4476750" y="4695825"/>
            <a:ext cx="5810250" cy="209550"/>
          </a:xfrm>
          <a:prstGeom prst="rect">
            <a:avLst/>
          </a:prstGeom>
          <a:noFill/>
          <a:ln w="0">
            <a:noFill/>
            <a:prstDash val="solid"/>
          </a:ln>
        </p:spPr>
        <p:txBody>
          <a:bodyPr/>
          <a:lstStyle/>
          <a:p>
            <a:pPr algn="ctr">
              <a:defRPr sz="1350" b="1">
                <a:solidFill>
                  <a:srgbClr val="132033"/>
                </a:solidFill>
              </a:defRPr>
            </a:pPr>
            <a:r>
              <a:rPr sz="1350" b="1">
                <a:solidFill>
                  <a:srgbClr val="132033"/>
                </a:solidFill>
              </a:rPr>
              <a:t>combines ranked evidence before answer synthesis</a:t>
            </a:r>
          </a:p>
        </p:txBody>
      </p:sp>
      <p:sp>
        <p:nvSpPr>
          <p:cNvPr id="29" name="Rectangle: Rounded Corners 28">
            <a:extLst>
              <a:ext uri="{FF2B5EF4-FFF2-40B4-BE49-F238E27FC236}">
                <a16:creationId xmlns:a16="http://schemas.microsoft.com/office/drawing/2014/main" id="{711C16F7-7028-4540-AA54-EB1DF820643B}"/>
              </a:ext>
            </a:extLst>
          </p:cNvPr>
          <p:cNvSpPr>
            <a:spLocks noGrp="1"/>
          </p:cNvSpPr>
          <p:nvPr/>
        </p:nvSpPr>
        <p:spPr>
          <a:xfrm>
            <a:off x="1600200" y="5276850"/>
            <a:ext cx="8991600" cy="552450"/>
          </a:xfrm>
          <a:prstGeom prst="roundRect">
            <a:avLst>
              <a:gd name="adj" fmla="val 6897"/>
            </a:avLst>
          </a:prstGeom>
          <a:solidFill>
            <a:srgbClr val="F4F6F9"/>
          </a:solidFill>
          <a:ln w="9525">
            <a:solidFill>
              <a:srgbClr val="D8DEE8"/>
            </a:solidFill>
            <a:prstDash val="solid"/>
          </a:ln>
        </p:spPr>
        <p:txBody>
          <a:bodyPr/>
          <a:lstStyle/>
          <a:p>
            <a:endParaRPr lang="en-IN"/>
          </a:p>
        </p:txBody>
      </p:sp>
      <p:sp>
        <p:nvSpPr>
          <p:cNvPr id="30" name="Rectangle 29">
            <a:extLst>
              <a:ext uri="{FF2B5EF4-FFF2-40B4-BE49-F238E27FC236}">
                <a16:creationId xmlns:a16="http://schemas.microsoft.com/office/drawing/2014/main" id="{B01C52F3-D217-458B-90E1-1F8750656848}"/>
              </a:ext>
            </a:extLst>
          </p:cNvPr>
          <p:cNvSpPr>
            <a:spLocks noGrp="1"/>
          </p:cNvSpPr>
          <p:nvPr/>
        </p:nvSpPr>
        <p:spPr>
          <a:xfrm>
            <a:off x="1809750" y="5438775"/>
            <a:ext cx="2286000" cy="209550"/>
          </a:xfrm>
          <a:prstGeom prst="rect">
            <a:avLst/>
          </a:prstGeom>
          <a:noFill/>
          <a:ln w="0">
            <a:noFill/>
            <a:prstDash val="solid"/>
          </a:ln>
        </p:spPr>
        <p:txBody>
          <a:bodyPr/>
          <a:lstStyle/>
          <a:p>
            <a:pPr algn="l">
              <a:defRPr sz="1125" b="1">
                <a:solidFill>
                  <a:srgbClr val="1769AA"/>
                </a:solidFill>
              </a:defRPr>
            </a:pPr>
            <a:r>
              <a:rPr sz="1125" b="1">
                <a:solidFill>
                  <a:srgbClr val="1769AA"/>
                </a:solidFill>
              </a:rPr>
              <a:t>DOMAIN NORMALIZATION</a:t>
            </a:r>
          </a:p>
        </p:txBody>
      </p:sp>
      <p:sp>
        <p:nvSpPr>
          <p:cNvPr id="31" name="Rectangle 30">
            <a:extLst>
              <a:ext uri="{FF2B5EF4-FFF2-40B4-BE49-F238E27FC236}">
                <a16:creationId xmlns:a16="http://schemas.microsoft.com/office/drawing/2014/main" id="{7D6F1A4A-67A1-448A-82C3-E18CE87DEC25}"/>
              </a:ext>
            </a:extLst>
          </p:cNvPr>
          <p:cNvSpPr>
            <a:spLocks noGrp="1"/>
          </p:cNvSpPr>
          <p:nvPr/>
        </p:nvSpPr>
        <p:spPr>
          <a:xfrm>
            <a:off x="4191000" y="5438775"/>
            <a:ext cx="6096000" cy="209550"/>
          </a:xfrm>
          <a:prstGeom prst="rect">
            <a:avLst/>
          </a:prstGeom>
          <a:noFill/>
          <a:ln w="0">
            <a:noFill/>
            <a:prstDash val="solid"/>
          </a:ln>
        </p:spPr>
        <p:txBody>
          <a:bodyPr/>
          <a:lstStyle/>
          <a:p>
            <a:pPr algn="ctr">
              <a:defRPr sz="1275" b="1">
                <a:solidFill>
                  <a:srgbClr val="35445B"/>
                </a:solidFill>
              </a:defRPr>
            </a:pPr>
            <a:r>
              <a:rPr sz="1275" b="1">
                <a:solidFill>
                  <a:srgbClr val="35445B"/>
                </a:solidFill>
              </a:rPr>
              <a:t>60+ rules map inconsistent rate labels to a common taxonomy</a:t>
            </a:r>
          </a:p>
        </p:txBody>
      </p:sp>
      <p:sp>
        <p:nvSpPr>
          <p:cNvPr id="32" name="Rectangle: Rounded Corners 31">
            <a:extLst>
              <a:ext uri="{FF2B5EF4-FFF2-40B4-BE49-F238E27FC236}">
                <a16:creationId xmlns:a16="http://schemas.microsoft.com/office/drawing/2014/main" id="{F675258E-F74A-4678-ADA5-39D7C78D63BD}"/>
              </a:ext>
            </a:extLst>
          </p:cNvPr>
          <p:cNvSpPr>
            <a:spLocks noGrp="1"/>
          </p:cNvSpPr>
          <p:nvPr/>
        </p:nvSpPr>
        <p:spPr>
          <a:xfrm>
            <a:off x="2952750" y="6000750"/>
            <a:ext cx="6286500" cy="381000"/>
          </a:xfrm>
          <a:prstGeom prst="roundRect">
            <a:avLst>
              <a:gd name="adj" fmla="val 10000"/>
            </a:avLst>
          </a:prstGeom>
          <a:solidFill>
            <a:srgbClr val="E5F4F2"/>
          </a:solidFill>
          <a:ln w="9525">
            <a:solidFill>
              <a:srgbClr val="007A78"/>
            </a:solidFill>
            <a:prstDash val="solid"/>
          </a:ln>
        </p:spPr>
        <p:txBody>
          <a:bodyPr/>
          <a:lstStyle/>
          <a:p>
            <a:endParaRPr lang="en-IN"/>
          </a:p>
        </p:txBody>
      </p:sp>
      <p:sp>
        <p:nvSpPr>
          <p:cNvPr id="33" name="Rectangle 32">
            <a:extLst>
              <a:ext uri="{FF2B5EF4-FFF2-40B4-BE49-F238E27FC236}">
                <a16:creationId xmlns:a16="http://schemas.microsoft.com/office/drawing/2014/main" id="{B773C7B4-423D-4303-B6EA-9FDF295D8F26}"/>
              </a:ext>
            </a:extLst>
          </p:cNvPr>
          <p:cNvSpPr>
            <a:spLocks noGrp="1"/>
          </p:cNvSpPr>
          <p:nvPr/>
        </p:nvSpPr>
        <p:spPr>
          <a:xfrm>
            <a:off x="2952750" y="6000750"/>
            <a:ext cx="57150" cy="381000"/>
          </a:xfrm>
          <a:prstGeom prst="rect">
            <a:avLst/>
          </a:prstGeom>
          <a:solidFill>
            <a:srgbClr val="007A78"/>
          </a:solidFill>
          <a:ln w="0">
            <a:noFill/>
            <a:prstDash val="solid"/>
          </a:ln>
        </p:spPr>
        <p:txBody>
          <a:bodyPr/>
          <a:lstStyle/>
          <a:p>
            <a:endParaRPr lang="en-IN"/>
          </a:p>
        </p:txBody>
      </p:sp>
      <p:sp>
        <p:nvSpPr>
          <p:cNvPr id="34" name="Rectangle 33">
            <a:extLst>
              <a:ext uri="{FF2B5EF4-FFF2-40B4-BE49-F238E27FC236}">
                <a16:creationId xmlns:a16="http://schemas.microsoft.com/office/drawing/2014/main" id="{2C5A9CB4-3448-4F39-9322-4B24831E7FD3}"/>
              </a:ext>
            </a:extLst>
          </p:cNvPr>
          <p:cNvSpPr>
            <a:spLocks noGrp="1"/>
          </p:cNvSpPr>
          <p:nvPr/>
        </p:nvSpPr>
        <p:spPr>
          <a:xfrm>
            <a:off x="3162300" y="6124575"/>
            <a:ext cx="5924550" cy="209550"/>
          </a:xfrm>
          <a:prstGeom prst="rect">
            <a:avLst/>
          </a:prstGeom>
          <a:noFill/>
          <a:ln w="0">
            <a:noFill/>
            <a:prstDash val="solid"/>
          </a:ln>
        </p:spPr>
        <p:txBody>
          <a:bodyPr/>
          <a:lstStyle/>
          <a:p>
            <a:pPr algn="l">
              <a:defRPr sz="1275" b="1">
                <a:solidFill>
                  <a:srgbClr val="132033"/>
                </a:solidFill>
              </a:defRPr>
            </a:pPr>
            <a:r>
              <a:rPr sz="1275" b="1">
                <a:solidFill>
                  <a:srgbClr val="132033"/>
                </a:solidFill>
              </a:rPr>
              <a:t>This is hybrid contract reasoning—not embed and retrieve.</a:t>
            </a:r>
          </a:p>
        </p:txBody>
      </p:sp>
    </p:spTree>
    <p:extLst>
      <p:ext uri="{BB962C8B-B14F-4D97-AF65-F5344CB8AC3E}">
        <p14:creationId xmlns:p14="http://schemas.microsoft.com/office/powerpoint/2010/main" val="6012733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section">
            <a:extLst>
              <a:ext uri="{FF2B5EF4-FFF2-40B4-BE49-F238E27FC236}">
                <a16:creationId xmlns:a16="http://schemas.microsoft.com/office/drawing/2014/main" id="{FFE7FAF2-036C-4767-B7EC-7F798757E06F}"/>
              </a:ext>
            </a:extLst>
          </p:cNvPr>
          <p:cNvSpPr>
            <a:spLocks noGrp="1"/>
          </p:cNvSpPr>
          <p:nvPr/>
        </p:nvSpPr>
        <p:spPr>
          <a:xfrm>
            <a:off x="457200" y="209550"/>
            <a:ext cx="6858000" cy="190500"/>
          </a:xfrm>
          <a:prstGeom prst="rect">
            <a:avLst/>
          </a:prstGeom>
          <a:noFill/>
          <a:ln w="0">
            <a:noFill/>
            <a:prstDash val="solid"/>
          </a:ln>
        </p:spPr>
        <p:txBody>
          <a:bodyPr/>
          <a:lstStyle/>
          <a:p>
            <a:pPr algn="l">
              <a:defRPr sz="825" b="1">
                <a:solidFill>
                  <a:srgbClr val="6B4E8C"/>
                </a:solidFill>
              </a:defRPr>
            </a:pPr>
            <a:r>
              <a:rPr sz="825" b="1">
                <a:solidFill>
                  <a:srgbClr val="6B4E8C"/>
                </a:solidFill>
              </a:rPr>
              <a:t>APPLICATION ARCHITECTURE</a:t>
            </a:r>
          </a:p>
        </p:txBody>
      </p:sp>
      <p:sp>
        <p:nvSpPr>
          <p:cNvPr id="2" name="slide-title">
            <a:extLst>
              <a:ext uri="{FF2B5EF4-FFF2-40B4-BE49-F238E27FC236}">
                <a16:creationId xmlns:a16="http://schemas.microsoft.com/office/drawing/2014/main" id="{F93B81DA-6DED-4CC2-9401-417FBD9F09B3}"/>
              </a:ext>
            </a:extLst>
          </p:cNvPr>
          <p:cNvSpPr>
            <a:spLocks noGrp="1"/>
          </p:cNvSpPr>
          <p:nvPr/>
        </p:nvSpPr>
        <p:spPr>
          <a:xfrm>
            <a:off x="457200" y="457200"/>
            <a:ext cx="11220450" cy="457200"/>
          </a:xfrm>
          <a:prstGeom prst="rect">
            <a:avLst/>
          </a:prstGeom>
          <a:noFill/>
          <a:ln w="0">
            <a:noFill/>
            <a:prstDash val="solid"/>
          </a:ln>
        </p:spPr>
        <p:txBody>
          <a:bodyPr/>
          <a:lstStyle/>
          <a:p>
            <a:pPr algn="l">
              <a:defRPr sz="2625" b="1">
                <a:solidFill>
                  <a:srgbClr val="132033"/>
                </a:solidFill>
              </a:defRPr>
            </a:pPr>
            <a:r>
              <a:rPr sz="2625" b="1">
                <a:solidFill>
                  <a:srgbClr val="132033"/>
                </a:solidFill>
              </a:rPr>
              <a:t>The application is an evidence-seeking agent</a:t>
            </a:r>
          </a:p>
        </p:txBody>
      </p:sp>
      <p:sp>
        <p:nvSpPr>
          <p:cNvPr id="3" name="Rectangle 2">
            <a:extLst>
              <a:ext uri="{FF2B5EF4-FFF2-40B4-BE49-F238E27FC236}">
                <a16:creationId xmlns:a16="http://schemas.microsoft.com/office/drawing/2014/main" id="{2F18D133-C8C9-4B37-AB4D-EFC33A1A0CC0}"/>
              </a:ext>
            </a:extLst>
          </p:cNvPr>
          <p:cNvSpPr>
            <a:spLocks noGrp="1"/>
          </p:cNvSpPr>
          <p:nvPr/>
        </p:nvSpPr>
        <p:spPr>
          <a:xfrm>
            <a:off x="457200" y="990600"/>
            <a:ext cx="11277600" cy="9525"/>
          </a:xfrm>
          <a:prstGeom prst="rect">
            <a:avLst/>
          </a:prstGeom>
          <a:solidFill>
            <a:srgbClr val="D8DEE8"/>
          </a:solidFill>
          <a:ln w="0">
            <a:noFill/>
            <a:prstDash val="solid"/>
          </a:ln>
        </p:spPr>
        <p:txBody>
          <a:bodyPr/>
          <a:lstStyle/>
          <a:p>
            <a:endParaRPr lang="en-IN"/>
          </a:p>
        </p:txBody>
      </p:sp>
      <p:sp>
        <p:nvSpPr>
          <p:cNvPr id="4" name="visible-source">
            <a:extLst>
              <a:ext uri="{FF2B5EF4-FFF2-40B4-BE49-F238E27FC236}">
                <a16:creationId xmlns:a16="http://schemas.microsoft.com/office/drawing/2014/main" id="{87DCAABC-1D38-44B3-A781-A026F3A1DDFD}"/>
              </a:ext>
            </a:extLst>
          </p:cNvPr>
          <p:cNvSpPr>
            <a:spLocks noGrp="1"/>
          </p:cNvSpPr>
          <p:nvPr/>
        </p:nvSpPr>
        <p:spPr>
          <a:xfrm>
            <a:off x="457200" y="6524625"/>
            <a:ext cx="9334500" cy="142875"/>
          </a:xfrm>
          <a:prstGeom prst="rect">
            <a:avLst/>
          </a:prstGeom>
          <a:noFill/>
          <a:ln w="0">
            <a:noFill/>
            <a:prstDash val="solid"/>
          </a:ln>
        </p:spPr>
        <p:txBody>
          <a:bodyPr/>
          <a:lstStyle/>
          <a:p>
            <a:pPr algn="l">
              <a:defRPr sz="675" b="0">
                <a:solidFill>
                  <a:srgbClr val="667389"/>
                </a:solidFill>
              </a:defRPr>
            </a:pPr>
            <a:r>
              <a:rPr sz="675" b="0">
                <a:solidFill>
                  <a:srgbClr val="667389"/>
                </a:solidFill>
              </a:rPr>
              <a:t>Source: CONTRACT_INTELLIGENCE_ARCHITECTURE.png; application documentation</a:t>
            </a:r>
          </a:p>
        </p:txBody>
      </p:sp>
      <p:sp>
        <p:nvSpPr>
          <p:cNvPr id="5" name="page">
            <a:extLst>
              <a:ext uri="{FF2B5EF4-FFF2-40B4-BE49-F238E27FC236}">
                <a16:creationId xmlns:a16="http://schemas.microsoft.com/office/drawing/2014/main" id="{2B92740A-69A5-4B3B-AA00-C31A431BC7EB}"/>
              </a:ext>
            </a:extLst>
          </p:cNvPr>
          <p:cNvSpPr>
            <a:spLocks noGrp="1"/>
          </p:cNvSpPr>
          <p:nvPr/>
        </p:nvSpPr>
        <p:spPr>
          <a:xfrm>
            <a:off x="11220450" y="6496050"/>
            <a:ext cx="514350" cy="171450"/>
          </a:xfrm>
          <a:prstGeom prst="rect">
            <a:avLst/>
          </a:prstGeom>
          <a:noFill/>
          <a:ln w="0">
            <a:noFill/>
            <a:prstDash val="solid"/>
          </a:ln>
        </p:spPr>
        <p:txBody>
          <a:bodyPr/>
          <a:lstStyle/>
          <a:p>
            <a:pPr algn="r">
              <a:defRPr sz="750" b="1">
                <a:solidFill>
                  <a:srgbClr val="667389"/>
                </a:solidFill>
              </a:defRPr>
            </a:pPr>
            <a:r>
              <a:rPr sz="750" b="1">
                <a:solidFill>
                  <a:srgbClr val="667389"/>
                </a:solidFill>
              </a:rPr>
              <a:t>08</a:t>
            </a:r>
          </a:p>
        </p:txBody>
      </p:sp>
      <p:pic>
        <p:nvPicPr>
          <p:cNvPr id="20" name="Picture 19"/>
          <p:cNvPicPr>
            <a:picLocks noChangeAspect="1"/>
          </p:cNvPicPr>
          <p:nvPr/>
        </p:nvPicPr>
        <p:blipFill>
          <a:blip r:embed="rId3"/>
          <a:stretch/>
        </p:blipFill>
        <p:spPr>
          <a:xfrm>
            <a:off x="457200" y="1535509"/>
            <a:ext cx="11277600" cy="3729831"/>
          </a:xfrm>
          <a:prstGeom prst="rect">
            <a:avLst/>
          </a:prstGeom>
        </p:spPr>
      </p:pic>
      <p:sp>
        <p:nvSpPr>
          <p:cNvPr id="7" name="Rectangle 6">
            <a:extLst>
              <a:ext uri="{FF2B5EF4-FFF2-40B4-BE49-F238E27FC236}">
                <a16:creationId xmlns:a16="http://schemas.microsoft.com/office/drawing/2014/main" id="{7FC8E4DE-45B6-49A3-9B56-5D923D6717EE}"/>
              </a:ext>
            </a:extLst>
          </p:cNvPr>
          <p:cNvSpPr>
            <a:spLocks noGrp="1"/>
          </p:cNvSpPr>
          <p:nvPr/>
        </p:nvSpPr>
        <p:spPr>
          <a:xfrm>
            <a:off x="457200" y="5753100"/>
            <a:ext cx="11277600" cy="9525"/>
          </a:xfrm>
          <a:prstGeom prst="rect">
            <a:avLst/>
          </a:prstGeom>
          <a:solidFill>
            <a:srgbClr val="D8DEE8"/>
          </a:solidFill>
          <a:ln w="0">
            <a:noFill/>
            <a:prstDash val="solid"/>
          </a:ln>
        </p:spPr>
        <p:txBody>
          <a:bodyPr/>
          <a:lstStyle/>
          <a:p>
            <a:endParaRPr lang="en-IN"/>
          </a:p>
        </p:txBody>
      </p:sp>
      <p:sp>
        <p:nvSpPr>
          <p:cNvPr id="8" name="Rectangle 7">
            <a:extLst>
              <a:ext uri="{FF2B5EF4-FFF2-40B4-BE49-F238E27FC236}">
                <a16:creationId xmlns:a16="http://schemas.microsoft.com/office/drawing/2014/main" id="{D7401900-E6A1-4D74-8BA7-136C110FC936}"/>
              </a:ext>
            </a:extLst>
          </p:cNvPr>
          <p:cNvSpPr>
            <a:spLocks noGrp="1"/>
          </p:cNvSpPr>
          <p:nvPr/>
        </p:nvSpPr>
        <p:spPr>
          <a:xfrm>
            <a:off x="514350" y="5924550"/>
            <a:ext cx="2705100" cy="209550"/>
          </a:xfrm>
          <a:prstGeom prst="rect">
            <a:avLst/>
          </a:prstGeom>
          <a:noFill/>
          <a:ln w="0">
            <a:noFill/>
            <a:prstDash val="solid"/>
          </a:ln>
        </p:spPr>
        <p:txBody>
          <a:bodyPr/>
          <a:lstStyle/>
          <a:p>
            <a:pPr algn="ctr">
              <a:defRPr sz="1125" b="1">
                <a:solidFill>
                  <a:srgbClr val="6B4E8C"/>
                </a:solidFill>
              </a:defRPr>
            </a:pPr>
            <a:r>
              <a:rPr sz="1125" b="1">
                <a:solidFill>
                  <a:srgbClr val="6B4E8C"/>
                </a:solidFill>
              </a:rPr>
              <a:t>16 question routes</a:t>
            </a:r>
          </a:p>
        </p:txBody>
      </p:sp>
      <p:sp>
        <p:nvSpPr>
          <p:cNvPr id="9" name="Rectangle 8">
            <a:extLst>
              <a:ext uri="{FF2B5EF4-FFF2-40B4-BE49-F238E27FC236}">
                <a16:creationId xmlns:a16="http://schemas.microsoft.com/office/drawing/2014/main" id="{C0A03C3E-B0BA-4654-BD41-E76B4E9653CF}"/>
              </a:ext>
            </a:extLst>
          </p:cNvPr>
          <p:cNvSpPr>
            <a:spLocks noGrp="1"/>
          </p:cNvSpPr>
          <p:nvPr/>
        </p:nvSpPr>
        <p:spPr>
          <a:xfrm>
            <a:off x="3276600" y="5905500"/>
            <a:ext cx="9525" cy="247650"/>
          </a:xfrm>
          <a:prstGeom prst="rect">
            <a:avLst/>
          </a:prstGeom>
          <a:solidFill>
            <a:srgbClr val="D8DEE8"/>
          </a:solidFill>
          <a:ln w="0">
            <a:noFill/>
            <a:prstDash val="solid"/>
          </a:ln>
        </p:spPr>
        <p:txBody>
          <a:bodyPr/>
          <a:lstStyle/>
          <a:p>
            <a:endParaRPr lang="en-IN"/>
          </a:p>
        </p:txBody>
      </p:sp>
      <p:sp>
        <p:nvSpPr>
          <p:cNvPr id="10" name="Rectangle 9">
            <a:extLst>
              <a:ext uri="{FF2B5EF4-FFF2-40B4-BE49-F238E27FC236}">
                <a16:creationId xmlns:a16="http://schemas.microsoft.com/office/drawing/2014/main" id="{86C1BCF8-D60F-4165-8065-E98A320CB1E0}"/>
              </a:ext>
            </a:extLst>
          </p:cNvPr>
          <p:cNvSpPr>
            <a:spLocks noGrp="1"/>
          </p:cNvSpPr>
          <p:nvPr/>
        </p:nvSpPr>
        <p:spPr>
          <a:xfrm>
            <a:off x="3333750" y="5924550"/>
            <a:ext cx="2705100" cy="209550"/>
          </a:xfrm>
          <a:prstGeom prst="rect">
            <a:avLst/>
          </a:prstGeom>
          <a:noFill/>
          <a:ln w="0">
            <a:noFill/>
            <a:prstDash val="solid"/>
          </a:ln>
        </p:spPr>
        <p:txBody>
          <a:bodyPr/>
          <a:lstStyle/>
          <a:p>
            <a:pPr algn="ctr">
              <a:defRPr sz="1125" b="1">
                <a:solidFill>
                  <a:srgbClr val="35445B"/>
                </a:solidFill>
              </a:defRPr>
            </a:pPr>
            <a:r>
              <a:rPr sz="1125" b="1">
                <a:solidFill>
                  <a:srgbClr val="35445B"/>
                </a:solidFill>
              </a:rPr>
              <a:t>30+ specialized tools</a:t>
            </a:r>
          </a:p>
        </p:txBody>
      </p:sp>
      <p:sp>
        <p:nvSpPr>
          <p:cNvPr id="11" name="Rectangle 10">
            <a:extLst>
              <a:ext uri="{FF2B5EF4-FFF2-40B4-BE49-F238E27FC236}">
                <a16:creationId xmlns:a16="http://schemas.microsoft.com/office/drawing/2014/main" id="{6922965F-F397-4D3A-88DF-60A84E8D02C7}"/>
              </a:ext>
            </a:extLst>
          </p:cNvPr>
          <p:cNvSpPr>
            <a:spLocks noGrp="1"/>
          </p:cNvSpPr>
          <p:nvPr/>
        </p:nvSpPr>
        <p:spPr>
          <a:xfrm>
            <a:off x="6096000" y="5905500"/>
            <a:ext cx="9525" cy="247650"/>
          </a:xfrm>
          <a:prstGeom prst="rect">
            <a:avLst/>
          </a:prstGeom>
          <a:solidFill>
            <a:srgbClr val="D8DEE8"/>
          </a:solidFill>
          <a:ln w="0">
            <a:noFill/>
            <a:prstDash val="solid"/>
          </a:ln>
        </p:spPr>
        <p:txBody>
          <a:bodyPr/>
          <a:lstStyle/>
          <a:p>
            <a:endParaRPr lang="en-IN"/>
          </a:p>
        </p:txBody>
      </p:sp>
      <p:sp>
        <p:nvSpPr>
          <p:cNvPr id="12" name="Rectangle 11">
            <a:extLst>
              <a:ext uri="{FF2B5EF4-FFF2-40B4-BE49-F238E27FC236}">
                <a16:creationId xmlns:a16="http://schemas.microsoft.com/office/drawing/2014/main" id="{1044DC9B-387C-4E59-A352-B3716CA5DA55}"/>
              </a:ext>
            </a:extLst>
          </p:cNvPr>
          <p:cNvSpPr>
            <a:spLocks noGrp="1"/>
          </p:cNvSpPr>
          <p:nvPr/>
        </p:nvSpPr>
        <p:spPr>
          <a:xfrm>
            <a:off x="6153150" y="5924550"/>
            <a:ext cx="2705100" cy="209550"/>
          </a:xfrm>
          <a:prstGeom prst="rect">
            <a:avLst/>
          </a:prstGeom>
          <a:noFill/>
          <a:ln w="0">
            <a:noFill/>
            <a:prstDash val="solid"/>
          </a:ln>
        </p:spPr>
        <p:txBody>
          <a:bodyPr/>
          <a:lstStyle/>
          <a:p>
            <a:pPr algn="ctr">
              <a:defRPr sz="1125" b="1">
                <a:solidFill>
                  <a:srgbClr val="35445B"/>
                </a:solidFill>
              </a:defRPr>
            </a:pPr>
            <a:r>
              <a:rPr sz="1125" b="1">
                <a:solidFill>
                  <a:srgbClr val="35445B"/>
                </a:solidFill>
              </a:rPr>
              <a:t>SQL + Vector Search + state traversal</a:t>
            </a:r>
          </a:p>
        </p:txBody>
      </p:sp>
      <p:sp>
        <p:nvSpPr>
          <p:cNvPr id="13" name="Rectangle 12">
            <a:extLst>
              <a:ext uri="{FF2B5EF4-FFF2-40B4-BE49-F238E27FC236}">
                <a16:creationId xmlns:a16="http://schemas.microsoft.com/office/drawing/2014/main" id="{148A54A7-7530-4EAD-8499-E52684D5A3EA}"/>
              </a:ext>
            </a:extLst>
          </p:cNvPr>
          <p:cNvSpPr>
            <a:spLocks noGrp="1"/>
          </p:cNvSpPr>
          <p:nvPr/>
        </p:nvSpPr>
        <p:spPr>
          <a:xfrm>
            <a:off x="8915400" y="5905500"/>
            <a:ext cx="9525" cy="247650"/>
          </a:xfrm>
          <a:prstGeom prst="rect">
            <a:avLst/>
          </a:prstGeom>
          <a:solidFill>
            <a:srgbClr val="D8DEE8"/>
          </a:solidFill>
          <a:ln w="0">
            <a:noFill/>
            <a:prstDash val="solid"/>
          </a:ln>
        </p:spPr>
        <p:txBody>
          <a:bodyPr/>
          <a:lstStyle/>
          <a:p>
            <a:endParaRPr lang="en-IN"/>
          </a:p>
        </p:txBody>
      </p:sp>
      <p:sp>
        <p:nvSpPr>
          <p:cNvPr id="14" name="Rectangle 13">
            <a:extLst>
              <a:ext uri="{FF2B5EF4-FFF2-40B4-BE49-F238E27FC236}">
                <a16:creationId xmlns:a16="http://schemas.microsoft.com/office/drawing/2014/main" id="{6EC4B4C2-6DB8-4F2E-9766-C66FFD602ED4}"/>
              </a:ext>
            </a:extLst>
          </p:cNvPr>
          <p:cNvSpPr>
            <a:spLocks noGrp="1"/>
          </p:cNvSpPr>
          <p:nvPr/>
        </p:nvSpPr>
        <p:spPr>
          <a:xfrm>
            <a:off x="8972550" y="5924550"/>
            <a:ext cx="2705100" cy="209550"/>
          </a:xfrm>
          <a:prstGeom prst="rect">
            <a:avLst/>
          </a:prstGeom>
          <a:noFill/>
          <a:ln w="0">
            <a:noFill/>
            <a:prstDash val="solid"/>
          </a:ln>
        </p:spPr>
        <p:txBody>
          <a:bodyPr/>
          <a:lstStyle/>
          <a:p>
            <a:pPr algn="ctr">
              <a:defRPr sz="1125" b="1">
                <a:solidFill>
                  <a:srgbClr val="35445B"/>
                </a:solidFill>
              </a:defRPr>
            </a:pPr>
            <a:r>
              <a:rPr sz="1125" b="1">
                <a:solidFill>
                  <a:srgbClr val="35445B"/>
                </a:solidFill>
              </a:rPr>
              <a:t>Cited response + process trail</a:t>
            </a:r>
          </a:p>
        </p:txBody>
      </p:sp>
    </p:spTree>
    <p:extLst>
      <p:ext uri="{BB962C8B-B14F-4D97-AF65-F5344CB8AC3E}">
        <p14:creationId xmlns:p14="http://schemas.microsoft.com/office/powerpoint/2010/main" val="18973016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7" name="section">
            <a:extLst>
              <a:ext uri="{FF2B5EF4-FFF2-40B4-BE49-F238E27FC236}">
                <a16:creationId xmlns:a16="http://schemas.microsoft.com/office/drawing/2014/main" id="{CEC055FA-72F0-4720-9D8F-B59483CAD688}"/>
              </a:ext>
            </a:extLst>
          </p:cNvPr>
          <p:cNvSpPr>
            <a:spLocks noGrp="1"/>
          </p:cNvSpPr>
          <p:nvPr/>
        </p:nvSpPr>
        <p:spPr>
          <a:xfrm>
            <a:off x="457200" y="209550"/>
            <a:ext cx="6858000" cy="190500"/>
          </a:xfrm>
          <a:prstGeom prst="rect">
            <a:avLst/>
          </a:prstGeom>
          <a:noFill/>
          <a:ln w="0">
            <a:noFill/>
            <a:prstDash val="solid"/>
          </a:ln>
        </p:spPr>
        <p:txBody>
          <a:bodyPr/>
          <a:lstStyle/>
          <a:p>
            <a:pPr algn="l">
              <a:defRPr sz="825" b="1">
                <a:solidFill>
                  <a:srgbClr val="2D7D5B"/>
                </a:solidFill>
              </a:defRPr>
            </a:pPr>
            <a:r>
              <a:rPr sz="825" b="1">
                <a:solidFill>
                  <a:srgbClr val="2D7D5B"/>
                </a:solidFill>
              </a:rPr>
              <a:t>TRUST AND ECONOMICS</a:t>
            </a:r>
          </a:p>
        </p:txBody>
      </p:sp>
      <p:sp>
        <p:nvSpPr>
          <p:cNvPr id="2" name="slide-title">
            <a:extLst>
              <a:ext uri="{FF2B5EF4-FFF2-40B4-BE49-F238E27FC236}">
                <a16:creationId xmlns:a16="http://schemas.microsoft.com/office/drawing/2014/main" id="{2F0CD873-4A47-4D14-AB02-DF1011357508}"/>
              </a:ext>
            </a:extLst>
          </p:cNvPr>
          <p:cNvSpPr>
            <a:spLocks noGrp="1"/>
          </p:cNvSpPr>
          <p:nvPr/>
        </p:nvSpPr>
        <p:spPr>
          <a:xfrm>
            <a:off x="457200" y="457200"/>
            <a:ext cx="11220450" cy="457200"/>
          </a:xfrm>
          <a:prstGeom prst="rect">
            <a:avLst/>
          </a:prstGeom>
          <a:noFill/>
          <a:ln w="0">
            <a:noFill/>
            <a:prstDash val="solid"/>
          </a:ln>
        </p:spPr>
        <p:txBody>
          <a:bodyPr/>
          <a:lstStyle/>
          <a:p>
            <a:pPr algn="l">
              <a:defRPr sz="2625" b="1">
                <a:solidFill>
                  <a:srgbClr val="132033"/>
                </a:solidFill>
              </a:defRPr>
            </a:pPr>
            <a:r>
              <a:rPr sz="2625" b="1">
                <a:solidFill>
                  <a:srgbClr val="132033"/>
                </a:solidFill>
              </a:rPr>
              <a:t>Trust and cost are engineered together</a:t>
            </a:r>
          </a:p>
        </p:txBody>
      </p:sp>
      <p:sp>
        <p:nvSpPr>
          <p:cNvPr id="3" name="Rectangle 2">
            <a:extLst>
              <a:ext uri="{FF2B5EF4-FFF2-40B4-BE49-F238E27FC236}">
                <a16:creationId xmlns:a16="http://schemas.microsoft.com/office/drawing/2014/main" id="{B4B3275E-4E85-4FD8-953A-3B82217013E0}"/>
              </a:ext>
            </a:extLst>
          </p:cNvPr>
          <p:cNvSpPr>
            <a:spLocks noGrp="1"/>
          </p:cNvSpPr>
          <p:nvPr/>
        </p:nvSpPr>
        <p:spPr>
          <a:xfrm>
            <a:off x="457200" y="990600"/>
            <a:ext cx="11277600" cy="9525"/>
          </a:xfrm>
          <a:prstGeom prst="rect">
            <a:avLst/>
          </a:prstGeom>
          <a:solidFill>
            <a:srgbClr val="D8DEE8"/>
          </a:solidFill>
          <a:ln w="0">
            <a:noFill/>
            <a:prstDash val="solid"/>
          </a:ln>
        </p:spPr>
        <p:txBody>
          <a:bodyPr/>
          <a:lstStyle/>
          <a:p>
            <a:endParaRPr lang="en-IN"/>
          </a:p>
        </p:txBody>
      </p:sp>
      <p:sp>
        <p:nvSpPr>
          <p:cNvPr id="4" name="visible-source">
            <a:extLst>
              <a:ext uri="{FF2B5EF4-FFF2-40B4-BE49-F238E27FC236}">
                <a16:creationId xmlns:a16="http://schemas.microsoft.com/office/drawing/2014/main" id="{8258641C-EC14-45AB-BB56-76667B35EC32}"/>
              </a:ext>
            </a:extLst>
          </p:cNvPr>
          <p:cNvSpPr>
            <a:spLocks noGrp="1"/>
          </p:cNvSpPr>
          <p:nvPr/>
        </p:nvSpPr>
        <p:spPr>
          <a:xfrm>
            <a:off x="457200" y="6524625"/>
            <a:ext cx="9334500" cy="142875"/>
          </a:xfrm>
          <a:prstGeom prst="rect">
            <a:avLst/>
          </a:prstGeom>
          <a:noFill/>
          <a:ln w="0">
            <a:noFill/>
            <a:prstDash val="solid"/>
          </a:ln>
        </p:spPr>
        <p:txBody>
          <a:bodyPr/>
          <a:lstStyle/>
          <a:p>
            <a:pPr algn="l">
              <a:defRPr sz="675" b="0">
                <a:solidFill>
                  <a:srgbClr val="667389"/>
                </a:solidFill>
              </a:defRPr>
            </a:pPr>
            <a:r>
              <a:rPr sz="675" b="0">
                <a:solidFill>
                  <a:srgbClr val="667389"/>
                </a:solidFill>
              </a:rPr>
              <a:t>Source: Pipeline, application and business-value documentation</a:t>
            </a:r>
          </a:p>
        </p:txBody>
      </p:sp>
      <p:sp>
        <p:nvSpPr>
          <p:cNvPr id="5" name="page">
            <a:extLst>
              <a:ext uri="{FF2B5EF4-FFF2-40B4-BE49-F238E27FC236}">
                <a16:creationId xmlns:a16="http://schemas.microsoft.com/office/drawing/2014/main" id="{35DE0BB3-8154-491E-8FCA-79BD8EAD97AB}"/>
              </a:ext>
            </a:extLst>
          </p:cNvPr>
          <p:cNvSpPr>
            <a:spLocks noGrp="1"/>
          </p:cNvSpPr>
          <p:nvPr/>
        </p:nvSpPr>
        <p:spPr>
          <a:xfrm>
            <a:off x="11220450" y="6496050"/>
            <a:ext cx="514350" cy="171450"/>
          </a:xfrm>
          <a:prstGeom prst="rect">
            <a:avLst/>
          </a:prstGeom>
          <a:noFill/>
          <a:ln w="0">
            <a:noFill/>
            <a:prstDash val="solid"/>
          </a:ln>
        </p:spPr>
        <p:txBody>
          <a:bodyPr/>
          <a:lstStyle/>
          <a:p>
            <a:pPr algn="r">
              <a:defRPr sz="750" b="1">
                <a:solidFill>
                  <a:srgbClr val="667389"/>
                </a:solidFill>
              </a:defRPr>
            </a:pPr>
            <a:r>
              <a:rPr sz="750" b="1">
                <a:solidFill>
                  <a:srgbClr val="667389"/>
                </a:solidFill>
              </a:rPr>
              <a:t>09</a:t>
            </a:r>
          </a:p>
        </p:txBody>
      </p:sp>
      <p:sp>
        <p:nvSpPr>
          <p:cNvPr id="6" name="Rectangle 5">
            <a:extLst>
              <a:ext uri="{FF2B5EF4-FFF2-40B4-BE49-F238E27FC236}">
                <a16:creationId xmlns:a16="http://schemas.microsoft.com/office/drawing/2014/main" id="{2E4AB272-9E5E-461E-95F9-0A320D86A7EF}"/>
              </a:ext>
            </a:extLst>
          </p:cNvPr>
          <p:cNvSpPr>
            <a:spLocks noGrp="1"/>
          </p:cNvSpPr>
          <p:nvPr/>
        </p:nvSpPr>
        <p:spPr>
          <a:xfrm>
            <a:off x="552450" y="1314450"/>
            <a:ext cx="2857500" cy="209550"/>
          </a:xfrm>
          <a:prstGeom prst="rect">
            <a:avLst/>
          </a:prstGeom>
          <a:noFill/>
          <a:ln w="0">
            <a:noFill/>
            <a:prstDash val="solid"/>
          </a:ln>
        </p:spPr>
        <p:txBody>
          <a:bodyPr/>
          <a:lstStyle/>
          <a:p>
            <a:pPr algn="l">
              <a:defRPr sz="1050" b="1">
                <a:solidFill>
                  <a:srgbClr val="1769AA"/>
                </a:solidFill>
              </a:defRPr>
            </a:pPr>
            <a:r>
              <a:rPr sz="1050" b="1">
                <a:solidFill>
                  <a:srgbClr val="1769AA"/>
                </a:solidFill>
              </a:rPr>
              <a:t>BEFORE THE QUESTION</a:t>
            </a:r>
          </a:p>
        </p:txBody>
      </p:sp>
      <p:sp>
        <p:nvSpPr>
          <p:cNvPr id="7" name="Rectangle 6">
            <a:extLst>
              <a:ext uri="{FF2B5EF4-FFF2-40B4-BE49-F238E27FC236}">
                <a16:creationId xmlns:a16="http://schemas.microsoft.com/office/drawing/2014/main" id="{942986EB-AED0-4FFF-972A-5F6CF3F21108}"/>
              </a:ext>
            </a:extLst>
          </p:cNvPr>
          <p:cNvSpPr>
            <a:spLocks noGrp="1"/>
          </p:cNvSpPr>
          <p:nvPr/>
        </p:nvSpPr>
        <p:spPr>
          <a:xfrm>
            <a:off x="4305300" y="1314450"/>
            <a:ext cx="2857500" cy="209550"/>
          </a:xfrm>
          <a:prstGeom prst="rect">
            <a:avLst/>
          </a:prstGeom>
          <a:noFill/>
          <a:ln w="0">
            <a:noFill/>
            <a:prstDash val="solid"/>
          </a:ln>
        </p:spPr>
        <p:txBody>
          <a:bodyPr/>
          <a:lstStyle/>
          <a:p>
            <a:pPr algn="l">
              <a:defRPr sz="1050" b="1">
                <a:solidFill>
                  <a:srgbClr val="2D7D5B"/>
                </a:solidFill>
              </a:defRPr>
            </a:pPr>
            <a:r>
              <a:rPr sz="1050" b="1">
                <a:solidFill>
                  <a:srgbClr val="2D7D5B"/>
                </a:solidFill>
              </a:rPr>
              <a:t>AFTER THE QUESTION</a:t>
            </a:r>
          </a:p>
        </p:txBody>
      </p:sp>
      <p:sp>
        <p:nvSpPr>
          <p:cNvPr id="8" name="Rectangle 7">
            <a:extLst>
              <a:ext uri="{FF2B5EF4-FFF2-40B4-BE49-F238E27FC236}">
                <a16:creationId xmlns:a16="http://schemas.microsoft.com/office/drawing/2014/main" id="{B0EF63BF-C64A-4A24-BDD3-5A10AE7E29C0}"/>
              </a:ext>
            </a:extLst>
          </p:cNvPr>
          <p:cNvSpPr>
            <a:spLocks noGrp="1"/>
          </p:cNvSpPr>
          <p:nvPr/>
        </p:nvSpPr>
        <p:spPr>
          <a:xfrm>
            <a:off x="8058150" y="1314450"/>
            <a:ext cx="3143250" cy="209550"/>
          </a:xfrm>
          <a:prstGeom prst="rect">
            <a:avLst/>
          </a:prstGeom>
          <a:noFill/>
          <a:ln w="0">
            <a:noFill/>
            <a:prstDash val="solid"/>
          </a:ln>
        </p:spPr>
        <p:txBody>
          <a:bodyPr/>
          <a:lstStyle/>
          <a:p>
            <a:pPr algn="l">
              <a:defRPr sz="1050" b="1">
                <a:solidFill>
                  <a:srgbClr val="007A78"/>
                </a:solidFill>
              </a:defRPr>
            </a:pPr>
            <a:r>
              <a:rPr sz="1050" b="1">
                <a:solidFill>
                  <a:srgbClr val="007A78"/>
                </a:solidFill>
              </a:rPr>
              <a:t>COST CONTROL FOUNDATION</a:t>
            </a:r>
          </a:p>
        </p:txBody>
      </p:sp>
      <p:sp>
        <p:nvSpPr>
          <p:cNvPr id="9" name="Rectangle: Rounded Corners 8">
            <a:extLst>
              <a:ext uri="{FF2B5EF4-FFF2-40B4-BE49-F238E27FC236}">
                <a16:creationId xmlns:a16="http://schemas.microsoft.com/office/drawing/2014/main" id="{F108984A-664D-4FBE-AC92-C1D7B5BC2AA4}"/>
              </a:ext>
            </a:extLst>
          </p:cNvPr>
          <p:cNvSpPr>
            <a:spLocks noGrp="1"/>
          </p:cNvSpPr>
          <p:nvPr/>
        </p:nvSpPr>
        <p:spPr>
          <a:xfrm>
            <a:off x="514350" y="1638300"/>
            <a:ext cx="3333750" cy="3638550"/>
          </a:xfrm>
          <a:prstGeom prst="roundRect">
            <a:avLst>
              <a:gd name="adj" fmla="val 1143"/>
            </a:avLst>
          </a:prstGeom>
          <a:solidFill>
            <a:srgbClr val="E8F2F9"/>
          </a:solidFill>
          <a:ln w="9525">
            <a:solidFill>
              <a:srgbClr val="1769AA"/>
            </a:solidFill>
            <a:prstDash val="solid"/>
          </a:ln>
        </p:spPr>
        <p:txBody>
          <a:bodyPr/>
          <a:lstStyle/>
          <a:p>
            <a:endParaRPr lang="en-IN"/>
          </a:p>
        </p:txBody>
      </p:sp>
      <p:sp>
        <p:nvSpPr>
          <p:cNvPr id="10" name="Rectangle: Rounded Corners 9">
            <a:extLst>
              <a:ext uri="{FF2B5EF4-FFF2-40B4-BE49-F238E27FC236}">
                <a16:creationId xmlns:a16="http://schemas.microsoft.com/office/drawing/2014/main" id="{19CB014F-AFA2-47E2-B3A6-1E905E491288}"/>
              </a:ext>
            </a:extLst>
          </p:cNvPr>
          <p:cNvSpPr>
            <a:spLocks noGrp="1"/>
          </p:cNvSpPr>
          <p:nvPr/>
        </p:nvSpPr>
        <p:spPr>
          <a:xfrm>
            <a:off x="4267200" y="1638300"/>
            <a:ext cx="3333750" cy="3638550"/>
          </a:xfrm>
          <a:prstGeom prst="roundRect">
            <a:avLst>
              <a:gd name="adj" fmla="val 1143"/>
            </a:avLst>
          </a:prstGeom>
          <a:solidFill>
            <a:srgbClr val="E9F5EF"/>
          </a:solidFill>
          <a:ln w="9525">
            <a:solidFill>
              <a:srgbClr val="2D7D5B"/>
            </a:solidFill>
            <a:prstDash val="solid"/>
          </a:ln>
        </p:spPr>
        <p:txBody>
          <a:bodyPr/>
          <a:lstStyle/>
          <a:p>
            <a:endParaRPr lang="en-IN"/>
          </a:p>
        </p:txBody>
      </p:sp>
      <p:sp>
        <p:nvSpPr>
          <p:cNvPr id="11" name="Rectangle: Rounded Corners 10">
            <a:extLst>
              <a:ext uri="{FF2B5EF4-FFF2-40B4-BE49-F238E27FC236}">
                <a16:creationId xmlns:a16="http://schemas.microsoft.com/office/drawing/2014/main" id="{869BE0C7-BFBB-4460-93AF-AFB860F85271}"/>
              </a:ext>
            </a:extLst>
          </p:cNvPr>
          <p:cNvSpPr>
            <a:spLocks noGrp="1"/>
          </p:cNvSpPr>
          <p:nvPr/>
        </p:nvSpPr>
        <p:spPr>
          <a:xfrm>
            <a:off x="8020050" y="1638300"/>
            <a:ext cx="3619500" cy="3638550"/>
          </a:xfrm>
          <a:prstGeom prst="roundRect">
            <a:avLst>
              <a:gd name="adj" fmla="val 1053"/>
            </a:avLst>
          </a:prstGeom>
          <a:solidFill>
            <a:srgbClr val="E5F4F2"/>
          </a:solidFill>
          <a:ln w="9525">
            <a:solidFill>
              <a:srgbClr val="007A78"/>
            </a:solidFill>
            <a:prstDash val="solid"/>
          </a:ln>
        </p:spPr>
        <p:txBody>
          <a:bodyPr/>
          <a:lstStyle/>
          <a:p>
            <a:endParaRPr lang="en-IN"/>
          </a:p>
        </p:txBody>
      </p:sp>
      <p:sp>
        <p:nvSpPr>
          <p:cNvPr id="12" name="Rectangle 11">
            <a:extLst>
              <a:ext uri="{FF2B5EF4-FFF2-40B4-BE49-F238E27FC236}">
                <a16:creationId xmlns:a16="http://schemas.microsoft.com/office/drawing/2014/main" id="{BE00C172-DAA6-4542-B597-FB7093A9DD37}"/>
              </a:ext>
            </a:extLst>
          </p:cNvPr>
          <p:cNvSpPr>
            <a:spLocks noGrp="1"/>
          </p:cNvSpPr>
          <p:nvPr/>
        </p:nvSpPr>
        <p:spPr>
          <a:xfrm>
            <a:off x="762000" y="1885950"/>
            <a:ext cx="2838450" cy="285750"/>
          </a:xfrm>
          <a:prstGeom prst="rect">
            <a:avLst/>
          </a:prstGeom>
          <a:noFill/>
          <a:ln w="0">
            <a:noFill/>
            <a:prstDash val="solid"/>
          </a:ln>
        </p:spPr>
        <p:txBody>
          <a:bodyPr/>
          <a:lstStyle/>
          <a:p>
            <a:pPr algn="l">
              <a:defRPr sz="1575" b="1">
                <a:solidFill>
                  <a:srgbClr val="132033"/>
                </a:solidFill>
              </a:defRPr>
            </a:pPr>
            <a:r>
              <a:rPr sz="1575" b="1">
                <a:solidFill>
                  <a:srgbClr val="132033"/>
                </a:solidFill>
              </a:rPr>
              <a:t>5 data-quality gates</a:t>
            </a:r>
          </a:p>
        </p:txBody>
      </p:sp>
      <p:sp>
        <p:nvSpPr>
          <p:cNvPr id="13" name="Rectangle: Rounded Corners 12">
            <a:extLst>
              <a:ext uri="{FF2B5EF4-FFF2-40B4-BE49-F238E27FC236}">
                <a16:creationId xmlns:a16="http://schemas.microsoft.com/office/drawing/2014/main" id="{B849361B-33EC-49D8-AA42-16B417F33E9E}"/>
              </a:ext>
            </a:extLst>
          </p:cNvPr>
          <p:cNvSpPr>
            <a:spLocks noGrp="1"/>
          </p:cNvSpPr>
          <p:nvPr/>
        </p:nvSpPr>
        <p:spPr>
          <a:xfrm>
            <a:off x="781050" y="2476500"/>
            <a:ext cx="57150" cy="57150"/>
          </a:xfrm>
          <a:prstGeom prst="roundRect">
            <a:avLst>
              <a:gd name="adj" fmla="val 50000"/>
            </a:avLst>
          </a:prstGeom>
          <a:solidFill>
            <a:srgbClr val="1769AA"/>
          </a:solidFill>
          <a:ln w="0">
            <a:noFill/>
            <a:prstDash val="solid"/>
          </a:ln>
        </p:spPr>
        <p:txBody>
          <a:bodyPr/>
          <a:lstStyle/>
          <a:p>
            <a:endParaRPr lang="en-IN"/>
          </a:p>
        </p:txBody>
      </p:sp>
      <p:sp>
        <p:nvSpPr>
          <p:cNvPr id="14" name="Rectangle 13">
            <a:extLst>
              <a:ext uri="{FF2B5EF4-FFF2-40B4-BE49-F238E27FC236}">
                <a16:creationId xmlns:a16="http://schemas.microsoft.com/office/drawing/2014/main" id="{B19284E5-EF47-4208-B6B0-6EB94BE323EC}"/>
              </a:ext>
            </a:extLst>
          </p:cNvPr>
          <p:cNvSpPr>
            <a:spLocks noGrp="1"/>
          </p:cNvSpPr>
          <p:nvPr/>
        </p:nvSpPr>
        <p:spPr>
          <a:xfrm>
            <a:off x="952500" y="2400300"/>
            <a:ext cx="2590800" cy="428625"/>
          </a:xfrm>
          <a:prstGeom prst="rect">
            <a:avLst/>
          </a:prstGeom>
          <a:noFill/>
          <a:ln w="0">
            <a:noFill/>
            <a:prstDash val="solid"/>
          </a:ln>
        </p:spPr>
        <p:txBody>
          <a:bodyPr/>
          <a:lstStyle/>
          <a:p>
            <a:pPr algn="l">
              <a:defRPr sz="1275" b="0">
                <a:solidFill>
                  <a:srgbClr val="35445B"/>
                </a:solidFill>
              </a:defRPr>
            </a:pPr>
            <a:r>
              <a:rPr sz="1275" b="0">
                <a:solidFill>
                  <a:srgbClr val="35445B"/>
                </a:solidFill>
              </a:rPr>
              <a:t>OCR quality</a:t>
            </a:r>
          </a:p>
        </p:txBody>
      </p:sp>
      <p:sp>
        <p:nvSpPr>
          <p:cNvPr id="15" name="Rectangle: Rounded Corners 14">
            <a:extLst>
              <a:ext uri="{FF2B5EF4-FFF2-40B4-BE49-F238E27FC236}">
                <a16:creationId xmlns:a16="http://schemas.microsoft.com/office/drawing/2014/main" id="{C3525DB2-113C-4DEE-952A-28DE6F9EAFDF}"/>
              </a:ext>
            </a:extLst>
          </p:cNvPr>
          <p:cNvSpPr>
            <a:spLocks noGrp="1"/>
          </p:cNvSpPr>
          <p:nvPr/>
        </p:nvSpPr>
        <p:spPr>
          <a:xfrm>
            <a:off x="781050" y="2924175"/>
            <a:ext cx="57150" cy="57150"/>
          </a:xfrm>
          <a:prstGeom prst="roundRect">
            <a:avLst>
              <a:gd name="adj" fmla="val 50000"/>
            </a:avLst>
          </a:prstGeom>
          <a:solidFill>
            <a:srgbClr val="1769AA"/>
          </a:solidFill>
          <a:ln w="0">
            <a:noFill/>
            <a:prstDash val="solid"/>
          </a:ln>
        </p:spPr>
        <p:txBody>
          <a:bodyPr/>
          <a:lstStyle/>
          <a:p>
            <a:endParaRPr lang="en-IN"/>
          </a:p>
        </p:txBody>
      </p:sp>
      <p:sp>
        <p:nvSpPr>
          <p:cNvPr id="16" name="Rectangle 15">
            <a:extLst>
              <a:ext uri="{FF2B5EF4-FFF2-40B4-BE49-F238E27FC236}">
                <a16:creationId xmlns:a16="http://schemas.microsoft.com/office/drawing/2014/main" id="{A0B3E927-A0C2-488E-AE63-44C11DB9A1EF}"/>
              </a:ext>
            </a:extLst>
          </p:cNvPr>
          <p:cNvSpPr>
            <a:spLocks noGrp="1"/>
          </p:cNvSpPr>
          <p:nvPr/>
        </p:nvSpPr>
        <p:spPr>
          <a:xfrm>
            <a:off x="952500" y="2847975"/>
            <a:ext cx="2590800" cy="428625"/>
          </a:xfrm>
          <a:prstGeom prst="rect">
            <a:avLst/>
          </a:prstGeom>
          <a:noFill/>
          <a:ln w="0">
            <a:noFill/>
            <a:prstDash val="solid"/>
          </a:ln>
        </p:spPr>
        <p:txBody>
          <a:bodyPr/>
          <a:lstStyle/>
          <a:p>
            <a:pPr algn="l">
              <a:defRPr sz="1275" b="0">
                <a:solidFill>
                  <a:srgbClr val="35445B"/>
                </a:solidFill>
              </a:defRPr>
            </a:pPr>
            <a:r>
              <a:rPr sz="1275" b="0">
                <a:solidFill>
                  <a:srgbClr val="35445B"/>
                </a:solidFill>
              </a:rPr>
              <a:t>Extraction schema</a:t>
            </a:r>
          </a:p>
        </p:txBody>
      </p:sp>
      <p:sp>
        <p:nvSpPr>
          <p:cNvPr id="17" name="Rectangle: Rounded Corners 16">
            <a:extLst>
              <a:ext uri="{FF2B5EF4-FFF2-40B4-BE49-F238E27FC236}">
                <a16:creationId xmlns:a16="http://schemas.microsoft.com/office/drawing/2014/main" id="{2892C852-6AFB-41CD-A70B-6D1ED9684384}"/>
              </a:ext>
            </a:extLst>
          </p:cNvPr>
          <p:cNvSpPr>
            <a:spLocks noGrp="1"/>
          </p:cNvSpPr>
          <p:nvPr/>
        </p:nvSpPr>
        <p:spPr>
          <a:xfrm>
            <a:off x="781050" y="3371850"/>
            <a:ext cx="57150" cy="57150"/>
          </a:xfrm>
          <a:prstGeom prst="roundRect">
            <a:avLst>
              <a:gd name="adj" fmla="val 50000"/>
            </a:avLst>
          </a:prstGeom>
          <a:solidFill>
            <a:srgbClr val="1769AA"/>
          </a:solidFill>
          <a:ln w="0">
            <a:noFill/>
            <a:prstDash val="solid"/>
          </a:ln>
        </p:spPr>
        <p:txBody>
          <a:bodyPr/>
          <a:lstStyle/>
          <a:p>
            <a:endParaRPr lang="en-IN"/>
          </a:p>
        </p:txBody>
      </p:sp>
      <p:sp>
        <p:nvSpPr>
          <p:cNvPr id="18" name="Rectangle 17">
            <a:extLst>
              <a:ext uri="{FF2B5EF4-FFF2-40B4-BE49-F238E27FC236}">
                <a16:creationId xmlns:a16="http://schemas.microsoft.com/office/drawing/2014/main" id="{3D865745-49BF-4C98-9D56-19E9368B72DF}"/>
              </a:ext>
            </a:extLst>
          </p:cNvPr>
          <p:cNvSpPr>
            <a:spLocks noGrp="1"/>
          </p:cNvSpPr>
          <p:nvPr/>
        </p:nvSpPr>
        <p:spPr>
          <a:xfrm>
            <a:off x="952500" y="3295650"/>
            <a:ext cx="2590800" cy="428625"/>
          </a:xfrm>
          <a:prstGeom prst="rect">
            <a:avLst/>
          </a:prstGeom>
          <a:noFill/>
          <a:ln w="0">
            <a:noFill/>
            <a:prstDash val="solid"/>
          </a:ln>
        </p:spPr>
        <p:txBody>
          <a:bodyPr/>
          <a:lstStyle/>
          <a:p>
            <a:pPr algn="l">
              <a:defRPr sz="1275" b="0">
                <a:solidFill>
                  <a:srgbClr val="35445B"/>
                </a:solidFill>
              </a:defRPr>
            </a:pPr>
            <a:r>
              <a:rPr sz="1275" b="0">
                <a:solidFill>
                  <a:srgbClr val="35445B"/>
                </a:solidFill>
              </a:rPr>
              <a:t>Data integrity</a:t>
            </a:r>
          </a:p>
        </p:txBody>
      </p:sp>
      <p:sp>
        <p:nvSpPr>
          <p:cNvPr id="19" name="Rectangle: Rounded Corners 18">
            <a:extLst>
              <a:ext uri="{FF2B5EF4-FFF2-40B4-BE49-F238E27FC236}">
                <a16:creationId xmlns:a16="http://schemas.microsoft.com/office/drawing/2014/main" id="{5D0D09D7-F477-4F7C-A2C4-0F4FA9A72539}"/>
              </a:ext>
            </a:extLst>
          </p:cNvPr>
          <p:cNvSpPr>
            <a:spLocks noGrp="1"/>
          </p:cNvSpPr>
          <p:nvPr/>
        </p:nvSpPr>
        <p:spPr>
          <a:xfrm>
            <a:off x="781050" y="3819525"/>
            <a:ext cx="57150" cy="57150"/>
          </a:xfrm>
          <a:prstGeom prst="roundRect">
            <a:avLst>
              <a:gd name="adj" fmla="val 50000"/>
            </a:avLst>
          </a:prstGeom>
          <a:solidFill>
            <a:srgbClr val="1769AA"/>
          </a:solidFill>
          <a:ln w="0">
            <a:noFill/>
            <a:prstDash val="solid"/>
          </a:ln>
        </p:spPr>
        <p:txBody>
          <a:bodyPr/>
          <a:lstStyle/>
          <a:p>
            <a:endParaRPr lang="en-IN"/>
          </a:p>
        </p:txBody>
      </p:sp>
      <p:sp>
        <p:nvSpPr>
          <p:cNvPr id="20" name="Rectangle 19">
            <a:extLst>
              <a:ext uri="{FF2B5EF4-FFF2-40B4-BE49-F238E27FC236}">
                <a16:creationId xmlns:a16="http://schemas.microsoft.com/office/drawing/2014/main" id="{D86FE899-6AB0-4E2E-8A00-173FAFEAEA89}"/>
              </a:ext>
            </a:extLst>
          </p:cNvPr>
          <p:cNvSpPr>
            <a:spLocks noGrp="1"/>
          </p:cNvSpPr>
          <p:nvPr/>
        </p:nvSpPr>
        <p:spPr>
          <a:xfrm>
            <a:off x="952500" y="3743325"/>
            <a:ext cx="2590800" cy="428625"/>
          </a:xfrm>
          <a:prstGeom prst="rect">
            <a:avLst/>
          </a:prstGeom>
          <a:noFill/>
          <a:ln w="0">
            <a:noFill/>
            <a:prstDash val="solid"/>
          </a:ln>
        </p:spPr>
        <p:txBody>
          <a:bodyPr/>
          <a:lstStyle/>
          <a:p>
            <a:pPr algn="l">
              <a:defRPr sz="1275" b="0">
                <a:solidFill>
                  <a:srgbClr val="35445B"/>
                </a:solidFill>
              </a:defRPr>
            </a:pPr>
            <a:r>
              <a:rPr sz="1275" b="0">
                <a:solidFill>
                  <a:srgbClr val="35445B"/>
                </a:solidFill>
              </a:rPr>
              <a:t>Contract-state consistency</a:t>
            </a:r>
          </a:p>
        </p:txBody>
      </p:sp>
      <p:sp>
        <p:nvSpPr>
          <p:cNvPr id="21" name="Rectangle: Rounded Corners 20">
            <a:extLst>
              <a:ext uri="{FF2B5EF4-FFF2-40B4-BE49-F238E27FC236}">
                <a16:creationId xmlns:a16="http://schemas.microsoft.com/office/drawing/2014/main" id="{7AA136BA-9D72-4F02-B0FB-575F0AD4E814}"/>
              </a:ext>
            </a:extLst>
          </p:cNvPr>
          <p:cNvSpPr>
            <a:spLocks noGrp="1"/>
          </p:cNvSpPr>
          <p:nvPr/>
        </p:nvSpPr>
        <p:spPr>
          <a:xfrm>
            <a:off x="781050" y="4267200"/>
            <a:ext cx="57150" cy="57150"/>
          </a:xfrm>
          <a:prstGeom prst="roundRect">
            <a:avLst>
              <a:gd name="adj" fmla="val 50000"/>
            </a:avLst>
          </a:prstGeom>
          <a:solidFill>
            <a:srgbClr val="1769AA"/>
          </a:solidFill>
          <a:ln w="0">
            <a:noFill/>
            <a:prstDash val="solid"/>
          </a:ln>
        </p:spPr>
        <p:txBody>
          <a:bodyPr/>
          <a:lstStyle/>
          <a:p>
            <a:endParaRPr lang="en-IN"/>
          </a:p>
        </p:txBody>
      </p:sp>
      <p:sp>
        <p:nvSpPr>
          <p:cNvPr id="22" name="Rectangle 21">
            <a:extLst>
              <a:ext uri="{FF2B5EF4-FFF2-40B4-BE49-F238E27FC236}">
                <a16:creationId xmlns:a16="http://schemas.microsoft.com/office/drawing/2014/main" id="{AE234F87-4E45-4CF4-B225-EEDCF3BF01B9}"/>
              </a:ext>
            </a:extLst>
          </p:cNvPr>
          <p:cNvSpPr>
            <a:spLocks noGrp="1"/>
          </p:cNvSpPr>
          <p:nvPr/>
        </p:nvSpPr>
        <p:spPr>
          <a:xfrm>
            <a:off x="952500" y="4191000"/>
            <a:ext cx="2590800" cy="428625"/>
          </a:xfrm>
          <a:prstGeom prst="rect">
            <a:avLst/>
          </a:prstGeom>
          <a:noFill/>
          <a:ln w="0">
            <a:noFill/>
            <a:prstDash val="solid"/>
          </a:ln>
        </p:spPr>
        <p:txBody>
          <a:bodyPr/>
          <a:lstStyle/>
          <a:p>
            <a:pPr algn="l">
              <a:defRPr sz="1275" b="0">
                <a:solidFill>
                  <a:srgbClr val="35445B"/>
                </a:solidFill>
              </a:defRPr>
            </a:pPr>
            <a:r>
              <a:rPr sz="1275" b="0">
                <a:solidFill>
                  <a:srgbClr val="35445B"/>
                </a:solidFill>
              </a:rPr>
              <a:t>Retrieval readiness</a:t>
            </a:r>
          </a:p>
        </p:txBody>
      </p:sp>
      <p:sp>
        <p:nvSpPr>
          <p:cNvPr id="23" name="Rectangle 22">
            <a:extLst>
              <a:ext uri="{FF2B5EF4-FFF2-40B4-BE49-F238E27FC236}">
                <a16:creationId xmlns:a16="http://schemas.microsoft.com/office/drawing/2014/main" id="{1D635058-DCC4-4749-9F5D-2405E876DD6C}"/>
              </a:ext>
            </a:extLst>
          </p:cNvPr>
          <p:cNvSpPr>
            <a:spLocks noGrp="1"/>
          </p:cNvSpPr>
          <p:nvPr/>
        </p:nvSpPr>
        <p:spPr>
          <a:xfrm>
            <a:off x="4514850" y="1885950"/>
            <a:ext cx="2838450" cy="285750"/>
          </a:xfrm>
          <a:prstGeom prst="rect">
            <a:avLst/>
          </a:prstGeom>
          <a:noFill/>
          <a:ln w="0">
            <a:noFill/>
            <a:prstDash val="solid"/>
          </a:ln>
        </p:spPr>
        <p:txBody>
          <a:bodyPr/>
          <a:lstStyle/>
          <a:p>
            <a:pPr algn="l">
              <a:defRPr sz="1575" b="1">
                <a:solidFill>
                  <a:srgbClr val="132033"/>
                </a:solidFill>
              </a:defRPr>
            </a:pPr>
            <a:r>
              <a:rPr sz="1575" b="1">
                <a:solidFill>
                  <a:srgbClr val="132033"/>
                </a:solidFill>
              </a:rPr>
              <a:t>Layered answer trust</a:t>
            </a:r>
          </a:p>
        </p:txBody>
      </p:sp>
      <p:sp>
        <p:nvSpPr>
          <p:cNvPr id="24" name="Rectangle: Rounded Corners 23">
            <a:extLst>
              <a:ext uri="{FF2B5EF4-FFF2-40B4-BE49-F238E27FC236}">
                <a16:creationId xmlns:a16="http://schemas.microsoft.com/office/drawing/2014/main" id="{02341C3E-E74D-47AD-9A67-E801EE4A7719}"/>
              </a:ext>
            </a:extLst>
          </p:cNvPr>
          <p:cNvSpPr>
            <a:spLocks noGrp="1"/>
          </p:cNvSpPr>
          <p:nvPr/>
        </p:nvSpPr>
        <p:spPr>
          <a:xfrm>
            <a:off x="4533900" y="2476500"/>
            <a:ext cx="57150" cy="57150"/>
          </a:xfrm>
          <a:prstGeom prst="roundRect">
            <a:avLst>
              <a:gd name="adj" fmla="val 50000"/>
            </a:avLst>
          </a:prstGeom>
          <a:solidFill>
            <a:srgbClr val="2D7D5B"/>
          </a:solidFill>
          <a:ln w="0">
            <a:noFill/>
            <a:prstDash val="solid"/>
          </a:ln>
        </p:spPr>
        <p:txBody>
          <a:bodyPr/>
          <a:lstStyle/>
          <a:p>
            <a:endParaRPr lang="en-IN"/>
          </a:p>
        </p:txBody>
      </p:sp>
      <p:sp>
        <p:nvSpPr>
          <p:cNvPr id="25" name="Rectangle 24">
            <a:extLst>
              <a:ext uri="{FF2B5EF4-FFF2-40B4-BE49-F238E27FC236}">
                <a16:creationId xmlns:a16="http://schemas.microsoft.com/office/drawing/2014/main" id="{C59AB8CB-D985-4BCF-A8A8-40BD82397DF3}"/>
              </a:ext>
            </a:extLst>
          </p:cNvPr>
          <p:cNvSpPr>
            <a:spLocks noGrp="1"/>
          </p:cNvSpPr>
          <p:nvPr/>
        </p:nvSpPr>
        <p:spPr>
          <a:xfrm>
            <a:off x="4705350" y="2400300"/>
            <a:ext cx="2609850" cy="428625"/>
          </a:xfrm>
          <a:prstGeom prst="rect">
            <a:avLst/>
          </a:prstGeom>
          <a:noFill/>
          <a:ln w="0">
            <a:noFill/>
            <a:prstDash val="solid"/>
          </a:ln>
        </p:spPr>
        <p:txBody>
          <a:bodyPr/>
          <a:lstStyle/>
          <a:p>
            <a:pPr algn="l">
              <a:defRPr sz="1200" b="0">
                <a:solidFill>
                  <a:srgbClr val="35445B"/>
                </a:solidFill>
              </a:defRPr>
            </a:pPr>
            <a:r>
              <a:rPr sz="1200" b="0">
                <a:solidFill>
                  <a:srgbClr val="35445B"/>
                </a:solidFill>
              </a:rPr>
              <a:t>Validated routing and current state</a:t>
            </a:r>
          </a:p>
        </p:txBody>
      </p:sp>
      <p:sp>
        <p:nvSpPr>
          <p:cNvPr id="26" name="Rectangle: Rounded Corners 25">
            <a:extLst>
              <a:ext uri="{FF2B5EF4-FFF2-40B4-BE49-F238E27FC236}">
                <a16:creationId xmlns:a16="http://schemas.microsoft.com/office/drawing/2014/main" id="{58E1E35C-20D5-4D47-8EDE-33A96C769557}"/>
              </a:ext>
            </a:extLst>
          </p:cNvPr>
          <p:cNvSpPr>
            <a:spLocks noGrp="1"/>
          </p:cNvSpPr>
          <p:nvPr/>
        </p:nvSpPr>
        <p:spPr>
          <a:xfrm>
            <a:off x="4533900" y="2924175"/>
            <a:ext cx="57150" cy="57150"/>
          </a:xfrm>
          <a:prstGeom prst="roundRect">
            <a:avLst>
              <a:gd name="adj" fmla="val 50000"/>
            </a:avLst>
          </a:prstGeom>
          <a:solidFill>
            <a:srgbClr val="2D7D5B"/>
          </a:solidFill>
          <a:ln w="0">
            <a:noFill/>
            <a:prstDash val="solid"/>
          </a:ln>
        </p:spPr>
        <p:txBody>
          <a:bodyPr/>
          <a:lstStyle/>
          <a:p>
            <a:endParaRPr lang="en-IN"/>
          </a:p>
        </p:txBody>
      </p:sp>
      <p:sp>
        <p:nvSpPr>
          <p:cNvPr id="27" name="Rectangle 26">
            <a:extLst>
              <a:ext uri="{FF2B5EF4-FFF2-40B4-BE49-F238E27FC236}">
                <a16:creationId xmlns:a16="http://schemas.microsoft.com/office/drawing/2014/main" id="{C7A3EDB7-D0F1-4FBD-B37C-A342DE732394}"/>
              </a:ext>
            </a:extLst>
          </p:cNvPr>
          <p:cNvSpPr>
            <a:spLocks noGrp="1"/>
          </p:cNvSpPr>
          <p:nvPr/>
        </p:nvSpPr>
        <p:spPr>
          <a:xfrm>
            <a:off x="4705350" y="2847975"/>
            <a:ext cx="2609850" cy="428625"/>
          </a:xfrm>
          <a:prstGeom prst="rect">
            <a:avLst/>
          </a:prstGeom>
          <a:noFill/>
          <a:ln w="0">
            <a:noFill/>
            <a:prstDash val="solid"/>
          </a:ln>
        </p:spPr>
        <p:txBody>
          <a:bodyPr/>
          <a:lstStyle/>
          <a:p>
            <a:pPr algn="l">
              <a:defRPr sz="1200" b="0">
                <a:solidFill>
                  <a:srgbClr val="35445B"/>
                </a:solidFill>
              </a:defRPr>
            </a:pPr>
            <a:r>
              <a:rPr sz="1200" b="0">
                <a:solidFill>
                  <a:srgbClr val="35445B"/>
                </a:solidFill>
              </a:rPr>
              <a:t>Numeric, provider and date checks</a:t>
            </a:r>
          </a:p>
        </p:txBody>
      </p:sp>
      <p:sp>
        <p:nvSpPr>
          <p:cNvPr id="28" name="Rectangle: Rounded Corners 27">
            <a:extLst>
              <a:ext uri="{FF2B5EF4-FFF2-40B4-BE49-F238E27FC236}">
                <a16:creationId xmlns:a16="http://schemas.microsoft.com/office/drawing/2014/main" id="{36B2C163-67A5-482E-B14E-5BE7125216C8}"/>
              </a:ext>
            </a:extLst>
          </p:cNvPr>
          <p:cNvSpPr>
            <a:spLocks noGrp="1"/>
          </p:cNvSpPr>
          <p:nvPr/>
        </p:nvSpPr>
        <p:spPr>
          <a:xfrm>
            <a:off x="4533900" y="3371850"/>
            <a:ext cx="57150" cy="57150"/>
          </a:xfrm>
          <a:prstGeom prst="roundRect">
            <a:avLst>
              <a:gd name="adj" fmla="val 50000"/>
            </a:avLst>
          </a:prstGeom>
          <a:solidFill>
            <a:srgbClr val="2D7D5B"/>
          </a:solidFill>
          <a:ln w="0">
            <a:noFill/>
            <a:prstDash val="solid"/>
          </a:ln>
        </p:spPr>
        <p:txBody>
          <a:bodyPr/>
          <a:lstStyle/>
          <a:p>
            <a:endParaRPr lang="en-IN"/>
          </a:p>
        </p:txBody>
      </p:sp>
      <p:sp>
        <p:nvSpPr>
          <p:cNvPr id="29" name="Rectangle 28">
            <a:extLst>
              <a:ext uri="{FF2B5EF4-FFF2-40B4-BE49-F238E27FC236}">
                <a16:creationId xmlns:a16="http://schemas.microsoft.com/office/drawing/2014/main" id="{75DF8B78-F5A2-4CB0-B538-33CE1FA258BB}"/>
              </a:ext>
            </a:extLst>
          </p:cNvPr>
          <p:cNvSpPr>
            <a:spLocks noGrp="1"/>
          </p:cNvSpPr>
          <p:nvPr/>
        </p:nvSpPr>
        <p:spPr>
          <a:xfrm>
            <a:off x="4705350" y="3295650"/>
            <a:ext cx="2609850" cy="428625"/>
          </a:xfrm>
          <a:prstGeom prst="rect">
            <a:avLst/>
          </a:prstGeom>
          <a:noFill/>
          <a:ln w="0">
            <a:noFill/>
            <a:prstDash val="solid"/>
          </a:ln>
        </p:spPr>
        <p:txBody>
          <a:bodyPr/>
          <a:lstStyle/>
          <a:p>
            <a:pPr algn="l">
              <a:defRPr sz="1200" b="0">
                <a:solidFill>
                  <a:srgbClr val="35445B"/>
                </a:solidFill>
              </a:defRPr>
            </a:pPr>
            <a:r>
              <a:rPr sz="1200" b="0">
                <a:solidFill>
                  <a:srgbClr val="35445B"/>
                </a:solidFill>
              </a:rPr>
              <a:t>Absence-claim validation</a:t>
            </a:r>
          </a:p>
        </p:txBody>
      </p:sp>
      <p:sp>
        <p:nvSpPr>
          <p:cNvPr id="30" name="Rectangle: Rounded Corners 29">
            <a:extLst>
              <a:ext uri="{FF2B5EF4-FFF2-40B4-BE49-F238E27FC236}">
                <a16:creationId xmlns:a16="http://schemas.microsoft.com/office/drawing/2014/main" id="{FAB0F8DC-94EF-48AD-83F5-FB29F71D14F7}"/>
              </a:ext>
            </a:extLst>
          </p:cNvPr>
          <p:cNvSpPr>
            <a:spLocks noGrp="1"/>
          </p:cNvSpPr>
          <p:nvPr/>
        </p:nvSpPr>
        <p:spPr>
          <a:xfrm>
            <a:off x="4533900" y="3819525"/>
            <a:ext cx="57150" cy="57150"/>
          </a:xfrm>
          <a:prstGeom prst="roundRect">
            <a:avLst>
              <a:gd name="adj" fmla="val 50000"/>
            </a:avLst>
          </a:prstGeom>
          <a:solidFill>
            <a:srgbClr val="2D7D5B"/>
          </a:solidFill>
          <a:ln w="0">
            <a:noFill/>
            <a:prstDash val="solid"/>
          </a:ln>
        </p:spPr>
        <p:txBody>
          <a:bodyPr/>
          <a:lstStyle/>
          <a:p>
            <a:endParaRPr lang="en-IN"/>
          </a:p>
        </p:txBody>
      </p:sp>
      <p:sp>
        <p:nvSpPr>
          <p:cNvPr id="31" name="Rectangle 30">
            <a:extLst>
              <a:ext uri="{FF2B5EF4-FFF2-40B4-BE49-F238E27FC236}">
                <a16:creationId xmlns:a16="http://schemas.microsoft.com/office/drawing/2014/main" id="{14F497CF-7A69-4175-AAC1-92804BB59DEA}"/>
              </a:ext>
            </a:extLst>
          </p:cNvPr>
          <p:cNvSpPr>
            <a:spLocks noGrp="1"/>
          </p:cNvSpPr>
          <p:nvPr/>
        </p:nvSpPr>
        <p:spPr>
          <a:xfrm>
            <a:off x="4705350" y="3743325"/>
            <a:ext cx="2609850" cy="428625"/>
          </a:xfrm>
          <a:prstGeom prst="rect">
            <a:avLst/>
          </a:prstGeom>
          <a:noFill/>
          <a:ln w="0">
            <a:noFill/>
            <a:prstDash val="solid"/>
          </a:ln>
        </p:spPr>
        <p:txBody>
          <a:bodyPr/>
          <a:lstStyle/>
          <a:p>
            <a:pPr algn="l">
              <a:defRPr sz="1200" b="0">
                <a:solidFill>
                  <a:srgbClr val="35445B"/>
                </a:solidFill>
              </a:defRPr>
            </a:pPr>
            <a:r>
              <a:rPr sz="1200" b="0">
                <a:solidFill>
                  <a:srgbClr val="35445B"/>
                </a:solidFill>
              </a:rPr>
              <a:t>Grounding and citation verification</a:t>
            </a:r>
          </a:p>
        </p:txBody>
      </p:sp>
      <p:sp>
        <p:nvSpPr>
          <p:cNvPr id="32" name="Rectangle: Rounded Corners 31">
            <a:extLst>
              <a:ext uri="{FF2B5EF4-FFF2-40B4-BE49-F238E27FC236}">
                <a16:creationId xmlns:a16="http://schemas.microsoft.com/office/drawing/2014/main" id="{264B13B9-E964-47EB-AA6B-168DB09846DA}"/>
              </a:ext>
            </a:extLst>
          </p:cNvPr>
          <p:cNvSpPr>
            <a:spLocks noGrp="1"/>
          </p:cNvSpPr>
          <p:nvPr/>
        </p:nvSpPr>
        <p:spPr>
          <a:xfrm>
            <a:off x="4533900" y="4267200"/>
            <a:ext cx="57150" cy="57150"/>
          </a:xfrm>
          <a:prstGeom prst="roundRect">
            <a:avLst>
              <a:gd name="adj" fmla="val 50000"/>
            </a:avLst>
          </a:prstGeom>
          <a:solidFill>
            <a:srgbClr val="2D7D5B"/>
          </a:solidFill>
          <a:ln w="0">
            <a:noFill/>
            <a:prstDash val="solid"/>
          </a:ln>
        </p:spPr>
        <p:txBody>
          <a:bodyPr/>
          <a:lstStyle/>
          <a:p>
            <a:endParaRPr lang="en-IN"/>
          </a:p>
        </p:txBody>
      </p:sp>
      <p:sp>
        <p:nvSpPr>
          <p:cNvPr id="33" name="Rectangle 32">
            <a:extLst>
              <a:ext uri="{FF2B5EF4-FFF2-40B4-BE49-F238E27FC236}">
                <a16:creationId xmlns:a16="http://schemas.microsoft.com/office/drawing/2014/main" id="{9C7B6067-E236-48B3-B266-64F5CE82B416}"/>
              </a:ext>
            </a:extLst>
          </p:cNvPr>
          <p:cNvSpPr>
            <a:spLocks noGrp="1"/>
          </p:cNvSpPr>
          <p:nvPr/>
        </p:nvSpPr>
        <p:spPr>
          <a:xfrm>
            <a:off x="4705350" y="4191000"/>
            <a:ext cx="2609850" cy="428625"/>
          </a:xfrm>
          <a:prstGeom prst="rect">
            <a:avLst/>
          </a:prstGeom>
          <a:noFill/>
          <a:ln w="0">
            <a:noFill/>
            <a:prstDash val="solid"/>
          </a:ln>
        </p:spPr>
        <p:txBody>
          <a:bodyPr/>
          <a:lstStyle/>
          <a:p>
            <a:pPr algn="l">
              <a:defRPr sz="1200" b="0">
                <a:solidFill>
                  <a:srgbClr val="35445B"/>
                </a:solidFill>
              </a:defRPr>
            </a:pPr>
            <a:r>
              <a:rPr sz="1200" b="0">
                <a:solidFill>
                  <a:srgbClr val="35445B"/>
                </a:solidFill>
              </a:rPr>
              <a:t>Completeness and safe refusal</a:t>
            </a:r>
          </a:p>
        </p:txBody>
      </p:sp>
      <p:sp>
        <p:nvSpPr>
          <p:cNvPr id="34" name="Rectangle 33">
            <a:extLst>
              <a:ext uri="{FF2B5EF4-FFF2-40B4-BE49-F238E27FC236}">
                <a16:creationId xmlns:a16="http://schemas.microsoft.com/office/drawing/2014/main" id="{2BC8919A-B04D-4017-A38C-5B20ADC151B6}"/>
              </a:ext>
            </a:extLst>
          </p:cNvPr>
          <p:cNvSpPr>
            <a:spLocks noGrp="1"/>
          </p:cNvSpPr>
          <p:nvPr/>
        </p:nvSpPr>
        <p:spPr>
          <a:xfrm>
            <a:off x="8286750" y="1885950"/>
            <a:ext cx="3105150" cy="285750"/>
          </a:xfrm>
          <a:prstGeom prst="rect">
            <a:avLst/>
          </a:prstGeom>
          <a:noFill/>
          <a:ln w="0">
            <a:noFill/>
            <a:prstDash val="solid"/>
          </a:ln>
        </p:spPr>
        <p:txBody>
          <a:bodyPr/>
          <a:lstStyle/>
          <a:p>
            <a:pPr algn="l">
              <a:defRPr sz="1575" b="1">
                <a:solidFill>
                  <a:srgbClr val="132033"/>
                </a:solidFill>
              </a:defRPr>
            </a:pPr>
            <a:r>
              <a:rPr sz="1575" b="1">
                <a:solidFill>
                  <a:srgbClr val="132033"/>
                </a:solidFill>
              </a:rPr>
              <a:t>Deterministic-first design</a:t>
            </a:r>
          </a:p>
        </p:txBody>
      </p:sp>
      <p:sp>
        <p:nvSpPr>
          <p:cNvPr id="35" name="Rectangle: Rounded Corners 34">
            <a:extLst>
              <a:ext uri="{FF2B5EF4-FFF2-40B4-BE49-F238E27FC236}">
                <a16:creationId xmlns:a16="http://schemas.microsoft.com/office/drawing/2014/main" id="{E4754251-68E7-4C0F-A472-C38906A61DED}"/>
              </a:ext>
            </a:extLst>
          </p:cNvPr>
          <p:cNvSpPr>
            <a:spLocks noGrp="1"/>
          </p:cNvSpPr>
          <p:nvPr/>
        </p:nvSpPr>
        <p:spPr>
          <a:xfrm>
            <a:off x="8305800" y="2476500"/>
            <a:ext cx="57150" cy="57150"/>
          </a:xfrm>
          <a:prstGeom prst="roundRect">
            <a:avLst>
              <a:gd name="adj" fmla="val 50000"/>
            </a:avLst>
          </a:prstGeom>
          <a:solidFill>
            <a:srgbClr val="007A78"/>
          </a:solidFill>
          <a:ln w="0">
            <a:noFill/>
            <a:prstDash val="solid"/>
          </a:ln>
        </p:spPr>
        <p:txBody>
          <a:bodyPr/>
          <a:lstStyle/>
          <a:p>
            <a:endParaRPr lang="en-IN"/>
          </a:p>
        </p:txBody>
      </p:sp>
      <p:sp>
        <p:nvSpPr>
          <p:cNvPr id="36" name="Rectangle 35">
            <a:extLst>
              <a:ext uri="{FF2B5EF4-FFF2-40B4-BE49-F238E27FC236}">
                <a16:creationId xmlns:a16="http://schemas.microsoft.com/office/drawing/2014/main" id="{69721497-F1EE-4BD2-A264-B30CB7E164ED}"/>
              </a:ext>
            </a:extLst>
          </p:cNvPr>
          <p:cNvSpPr>
            <a:spLocks noGrp="1"/>
          </p:cNvSpPr>
          <p:nvPr/>
        </p:nvSpPr>
        <p:spPr>
          <a:xfrm>
            <a:off x="8477250" y="2400300"/>
            <a:ext cx="2876550" cy="533400"/>
          </a:xfrm>
          <a:prstGeom prst="rect">
            <a:avLst/>
          </a:prstGeom>
          <a:noFill/>
          <a:ln w="0">
            <a:noFill/>
            <a:prstDash val="solid"/>
          </a:ln>
        </p:spPr>
        <p:txBody>
          <a:bodyPr/>
          <a:lstStyle/>
          <a:p>
            <a:pPr algn="l">
              <a:defRPr sz="1200" b="0">
                <a:solidFill>
                  <a:srgbClr val="35445B"/>
                </a:solidFill>
              </a:defRPr>
            </a:pPr>
            <a:r>
              <a:rPr sz="1200" b="0">
                <a:solidFill>
                  <a:srgbClr val="35445B"/>
                </a:solidFill>
              </a:rPr>
              <a:t>Process documents once</a:t>
            </a:r>
          </a:p>
        </p:txBody>
      </p:sp>
      <p:sp>
        <p:nvSpPr>
          <p:cNvPr id="37" name="Rectangle: Rounded Corners 36">
            <a:extLst>
              <a:ext uri="{FF2B5EF4-FFF2-40B4-BE49-F238E27FC236}">
                <a16:creationId xmlns:a16="http://schemas.microsoft.com/office/drawing/2014/main" id="{FB02AFEE-88E5-4E8B-9DE3-53F72273B689}"/>
              </a:ext>
            </a:extLst>
          </p:cNvPr>
          <p:cNvSpPr>
            <a:spLocks noGrp="1"/>
          </p:cNvSpPr>
          <p:nvPr/>
        </p:nvSpPr>
        <p:spPr>
          <a:xfrm>
            <a:off x="8305800" y="3028950"/>
            <a:ext cx="57150" cy="57150"/>
          </a:xfrm>
          <a:prstGeom prst="roundRect">
            <a:avLst>
              <a:gd name="adj" fmla="val 50000"/>
            </a:avLst>
          </a:prstGeom>
          <a:solidFill>
            <a:srgbClr val="007A78"/>
          </a:solidFill>
          <a:ln w="0">
            <a:noFill/>
            <a:prstDash val="solid"/>
          </a:ln>
        </p:spPr>
        <p:txBody>
          <a:bodyPr/>
          <a:lstStyle/>
          <a:p>
            <a:endParaRPr lang="en-IN"/>
          </a:p>
        </p:txBody>
      </p:sp>
      <p:sp>
        <p:nvSpPr>
          <p:cNvPr id="38" name="Rectangle 37">
            <a:extLst>
              <a:ext uri="{FF2B5EF4-FFF2-40B4-BE49-F238E27FC236}">
                <a16:creationId xmlns:a16="http://schemas.microsoft.com/office/drawing/2014/main" id="{3F267665-B17B-452F-827B-77C5D2F02454}"/>
              </a:ext>
            </a:extLst>
          </p:cNvPr>
          <p:cNvSpPr>
            <a:spLocks noGrp="1"/>
          </p:cNvSpPr>
          <p:nvPr/>
        </p:nvSpPr>
        <p:spPr>
          <a:xfrm>
            <a:off x="8477250" y="2952750"/>
            <a:ext cx="2876550" cy="533400"/>
          </a:xfrm>
          <a:prstGeom prst="rect">
            <a:avLst/>
          </a:prstGeom>
          <a:noFill/>
          <a:ln w="0">
            <a:noFill/>
            <a:prstDash val="solid"/>
          </a:ln>
        </p:spPr>
        <p:txBody>
          <a:bodyPr/>
          <a:lstStyle/>
          <a:p>
            <a:pPr algn="l">
              <a:defRPr sz="1200" b="0">
                <a:solidFill>
                  <a:srgbClr val="35445B"/>
                </a:solidFill>
              </a:defRPr>
            </a:pPr>
            <a:r>
              <a:rPr sz="1200" b="0">
                <a:solidFill>
                  <a:srgbClr val="35445B"/>
                </a:solidFill>
              </a:rPr>
              <a:t>Use Python / SQL for repeatable logic</a:t>
            </a:r>
          </a:p>
        </p:txBody>
      </p:sp>
      <p:sp>
        <p:nvSpPr>
          <p:cNvPr id="39" name="Rectangle: Rounded Corners 38">
            <a:extLst>
              <a:ext uri="{FF2B5EF4-FFF2-40B4-BE49-F238E27FC236}">
                <a16:creationId xmlns:a16="http://schemas.microsoft.com/office/drawing/2014/main" id="{6182FAA7-C411-4235-B413-1404866138AA}"/>
              </a:ext>
            </a:extLst>
          </p:cNvPr>
          <p:cNvSpPr>
            <a:spLocks noGrp="1"/>
          </p:cNvSpPr>
          <p:nvPr/>
        </p:nvSpPr>
        <p:spPr>
          <a:xfrm>
            <a:off x="8305800" y="3581400"/>
            <a:ext cx="57150" cy="57150"/>
          </a:xfrm>
          <a:prstGeom prst="roundRect">
            <a:avLst>
              <a:gd name="adj" fmla="val 50000"/>
            </a:avLst>
          </a:prstGeom>
          <a:solidFill>
            <a:srgbClr val="007A78"/>
          </a:solidFill>
          <a:ln w="0">
            <a:noFill/>
            <a:prstDash val="solid"/>
          </a:ln>
        </p:spPr>
        <p:txBody>
          <a:bodyPr/>
          <a:lstStyle/>
          <a:p>
            <a:endParaRPr lang="en-IN"/>
          </a:p>
        </p:txBody>
      </p:sp>
      <p:sp>
        <p:nvSpPr>
          <p:cNvPr id="40" name="Rectangle 39">
            <a:extLst>
              <a:ext uri="{FF2B5EF4-FFF2-40B4-BE49-F238E27FC236}">
                <a16:creationId xmlns:a16="http://schemas.microsoft.com/office/drawing/2014/main" id="{D8621FD0-61F1-4D3C-85BB-7618DA0E01F1}"/>
              </a:ext>
            </a:extLst>
          </p:cNvPr>
          <p:cNvSpPr>
            <a:spLocks noGrp="1"/>
          </p:cNvSpPr>
          <p:nvPr/>
        </p:nvSpPr>
        <p:spPr>
          <a:xfrm>
            <a:off x="8477250" y="3505200"/>
            <a:ext cx="2876550" cy="533400"/>
          </a:xfrm>
          <a:prstGeom prst="rect">
            <a:avLst/>
          </a:prstGeom>
          <a:noFill/>
          <a:ln w="0">
            <a:noFill/>
            <a:prstDash val="solid"/>
          </a:ln>
        </p:spPr>
        <p:txBody>
          <a:bodyPr/>
          <a:lstStyle/>
          <a:p>
            <a:pPr algn="l">
              <a:defRPr sz="1200" b="0">
                <a:solidFill>
                  <a:srgbClr val="35445B"/>
                </a:solidFill>
              </a:defRPr>
            </a:pPr>
            <a:r>
              <a:rPr sz="1200" b="0">
                <a:solidFill>
                  <a:srgbClr val="35445B"/>
                </a:solidFill>
              </a:rPr>
              <a:t>Avoid extra model calls for exact checks</a:t>
            </a:r>
          </a:p>
        </p:txBody>
      </p:sp>
      <p:sp>
        <p:nvSpPr>
          <p:cNvPr id="41" name="Rectangle: Rounded Corners 40">
            <a:extLst>
              <a:ext uri="{FF2B5EF4-FFF2-40B4-BE49-F238E27FC236}">
                <a16:creationId xmlns:a16="http://schemas.microsoft.com/office/drawing/2014/main" id="{B3C3CBA5-C5EB-41E6-9F28-04573BE021F2}"/>
              </a:ext>
            </a:extLst>
          </p:cNvPr>
          <p:cNvSpPr>
            <a:spLocks noGrp="1"/>
          </p:cNvSpPr>
          <p:nvPr/>
        </p:nvSpPr>
        <p:spPr>
          <a:xfrm>
            <a:off x="8305800" y="4133850"/>
            <a:ext cx="57150" cy="57150"/>
          </a:xfrm>
          <a:prstGeom prst="roundRect">
            <a:avLst>
              <a:gd name="adj" fmla="val 50000"/>
            </a:avLst>
          </a:prstGeom>
          <a:solidFill>
            <a:srgbClr val="007A78"/>
          </a:solidFill>
          <a:ln w="0">
            <a:noFill/>
            <a:prstDash val="solid"/>
          </a:ln>
        </p:spPr>
        <p:txBody>
          <a:bodyPr/>
          <a:lstStyle/>
          <a:p>
            <a:endParaRPr lang="en-IN"/>
          </a:p>
        </p:txBody>
      </p:sp>
      <p:sp>
        <p:nvSpPr>
          <p:cNvPr id="42" name="Rectangle 41">
            <a:extLst>
              <a:ext uri="{FF2B5EF4-FFF2-40B4-BE49-F238E27FC236}">
                <a16:creationId xmlns:a16="http://schemas.microsoft.com/office/drawing/2014/main" id="{25523B07-03BB-428B-8E45-6A39561D2588}"/>
              </a:ext>
            </a:extLst>
          </p:cNvPr>
          <p:cNvSpPr>
            <a:spLocks noGrp="1"/>
          </p:cNvSpPr>
          <p:nvPr/>
        </p:nvSpPr>
        <p:spPr>
          <a:xfrm>
            <a:off x="8477250" y="4057650"/>
            <a:ext cx="2876550" cy="533400"/>
          </a:xfrm>
          <a:prstGeom prst="rect">
            <a:avLst/>
          </a:prstGeom>
          <a:noFill/>
          <a:ln w="0">
            <a:noFill/>
            <a:prstDash val="solid"/>
          </a:ln>
        </p:spPr>
        <p:txBody>
          <a:bodyPr/>
          <a:lstStyle/>
          <a:p>
            <a:pPr algn="l">
              <a:defRPr sz="1200" b="0">
                <a:solidFill>
                  <a:srgbClr val="35445B"/>
                </a:solidFill>
              </a:defRPr>
            </a:pPr>
            <a:r>
              <a:rPr sz="1200" b="0">
                <a:solidFill>
                  <a:srgbClr val="35445B"/>
                </a:solidFill>
              </a:rPr>
              <a:t>Bound agent steps, timeout and budget</a:t>
            </a:r>
          </a:p>
        </p:txBody>
      </p:sp>
      <p:sp>
        <p:nvSpPr>
          <p:cNvPr id="43" name="Rectangle: Rounded Corners 42">
            <a:extLst>
              <a:ext uri="{FF2B5EF4-FFF2-40B4-BE49-F238E27FC236}">
                <a16:creationId xmlns:a16="http://schemas.microsoft.com/office/drawing/2014/main" id="{A66DD948-6830-429A-B421-59FAD1DA3214}"/>
              </a:ext>
            </a:extLst>
          </p:cNvPr>
          <p:cNvSpPr>
            <a:spLocks noGrp="1"/>
          </p:cNvSpPr>
          <p:nvPr/>
        </p:nvSpPr>
        <p:spPr>
          <a:xfrm>
            <a:off x="1790700" y="5572125"/>
            <a:ext cx="8610600" cy="495300"/>
          </a:xfrm>
          <a:prstGeom prst="roundRect">
            <a:avLst>
              <a:gd name="adj" fmla="val 7692"/>
            </a:avLst>
          </a:prstGeom>
          <a:solidFill>
            <a:srgbClr val="E5F4F2"/>
          </a:solidFill>
          <a:ln w="9525">
            <a:solidFill>
              <a:srgbClr val="007A78"/>
            </a:solidFill>
            <a:prstDash val="solid"/>
          </a:ln>
        </p:spPr>
        <p:txBody>
          <a:bodyPr/>
          <a:lstStyle/>
          <a:p>
            <a:endParaRPr lang="en-IN"/>
          </a:p>
        </p:txBody>
      </p:sp>
      <p:sp>
        <p:nvSpPr>
          <p:cNvPr id="44" name="Rectangle 43">
            <a:extLst>
              <a:ext uri="{FF2B5EF4-FFF2-40B4-BE49-F238E27FC236}">
                <a16:creationId xmlns:a16="http://schemas.microsoft.com/office/drawing/2014/main" id="{438EC4CA-CD76-472F-BC01-73F4214D4935}"/>
              </a:ext>
            </a:extLst>
          </p:cNvPr>
          <p:cNvSpPr>
            <a:spLocks noGrp="1"/>
          </p:cNvSpPr>
          <p:nvPr/>
        </p:nvSpPr>
        <p:spPr>
          <a:xfrm>
            <a:off x="1790700" y="5572125"/>
            <a:ext cx="57150" cy="495300"/>
          </a:xfrm>
          <a:prstGeom prst="rect">
            <a:avLst/>
          </a:prstGeom>
          <a:solidFill>
            <a:srgbClr val="007A78"/>
          </a:solidFill>
          <a:ln w="0">
            <a:noFill/>
            <a:prstDash val="solid"/>
          </a:ln>
        </p:spPr>
        <p:txBody>
          <a:bodyPr/>
          <a:lstStyle/>
          <a:p>
            <a:endParaRPr lang="en-IN"/>
          </a:p>
        </p:txBody>
      </p:sp>
      <p:sp>
        <p:nvSpPr>
          <p:cNvPr id="45" name="Rectangle 44">
            <a:extLst>
              <a:ext uri="{FF2B5EF4-FFF2-40B4-BE49-F238E27FC236}">
                <a16:creationId xmlns:a16="http://schemas.microsoft.com/office/drawing/2014/main" id="{D92BF333-3823-43A0-A6FE-1566E2272E37}"/>
              </a:ext>
            </a:extLst>
          </p:cNvPr>
          <p:cNvSpPr>
            <a:spLocks noGrp="1"/>
          </p:cNvSpPr>
          <p:nvPr/>
        </p:nvSpPr>
        <p:spPr>
          <a:xfrm>
            <a:off x="2000250" y="5695950"/>
            <a:ext cx="8248650" cy="323850"/>
          </a:xfrm>
          <a:prstGeom prst="rect">
            <a:avLst/>
          </a:prstGeom>
          <a:noFill/>
          <a:ln w="0">
            <a:noFill/>
            <a:prstDash val="solid"/>
          </a:ln>
        </p:spPr>
        <p:txBody>
          <a:bodyPr/>
          <a:lstStyle/>
          <a:p>
            <a:pPr algn="l">
              <a:defRPr sz="1425" b="1">
                <a:solidFill>
                  <a:srgbClr val="132033"/>
                </a:solidFill>
              </a:defRPr>
            </a:pPr>
            <a:r>
              <a:rPr sz="1425" b="1">
                <a:solidFill>
                  <a:srgbClr val="132033"/>
                </a:solidFill>
              </a:rPr>
              <a:t>Current testing: complex answers typically use &lt; $1 of LLM inference*</a:t>
            </a:r>
          </a:p>
        </p:txBody>
      </p:sp>
      <p:sp>
        <p:nvSpPr>
          <p:cNvPr id="46" name="Rectangle 45">
            <a:extLst>
              <a:ext uri="{FF2B5EF4-FFF2-40B4-BE49-F238E27FC236}">
                <a16:creationId xmlns:a16="http://schemas.microsoft.com/office/drawing/2014/main" id="{6A4CC59B-C811-4C50-9A6C-3405BF184FB3}"/>
              </a:ext>
            </a:extLst>
          </p:cNvPr>
          <p:cNvSpPr>
            <a:spLocks noGrp="1"/>
          </p:cNvSpPr>
          <p:nvPr/>
        </p:nvSpPr>
        <p:spPr>
          <a:xfrm>
            <a:off x="1790700" y="6162675"/>
            <a:ext cx="8610600" cy="152400"/>
          </a:xfrm>
          <a:prstGeom prst="rect">
            <a:avLst/>
          </a:prstGeom>
          <a:noFill/>
          <a:ln w="0">
            <a:noFill/>
            <a:prstDash val="solid"/>
          </a:ln>
        </p:spPr>
        <p:txBody>
          <a:bodyPr/>
          <a:lstStyle/>
          <a:p>
            <a:pPr algn="ctr">
              <a:defRPr sz="750" b="0">
                <a:solidFill>
                  <a:srgbClr val="667389"/>
                </a:solidFill>
              </a:defRPr>
            </a:pPr>
            <a:r>
              <a:rPr sz="750" b="0">
                <a:solidFill>
                  <a:srgbClr val="667389"/>
                </a:solidFill>
              </a:rPr>
              <a:t>*Shared Databricks platform compute excluded.</a:t>
            </a:r>
          </a:p>
        </p:txBody>
      </p:sp>
    </p:spTree>
    <p:extLst>
      <p:ext uri="{BB962C8B-B14F-4D97-AF65-F5344CB8AC3E}">
        <p14:creationId xmlns:p14="http://schemas.microsoft.com/office/powerpoint/2010/main" val="5859376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9" name="section">
            <a:extLst>
              <a:ext uri="{FF2B5EF4-FFF2-40B4-BE49-F238E27FC236}">
                <a16:creationId xmlns:a16="http://schemas.microsoft.com/office/drawing/2014/main" id="{DF3AD1A9-C0A1-46B7-A535-BF9CF5F64E10}"/>
              </a:ext>
            </a:extLst>
          </p:cNvPr>
          <p:cNvSpPr>
            <a:spLocks noGrp="1"/>
          </p:cNvSpPr>
          <p:nvPr/>
        </p:nvSpPr>
        <p:spPr>
          <a:xfrm>
            <a:off x="457200" y="209550"/>
            <a:ext cx="6858000" cy="190500"/>
          </a:xfrm>
          <a:prstGeom prst="rect">
            <a:avLst/>
          </a:prstGeom>
          <a:noFill/>
          <a:ln w="0">
            <a:noFill/>
            <a:prstDash val="solid"/>
          </a:ln>
        </p:spPr>
        <p:txBody>
          <a:bodyPr/>
          <a:lstStyle/>
          <a:p>
            <a:pPr algn="l">
              <a:defRPr sz="825" b="1">
                <a:solidFill>
                  <a:srgbClr val="6B4E8C"/>
                </a:solidFill>
              </a:defRPr>
            </a:pPr>
            <a:r>
              <a:rPr sz="825" b="1">
                <a:solidFill>
                  <a:srgbClr val="6B4E8C"/>
                </a:solidFill>
              </a:rPr>
              <a:t>INTEGRATED DEMONSTRATION</a:t>
            </a:r>
          </a:p>
        </p:txBody>
      </p:sp>
      <p:sp>
        <p:nvSpPr>
          <p:cNvPr id="2" name="slide-title">
            <a:extLst>
              <a:ext uri="{FF2B5EF4-FFF2-40B4-BE49-F238E27FC236}">
                <a16:creationId xmlns:a16="http://schemas.microsoft.com/office/drawing/2014/main" id="{6BFBE653-6CE9-43C2-96F1-0631C9E8F952}"/>
              </a:ext>
            </a:extLst>
          </p:cNvPr>
          <p:cNvSpPr>
            <a:spLocks noGrp="1"/>
          </p:cNvSpPr>
          <p:nvPr/>
        </p:nvSpPr>
        <p:spPr>
          <a:xfrm>
            <a:off x="457200" y="457200"/>
            <a:ext cx="11220450" cy="457200"/>
          </a:xfrm>
          <a:prstGeom prst="rect">
            <a:avLst/>
          </a:prstGeom>
          <a:noFill/>
          <a:ln w="0">
            <a:noFill/>
            <a:prstDash val="solid"/>
          </a:ln>
        </p:spPr>
        <p:txBody>
          <a:bodyPr/>
          <a:lstStyle/>
          <a:p>
            <a:pPr algn="l">
              <a:defRPr sz="2625" b="1">
                <a:solidFill>
                  <a:srgbClr val="132033"/>
                </a:solidFill>
              </a:defRPr>
            </a:pPr>
            <a:r>
              <a:rPr sz="2625" b="1">
                <a:solidFill>
                  <a:srgbClr val="132033"/>
                </a:solidFill>
              </a:rPr>
              <a:t>Demo: the governing answer comes with proof</a:t>
            </a:r>
          </a:p>
        </p:txBody>
      </p:sp>
      <p:sp>
        <p:nvSpPr>
          <p:cNvPr id="3" name="Rectangle 2">
            <a:extLst>
              <a:ext uri="{FF2B5EF4-FFF2-40B4-BE49-F238E27FC236}">
                <a16:creationId xmlns:a16="http://schemas.microsoft.com/office/drawing/2014/main" id="{6498E473-22D3-4E43-A9AC-23F19F6636B8}"/>
              </a:ext>
            </a:extLst>
          </p:cNvPr>
          <p:cNvSpPr>
            <a:spLocks noGrp="1"/>
          </p:cNvSpPr>
          <p:nvPr/>
        </p:nvSpPr>
        <p:spPr>
          <a:xfrm>
            <a:off x="457200" y="990600"/>
            <a:ext cx="11277600" cy="9525"/>
          </a:xfrm>
          <a:prstGeom prst="rect">
            <a:avLst/>
          </a:prstGeom>
          <a:solidFill>
            <a:srgbClr val="D8DEE8"/>
          </a:solidFill>
          <a:ln w="0">
            <a:noFill/>
            <a:prstDash val="solid"/>
          </a:ln>
        </p:spPr>
        <p:txBody>
          <a:bodyPr/>
          <a:lstStyle/>
          <a:p>
            <a:endParaRPr lang="en-IN"/>
          </a:p>
        </p:txBody>
      </p:sp>
      <p:sp>
        <p:nvSpPr>
          <p:cNvPr id="4" name="visible-source">
            <a:extLst>
              <a:ext uri="{FF2B5EF4-FFF2-40B4-BE49-F238E27FC236}">
                <a16:creationId xmlns:a16="http://schemas.microsoft.com/office/drawing/2014/main" id="{7A948E60-305D-43FD-B0EC-3D2F1FD2F7B3}"/>
              </a:ext>
            </a:extLst>
          </p:cNvPr>
          <p:cNvSpPr>
            <a:spLocks noGrp="1"/>
          </p:cNvSpPr>
          <p:nvPr/>
        </p:nvSpPr>
        <p:spPr>
          <a:xfrm>
            <a:off x="457200" y="6524625"/>
            <a:ext cx="9334500" cy="142875"/>
          </a:xfrm>
          <a:prstGeom prst="rect">
            <a:avLst/>
          </a:prstGeom>
          <a:noFill/>
          <a:ln w="0">
            <a:noFill/>
            <a:prstDash val="solid"/>
          </a:ln>
        </p:spPr>
        <p:txBody>
          <a:bodyPr/>
          <a:lstStyle/>
          <a:p>
            <a:pPr algn="l">
              <a:defRPr sz="675" b="0">
                <a:solidFill>
                  <a:srgbClr val="667389"/>
                </a:solidFill>
              </a:defRPr>
            </a:pPr>
            <a:r>
              <a:rPr sz="675" b="0">
                <a:solidFill>
                  <a:srgbClr val="667389"/>
                </a:solidFill>
              </a:rPr>
              <a:t>Source: Illustrative redacted scenario from project documentation</a:t>
            </a:r>
          </a:p>
        </p:txBody>
      </p:sp>
      <p:sp>
        <p:nvSpPr>
          <p:cNvPr id="5" name="page">
            <a:extLst>
              <a:ext uri="{FF2B5EF4-FFF2-40B4-BE49-F238E27FC236}">
                <a16:creationId xmlns:a16="http://schemas.microsoft.com/office/drawing/2014/main" id="{A900DDB6-0542-45B5-B5FF-6338D6858F32}"/>
              </a:ext>
            </a:extLst>
          </p:cNvPr>
          <p:cNvSpPr>
            <a:spLocks noGrp="1"/>
          </p:cNvSpPr>
          <p:nvPr/>
        </p:nvSpPr>
        <p:spPr>
          <a:xfrm>
            <a:off x="11220450" y="6496050"/>
            <a:ext cx="514350" cy="171450"/>
          </a:xfrm>
          <a:prstGeom prst="rect">
            <a:avLst/>
          </a:prstGeom>
          <a:noFill/>
          <a:ln w="0">
            <a:noFill/>
            <a:prstDash val="solid"/>
          </a:ln>
        </p:spPr>
        <p:txBody>
          <a:bodyPr/>
          <a:lstStyle/>
          <a:p>
            <a:pPr algn="r">
              <a:defRPr sz="750" b="1">
                <a:solidFill>
                  <a:srgbClr val="667389"/>
                </a:solidFill>
              </a:defRPr>
            </a:pPr>
            <a:r>
              <a:rPr sz="750" b="1">
                <a:solidFill>
                  <a:srgbClr val="667389"/>
                </a:solidFill>
              </a:rPr>
              <a:t>10</a:t>
            </a:r>
          </a:p>
        </p:txBody>
      </p:sp>
      <p:sp>
        <p:nvSpPr>
          <p:cNvPr id="6" name="Rectangle: Rounded Corners 5">
            <a:extLst>
              <a:ext uri="{FF2B5EF4-FFF2-40B4-BE49-F238E27FC236}">
                <a16:creationId xmlns:a16="http://schemas.microsoft.com/office/drawing/2014/main" id="{3EB0A717-A871-4D5F-AF90-B4BBF52A39BA}"/>
              </a:ext>
            </a:extLst>
          </p:cNvPr>
          <p:cNvSpPr>
            <a:spLocks noGrp="1"/>
          </p:cNvSpPr>
          <p:nvPr/>
        </p:nvSpPr>
        <p:spPr>
          <a:xfrm>
            <a:off x="495300" y="1238250"/>
            <a:ext cx="7239000" cy="4762500"/>
          </a:xfrm>
          <a:prstGeom prst="roundRect">
            <a:avLst>
              <a:gd name="adj" fmla="val 800"/>
            </a:avLst>
          </a:prstGeom>
          <a:solidFill>
            <a:srgbClr val="F4F6F9"/>
          </a:solidFill>
          <a:ln w="9525">
            <a:solidFill>
              <a:srgbClr val="D8DEE8"/>
            </a:solidFill>
            <a:prstDash val="solid"/>
          </a:ln>
        </p:spPr>
        <p:txBody>
          <a:bodyPr/>
          <a:lstStyle/>
          <a:p>
            <a:endParaRPr lang="en-IN"/>
          </a:p>
        </p:txBody>
      </p:sp>
      <p:sp>
        <p:nvSpPr>
          <p:cNvPr id="7" name="Rectangle: Rounded Corners 6">
            <a:extLst>
              <a:ext uri="{FF2B5EF4-FFF2-40B4-BE49-F238E27FC236}">
                <a16:creationId xmlns:a16="http://schemas.microsoft.com/office/drawing/2014/main" id="{79A65324-759D-4724-9A1E-06537B788C14}"/>
              </a:ext>
            </a:extLst>
          </p:cNvPr>
          <p:cNvSpPr>
            <a:spLocks noGrp="1"/>
          </p:cNvSpPr>
          <p:nvPr/>
        </p:nvSpPr>
        <p:spPr>
          <a:xfrm>
            <a:off x="7924800" y="1238250"/>
            <a:ext cx="3771900" cy="4762500"/>
          </a:xfrm>
          <a:prstGeom prst="roundRect">
            <a:avLst>
              <a:gd name="adj" fmla="val 1010"/>
            </a:avLst>
          </a:prstGeom>
          <a:solidFill>
            <a:srgbClr val="FFFFFF"/>
          </a:solidFill>
          <a:ln w="9525">
            <a:solidFill>
              <a:srgbClr val="D8DEE8"/>
            </a:solidFill>
            <a:prstDash val="solid"/>
          </a:ln>
        </p:spPr>
        <p:txBody>
          <a:bodyPr/>
          <a:lstStyle/>
          <a:p>
            <a:endParaRPr lang="en-IN"/>
          </a:p>
        </p:txBody>
      </p:sp>
      <p:sp>
        <p:nvSpPr>
          <p:cNvPr id="8" name="Rectangle 7">
            <a:extLst>
              <a:ext uri="{FF2B5EF4-FFF2-40B4-BE49-F238E27FC236}">
                <a16:creationId xmlns:a16="http://schemas.microsoft.com/office/drawing/2014/main" id="{A14B59C5-BC48-4F9A-A837-CEB6B29A58B4}"/>
              </a:ext>
            </a:extLst>
          </p:cNvPr>
          <p:cNvSpPr>
            <a:spLocks noGrp="1"/>
          </p:cNvSpPr>
          <p:nvPr/>
        </p:nvSpPr>
        <p:spPr>
          <a:xfrm>
            <a:off x="742950" y="1485900"/>
            <a:ext cx="1524000" cy="171450"/>
          </a:xfrm>
          <a:prstGeom prst="rect">
            <a:avLst/>
          </a:prstGeom>
          <a:noFill/>
          <a:ln w="0">
            <a:noFill/>
            <a:prstDash val="solid"/>
          </a:ln>
        </p:spPr>
        <p:txBody>
          <a:bodyPr/>
          <a:lstStyle/>
          <a:p>
            <a:pPr algn="l">
              <a:defRPr sz="900" b="1">
                <a:solidFill>
                  <a:srgbClr val="667389"/>
                </a:solidFill>
              </a:defRPr>
            </a:pPr>
            <a:r>
              <a:rPr sz="900" b="1">
                <a:solidFill>
                  <a:srgbClr val="667389"/>
                </a:solidFill>
              </a:rPr>
              <a:t>Question</a:t>
            </a:r>
          </a:p>
        </p:txBody>
      </p:sp>
      <p:sp>
        <p:nvSpPr>
          <p:cNvPr id="9" name="Rectangle: Rounded Corners 8">
            <a:extLst>
              <a:ext uri="{FF2B5EF4-FFF2-40B4-BE49-F238E27FC236}">
                <a16:creationId xmlns:a16="http://schemas.microsoft.com/office/drawing/2014/main" id="{E7EA3C43-E7FD-4557-ABA9-AFE60D14D8C2}"/>
              </a:ext>
            </a:extLst>
          </p:cNvPr>
          <p:cNvSpPr>
            <a:spLocks noGrp="1"/>
          </p:cNvSpPr>
          <p:nvPr/>
        </p:nvSpPr>
        <p:spPr>
          <a:xfrm>
            <a:off x="742950" y="1752600"/>
            <a:ext cx="6743700" cy="628650"/>
          </a:xfrm>
          <a:prstGeom prst="roundRect">
            <a:avLst>
              <a:gd name="adj" fmla="val 6061"/>
            </a:avLst>
          </a:prstGeom>
          <a:solidFill>
            <a:srgbClr val="F1ECF6"/>
          </a:solidFill>
          <a:ln w="9525">
            <a:solidFill>
              <a:srgbClr val="6B4E8C"/>
            </a:solidFill>
            <a:prstDash val="solid"/>
          </a:ln>
        </p:spPr>
        <p:txBody>
          <a:bodyPr/>
          <a:lstStyle/>
          <a:p>
            <a:endParaRPr lang="en-IN"/>
          </a:p>
        </p:txBody>
      </p:sp>
      <p:sp>
        <p:nvSpPr>
          <p:cNvPr id="10" name="Rectangle 9">
            <a:extLst>
              <a:ext uri="{FF2B5EF4-FFF2-40B4-BE49-F238E27FC236}">
                <a16:creationId xmlns:a16="http://schemas.microsoft.com/office/drawing/2014/main" id="{139EEA5D-EA04-4A9F-9458-5662DE1F93C6}"/>
              </a:ext>
            </a:extLst>
          </p:cNvPr>
          <p:cNvSpPr>
            <a:spLocks noGrp="1"/>
          </p:cNvSpPr>
          <p:nvPr/>
        </p:nvSpPr>
        <p:spPr>
          <a:xfrm>
            <a:off x="933450" y="1914525"/>
            <a:ext cx="6362700" cy="361950"/>
          </a:xfrm>
          <a:prstGeom prst="rect">
            <a:avLst/>
          </a:prstGeom>
          <a:noFill/>
          <a:ln w="0">
            <a:noFill/>
            <a:prstDash val="solid"/>
          </a:ln>
        </p:spPr>
        <p:txBody>
          <a:bodyPr/>
          <a:lstStyle/>
          <a:p>
            <a:pPr algn="l">
              <a:defRPr sz="1275" b="0">
                <a:solidFill>
                  <a:srgbClr val="132033"/>
                </a:solidFill>
              </a:defRPr>
            </a:pPr>
            <a:r>
              <a:rPr sz="1275" b="0">
                <a:solidFill>
                  <a:srgbClr val="132033"/>
                </a:solidFill>
              </a:rPr>
              <a:t>What is the current inpatient per diem rate, which amendment established it, and what previous rate did it supersede?</a:t>
            </a:r>
          </a:p>
        </p:txBody>
      </p:sp>
      <p:sp>
        <p:nvSpPr>
          <p:cNvPr id="11" name="Rectangle 10">
            <a:extLst>
              <a:ext uri="{FF2B5EF4-FFF2-40B4-BE49-F238E27FC236}">
                <a16:creationId xmlns:a16="http://schemas.microsoft.com/office/drawing/2014/main" id="{710ECF97-086A-4F6B-BB6C-A89E809E4F83}"/>
              </a:ext>
            </a:extLst>
          </p:cNvPr>
          <p:cNvSpPr>
            <a:spLocks noGrp="1"/>
          </p:cNvSpPr>
          <p:nvPr/>
        </p:nvSpPr>
        <p:spPr>
          <a:xfrm>
            <a:off x="742950" y="2743200"/>
            <a:ext cx="1905000" cy="190500"/>
          </a:xfrm>
          <a:prstGeom prst="rect">
            <a:avLst/>
          </a:prstGeom>
          <a:noFill/>
          <a:ln w="0">
            <a:noFill/>
            <a:prstDash val="solid"/>
          </a:ln>
        </p:spPr>
        <p:txBody>
          <a:bodyPr/>
          <a:lstStyle/>
          <a:p>
            <a:pPr algn="l">
              <a:defRPr sz="975" b="1">
                <a:solidFill>
                  <a:srgbClr val="2D7D5B"/>
                </a:solidFill>
              </a:defRPr>
            </a:pPr>
            <a:r>
              <a:rPr sz="975" b="1">
                <a:solidFill>
                  <a:srgbClr val="2D7D5B"/>
                </a:solidFill>
              </a:rPr>
              <a:t>Governing answer</a:t>
            </a:r>
          </a:p>
        </p:txBody>
      </p:sp>
      <p:sp>
        <p:nvSpPr>
          <p:cNvPr id="12" name="Rectangle 11">
            <a:extLst>
              <a:ext uri="{FF2B5EF4-FFF2-40B4-BE49-F238E27FC236}">
                <a16:creationId xmlns:a16="http://schemas.microsoft.com/office/drawing/2014/main" id="{5C94E443-6F1F-4FA3-929D-19C7CF1EBA2C}"/>
              </a:ext>
            </a:extLst>
          </p:cNvPr>
          <p:cNvSpPr>
            <a:spLocks noGrp="1"/>
          </p:cNvSpPr>
          <p:nvPr/>
        </p:nvSpPr>
        <p:spPr>
          <a:xfrm>
            <a:off x="742950" y="3028950"/>
            <a:ext cx="2857500" cy="419100"/>
          </a:xfrm>
          <a:prstGeom prst="rect">
            <a:avLst/>
          </a:prstGeom>
          <a:noFill/>
          <a:ln w="0">
            <a:noFill/>
            <a:prstDash val="solid"/>
          </a:ln>
        </p:spPr>
        <p:txBody>
          <a:bodyPr/>
          <a:lstStyle/>
          <a:p>
            <a:pPr algn="l">
              <a:defRPr sz="2325" b="1">
                <a:solidFill>
                  <a:srgbClr val="132033"/>
                </a:solidFill>
              </a:defRPr>
            </a:pPr>
            <a:r>
              <a:rPr sz="2325" b="1">
                <a:solidFill>
                  <a:srgbClr val="132033"/>
                </a:solidFill>
              </a:rPr>
              <a:t>$2,847 per day</a:t>
            </a:r>
          </a:p>
        </p:txBody>
      </p:sp>
      <p:sp>
        <p:nvSpPr>
          <p:cNvPr id="13" name="Rectangle 12">
            <a:extLst>
              <a:ext uri="{FF2B5EF4-FFF2-40B4-BE49-F238E27FC236}">
                <a16:creationId xmlns:a16="http://schemas.microsoft.com/office/drawing/2014/main" id="{7B6BE8DD-012F-4B62-91E0-90084DC4DF3A}"/>
              </a:ext>
            </a:extLst>
          </p:cNvPr>
          <p:cNvSpPr>
            <a:spLocks noGrp="1"/>
          </p:cNvSpPr>
          <p:nvPr/>
        </p:nvSpPr>
        <p:spPr>
          <a:xfrm>
            <a:off x="742950" y="3562350"/>
            <a:ext cx="6438900" cy="495300"/>
          </a:xfrm>
          <a:prstGeom prst="rect">
            <a:avLst/>
          </a:prstGeom>
          <a:noFill/>
          <a:ln w="0">
            <a:noFill/>
            <a:prstDash val="solid"/>
          </a:ln>
        </p:spPr>
        <p:txBody>
          <a:bodyPr/>
          <a:lstStyle/>
          <a:p>
            <a:pPr algn="l">
              <a:defRPr sz="1350" b="0">
                <a:solidFill>
                  <a:srgbClr val="35445B"/>
                </a:solidFill>
              </a:defRPr>
            </a:pPr>
            <a:r>
              <a:rPr sz="1350" b="0">
                <a:solidFill>
                  <a:srgbClr val="35445B"/>
                </a:solidFill>
              </a:rPr>
              <a:t>Established by the Fifteenth Amendment CM; the prior $2,614 rate is superseded.</a:t>
            </a:r>
          </a:p>
        </p:txBody>
      </p:sp>
      <p:sp>
        <p:nvSpPr>
          <p:cNvPr id="14" name="Rectangle 13">
            <a:extLst>
              <a:ext uri="{FF2B5EF4-FFF2-40B4-BE49-F238E27FC236}">
                <a16:creationId xmlns:a16="http://schemas.microsoft.com/office/drawing/2014/main" id="{4A07DAE3-7046-43B4-B57E-AC405973BF5C}"/>
              </a:ext>
            </a:extLst>
          </p:cNvPr>
          <p:cNvSpPr>
            <a:spLocks noGrp="1"/>
          </p:cNvSpPr>
          <p:nvPr/>
        </p:nvSpPr>
        <p:spPr>
          <a:xfrm>
            <a:off x="742950" y="4324350"/>
            <a:ext cx="6743700" cy="9525"/>
          </a:xfrm>
          <a:prstGeom prst="rect">
            <a:avLst/>
          </a:prstGeom>
          <a:solidFill>
            <a:srgbClr val="D8DEE8"/>
          </a:solidFill>
          <a:ln w="0">
            <a:noFill/>
            <a:prstDash val="solid"/>
          </a:ln>
        </p:spPr>
        <p:txBody>
          <a:bodyPr/>
          <a:lstStyle/>
          <a:p>
            <a:endParaRPr lang="en-IN"/>
          </a:p>
        </p:txBody>
      </p:sp>
      <p:sp>
        <p:nvSpPr>
          <p:cNvPr id="15" name="Rectangle 14">
            <a:extLst>
              <a:ext uri="{FF2B5EF4-FFF2-40B4-BE49-F238E27FC236}">
                <a16:creationId xmlns:a16="http://schemas.microsoft.com/office/drawing/2014/main" id="{94F051F2-B6C3-4557-8A93-9C8804E64AE8}"/>
              </a:ext>
            </a:extLst>
          </p:cNvPr>
          <p:cNvSpPr>
            <a:spLocks noGrp="1"/>
          </p:cNvSpPr>
          <p:nvPr/>
        </p:nvSpPr>
        <p:spPr>
          <a:xfrm>
            <a:off x="742950" y="4533900"/>
            <a:ext cx="2286000" cy="209550"/>
          </a:xfrm>
          <a:prstGeom prst="rect">
            <a:avLst/>
          </a:prstGeom>
          <a:noFill/>
          <a:ln w="0">
            <a:noFill/>
            <a:prstDash val="solid"/>
          </a:ln>
        </p:spPr>
        <p:txBody>
          <a:bodyPr/>
          <a:lstStyle/>
          <a:p>
            <a:pPr algn="l">
              <a:defRPr sz="1125" b="1">
                <a:solidFill>
                  <a:srgbClr val="132033"/>
                </a:solidFill>
              </a:defRPr>
            </a:pPr>
            <a:r>
              <a:rPr sz="1125" b="1">
                <a:solidFill>
                  <a:srgbClr val="132033"/>
                </a:solidFill>
              </a:rPr>
              <a:t>What the system did</a:t>
            </a:r>
          </a:p>
        </p:txBody>
      </p:sp>
      <p:sp>
        <p:nvSpPr>
          <p:cNvPr id="16" name="Rectangle 15">
            <a:extLst>
              <a:ext uri="{FF2B5EF4-FFF2-40B4-BE49-F238E27FC236}">
                <a16:creationId xmlns:a16="http://schemas.microsoft.com/office/drawing/2014/main" id="{44193ECA-6F9B-42ED-BEDA-1FFB6D95960B}"/>
              </a:ext>
            </a:extLst>
          </p:cNvPr>
          <p:cNvSpPr>
            <a:spLocks noGrp="1"/>
          </p:cNvSpPr>
          <p:nvPr/>
        </p:nvSpPr>
        <p:spPr>
          <a:xfrm>
            <a:off x="742950" y="4895850"/>
            <a:ext cx="2095500" cy="190500"/>
          </a:xfrm>
          <a:prstGeom prst="rect">
            <a:avLst/>
          </a:prstGeom>
          <a:noFill/>
          <a:ln w="0">
            <a:noFill/>
            <a:prstDash val="solid"/>
          </a:ln>
        </p:spPr>
        <p:txBody>
          <a:bodyPr/>
          <a:lstStyle/>
          <a:p>
            <a:pPr algn="l">
              <a:defRPr sz="1050" b="1">
                <a:solidFill>
                  <a:srgbClr val="6B4E8C"/>
                </a:solidFill>
              </a:defRPr>
            </a:pPr>
            <a:r>
              <a:rPr sz="1050" b="1">
                <a:solidFill>
                  <a:srgbClr val="6B4E8C"/>
                </a:solidFill>
              </a:rPr>
              <a:t>Route + temporal reasoning</a:t>
            </a:r>
          </a:p>
        </p:txBody>
      </p:sp>
      <p:sp>
        <p:nvSpPr>
          <p:cNvPr id="17" name="Rectangle 16">
            <a:extLst>
              <a:ext uri="{FF2B5EF4-FFF2-40B4-BE49-F238E27FC236}">
                <a16:creationId xmlns:a16="http://schemas.microsoft.com/office/drawing/2014/main" id="{ABC6968E-64A1-4ED7-BA33-3B1B608061BF}"/>
              </a:ext>
            </a:extLst>
          </p:cNvPr>
          <p:cNvSpPr>
            <a:spLocks noGrp="1"/>
          </p:cNvSpPr>
          <p:nvPr/>
        </p:nvSpPr>
        <p:spPr>
          <a:xfrm>
            <a:off x="2933700" y="4895850"/>
            <a:ext cx="266700" cy="190500"/>
          </a:xfrm>
          <a:prstGeom prst="rect">
            <a:avLst/>
          </a:prstGeom>
          <a:noFill/>
          <a:ln w="0">
            <a:noFill/>
            <a:prstDash val="solid"/>
          </a:ln>
        </p:spPr>
        <p:txBody>
          <a:bodyPr/>
          <a:lstStyle/>
          <a:p>
            <a:pPr algn="ctr">
              <a:defRPr sz="1200" b="1">
                <a:solidFill>
                  <a:srgbClr val="667389"/>
                </a:solidFill>
              </a:defRPr>
            </a:pPr>
            <a:r>
              <a:rPr sz="1200" b="1">
                <a:solidFill>
                  <a:srgbClr val="667389"/>
                </a:solidFill>
              </a:rPr>
              <a:t>→</a:t>
            </a:r>
          </a:p>
        </p:txBody>
      </p:sp>
      <p:sp>
        <p:nvSpPr>
          <p:cNvPr id="18" name="Rectangle 17">
            <a:extLst>
              <a:ext uri="{FF2B5EF4-FFF2-40B4-BE49-F238E27FC236}">
                <a16:creationId xmlns:a16="http://schemas.microsoft.com/office/drawing/2014/main" id="{FCDDA226-CE43-4E96-987B-FD0C2790C748}"/>
              </a:ext>
            </a:extLst>
          </p:cNvPr>
          <p:cNvSpPr>
            <a:spLocks noGrp="1"/>
          </p:cNvSpPr>
          <p:nvPr/>
        </p:nvSpPr>
        <p:spPr>
          <a:xfrm>
            <a:off x="3295650" y="4895850"/>
            <a:ext cx="1428750" cy="190500"/>
          </a:xfrm>
          <a:prstGeom prst="rect">
            <a:avLst/>
          </a:prstGeom>
          <a:noFill/>
          <a:ln w="0">
            <a:noFill/>
            <a:prstDash val="solid"/>
          </a:ln>
        </p:spPr>
        <p:txBody>
          <a:bodyPr/>
          <a:lstStyle/>
          <a:p>
            <a:pPr algn="l">
              <a:defRPr sz="1050" b="1">
                <a:solidFill>
                  <a:srgbClr val="6B4E8C"/>
                </a:solidFill>
              </a:defRPr>
            </a:pPr>
            <a:r>
              <a:rPr sz="1050" b="1">
                <a:solidFill>
                  <a:srgbClr val="6B4E8C"/>
                </a:solidFill>
              </a:rPr>
              <a:t>Specialized tools</a:t>
            </a:r>
          </a:p>
        </p:txBody>
      </p:sp>
      <p:sp>
        <p:nvSpPr>
          <p:cNvPr id="19" name="Rectangle 18">
            <a:extLst>
              <a:ext uri="{FF2B5EF4-FFF2-40B4-BE49-F238E27FC236}">
                <a16:creationId xmlns:a16="http://schemas.microsoft.com/office/drawing/2014/main" id="{7B7851F9-8581-4A66-B2E0-F509570A9D8C}"/>
              </a:ext>
            </a:extLst>
          </p:cNvPr>
          <p:cNvSpPr>
            <a:spLocks noGrp="1"/>
          </p:cNvSpPr>
          <p:nvPr/>
        </p:nvSpPr>
        <p:spPr>
          <a:xfrm>
            <a:off x="4819650" y="4895850"/>
            <a:ext cx="266700" cy="190500"/>
          </a:xfrm>
          <a:prstGeom prst="rect">
            <a:avLst/>
          </a:prstGeom>
          <a:noFill/>
          <a:ln w="0">
            <a:noFill/>
            <a:prstDash val="solid"/>
          </a:ln>
        </p:spPr>
        <p:txBody>
          <a:bodyPr/>
          <a:lstStyle/>
          <a:p>
            <a:pPr algn="ctr">
              <a:defRPr sz="1200" b="1">
                <a:solidFill>
                  <a:srgbClr val="667389"/>
                </a:solidFill>
              </a:defRPr>
            </a:pPr>
            <a:r>
              <a:rPr sz="1200" b="1">
                <a:solidFill>
                  <a:srgbClr val="667389"/>
                </a:solidFill>
              </a:rPr>
              <a:t>→</a:t>
            </a:r>
          </a:p>
        </p:txBody>
      </p:sp>
      <p:sp>
        <p:nvSpPr>
          <p:cNvPr id="20" name="Rectangle 19">
            <a:extLst>
              <a:ext uri="{FF2B5EF4-FFF2-40B4-BE49-F238E27FC236}">
                <a16:creationId xmlns:a16="http://schemas.microsoft.com/office/drawing/2014/main" id="{4FB26ABC-22D5-4839-9D5F-5E980951C816}"/>
              </a:ext>
            </a:extLst>
          </p:cNvPr>
          <p:cNvSpPr>
            <a:spLocks noGrp="1"/>
          </p:cNvSpPr>
          <p:nvPr/>
        </p:nvSpPr>
        <p:spPr>
          <a:xfrm>
            <a:off x="5181600" y="4895850"/>
            <a:ext cx="2000250" cy="190500"/>
          </a:xfrm>
          <a:prstGeom prst="rect">
            <a:avLst/>
          </a:prstGeom>
          <a:noFill/>
          <a:ln w="0">
            <a:noFill/>
            <a:prstDash val="solid"/>
          </a:ln>
        </p:spPr>
        <p:txBody>
          <a:bodyPr/>
          <a:lstStyle/>
          <a:p>
            <a:pPr algn="l">
              <a:defRPr sz="1050" b="1">
                <a:solidFill>
                  <a:srgbClr val="6B4E8C"/>
                </a:solidFill>
              </a:defRPr>
            </a:pPr>
            <a:r>
              <a:rPr sz="1050" b="1">
                <a:solidFill>
                  <a:srgbClr val="6B4E8C"/>
                </a:solidFill>
              </a:rPr>
              <a:t>Current-state evidence</a:t>
            </a:r>
          </a:p>
        </p:txBody>
      </p:sp>
      <p:sp>
        <p:nvSpPr>
          <p:cNvPr id="21" name="Rectangle 20">
            <a:extLst>
              <a:ext uri="{FF2B5EF4-FFF2-40B4-BE49-F238E27FC236}">
                <a16:creationId xmlns:a16="http://schemas.microsoft.com/office/drawing/2014/main" id="{E977E5F7-278D-4879-B2F4-005A0E65B459}"/>
              </a:ext>
            </a:extLst>
          </p:cNvPr>
          <p:cNvSpPr>
            <a:spLocks noGrp="1"/>
          </p:cNvSpPr>
          <p:nvPr/>
        </p:nvSpPr>
        <p:spPr>
          <a:xfrm>
            <a:off x="8172450" y="1504950"/>
            <a:ext cx="2286000" cy="190500"/>
          </a:xfrm>
          <a:prstGeom prst="rect">
            <a:avLst/>
          </a:prstGeom>
          <a:noFill/>
          <a:ln w="0">
            <a:noFill/>
            <a:prstDash val="solid"/>
          </a:ln>
        </p:spPr>
        <p:txBody>
          <a:bodyPr/>
          <a:lstStyle/>
          <a:p>
            <a:pPr algn="l">
              <a:defRPr sz="975" b="1">
                <a:solidFill>
                  <a:srgbClr val="6B4E8C"/>
                </a:solidFill>
              </a:defRPr>
            </a:pPr>
            <a:r>
              <a:rPr sz="975" b="1">
                <a:solidFill>
                  <a:srgbClr val="6B4E8C"/>
                </a:solidFill>
              </a:rPr>
              <a:t>EVIDENCE PANEL</a:t>
            </a:r>
          </a:p>
        </p:txBody>
      </p:sp>
      <p:sp>
        <p:nvSpPr>
          <p:cNvPr id="22" name="Rectangle 21">
            <a:extLst>
              <a:ext uri="{FF2B5EF4-FFF2-40B4-BE49-F238E27FC236}">
                <a16:creationId xmlns:a16="http://schemas.microsoft.com/office/drawing/2014/main" id="{C6F1BA11-E4DE-4DA9-AA31-F8AE65F53B6F}"/>
              </a:ext>
            </a:extLst>
          </p:cNvPr>
          <p:cNvSpPr>
            <a:spLocks noGrp="1"/>
          </p:cNvSpPr>
          <p:nvPr/>
        </p:nvSpPr>
        <p:spPr>
          <a:xfrm>
            <a:off x="8172450" y="1952625"/>
            <a:ext cx="1047750" cy="171450"/>
          </a:xfrm>
          <a:prstGeom prst="rect">
            <a:avLst/>
          </a:prstGeom>
          <a:noFill/>
          <a:ln w="0">
            <a:noFill/>
            <a:prstDash val="solid"/>
          </a:ln>
        </p:spPr>
        <p:txBody>
          <a:bodyPr/>
          <a:lstStyle/>
          <a:p>
            <a:pPr algn="l">
              <a:defRPr sz="750" b="1">
                <a:solidFill>
                  <a:srgbClr val="667389"/>
                </a:solidFill>
              </a:defRPr>
            </a:pPr>
            <a:r>
              <a:rPr sz="750" b="1">
                <a:solidFill>
                  <a:srgbClr val="667389"/>
                </a:solidFill>
              </a:rPr>
              <a:t>SOURCE</a:t>
            </a:r>
          </a:p>
        </p:txBody>
      </p:sp>
      <p:sp>
        <p:nvSpPr>
          <p:cNvPr id="23" name="Rectangle 22">
            <a:extLst>
              <a:ext uri="{FF2B5EF4-FFF2-40B4-BE49-F238E27FC236}">
                <a16:creationId xmlns:a16="http://schemas.microsoft.com/office/drawing/2014/main" id="{5F99BFA0-7E44-43FA-B289-56692048A674}"/>
              </a:ext>
            </a:extLst>
          </p:cNvPr>
          <p:cNvSpPr>
            <a:spLocks noGrp="1"/>
          </p:cNvSpPr>
          <p:nvPr/>
        </p:nvSpPr>
        <p:spPr>
          <a:xfrm>
            <a:off x="8172450" y="2181225"/>
            <a:ext cx="3067050" cy="285750"/>
          </a:xfrm>
          <a:prstGeom prst="rect">
            <a:avLst/>
          </a:prstGeom>
          <a:noFill/>
          <a:ln w="0">
            <a:noFill/>
            <a:prstDash val="solid"/>
          </a:ln>
        </p:spPr>
        <p:txBody>
          <a:bodyPr/>
          <a:lstStyle/>
          <a:p>
            <a:pPr algn="l">
              <a:defRPr sz="1125" b="1">
                <a:solidFill>
                  <a:srgbClr val="132033"/>
                </a:solidFill>
              </a:defRPr>
            </a:pPr>
            <a:r>
              <a:rPr sz="1125" b="1">
                <a:solidFill>
                  <a:srgbClr val="132033"/>
                </a:solidFill>
              </a:rPr>
              <a:t>Fifteenth Amendment CM</a:t>
            </a:r>
          </a:p>
        </p:txBody>
      </p:sp>
      <p:sp>
        <p:nvSpPr>
          <p:cNvPr id="24" name="Rectangle 23">
            <a:extLst>
              <a:ext uri="{FF2B5EF4-FFF2-40B4-BE49-F238E27FC236}">
                <a16:creationId xmlns:a16="http://schemas.microsoft.com/office/drawing/2014/main" id="{8C2E4369-F9E3-478D-A509-7C1BB6DA3ACB}"/>
              </a:ext>
            </a:extLst>
          </p:cNvPr>
          <p:cNvSpPr>
            <a:spLocks noGrp="1"/>
          </p:cNvSpPr>
          <p:nvPr/>
        </p:nvSpPr>
        <p:spPr>
          <a:xfrm>
            <a:off x="8172450" y="2543175"/>
            <a:ext cx="3048000" cy="9525"/>
          </a:xfrm>
          <a:prstGeom prst="rect">
            <a:avLst/>
          </a:prstGeom>
          <a:solidFill>
            <a:srgbClr val="D8DEE8"/>
          </a:solidFill>
          <a:ln w="0">
            <a:noFill/>
            <a:prstDash val="solid"/>
          </a:ln>
        </p:spPr>
        <p:txBody>
          <a:bodyPr/>
          <a:lstStyle/>
          <a:p>
            <a:endParaRPr lang="en-IN"/>
          </a:p>
        </p:txBody>
      </p:sp>
      <p:sp>
        <p:nvSpPr>
          <p:cNvPr id="25" name="Rectangle 24">
            <a:extLst>
              <a:ext uri="{FF2B5EF4-FFF2-40B4-BE49-F238E27FC236}">
                <a16:creationId xmlns:a16="http://schemas.microsoft.com/office/drawing/2014/main" id="{8FFC6419-767F-4615-B4A2-F68F916416E8}"/>
              </a:ext>
            </a:extLst>
          </p:cNvPr>
          <p:cNvSpPr>
            <a:spLocks noGrp="1"/>
          </p:cNvSpPr>
          <p:nvPr/>
        </p:nvSpPr>
        <p:spPr>
          <a:xfrm>
            <a:off x="8172450" y="2686050"/>
            <a:ext cx="1047750" cy="171450"/>
          </a:xfrm>
          <a:prstGeom prst="rect">
            <a:avLst/>
          </a:prstGeom>
          <a:noFill/>
          <a:ln w="0">
            <a:noFill/>
            <a:prstDash val="solid"/>
          </a:ln>
        </p:spPr>
        <p:txBody>
          <a:bodyPr/>
          <a:lstStyle/>
          <a:p>
            <a:pPr algn="l">
              <a:defRPr sz="750" b="1">
                <a:solidFill>
                  <a:srgbClr val="667389"/>
                </a:solidFill>
              </a:defRPr>
            </a:pPr>
            <a:r>
              <a:rPr sz="750" b="1">
                <a:solidFill>
                  <a:srgbClr val="667389"/>
                </a:solidFill>
              </a:rPr>
              <a:t>LOCATION</a:t>
            </a:r>
          </a:p>
        </p:txBody>
      </p:sp>
      <p:sp>
        <p:nvSpPr>
          <p:cNvPr id="26" name="Rectangle 25">
            <a:extLst>
              <a:ext uri="{FF2B5EF4-FFF2-40B4-BE49-F238E27FC236}">
                <a16:creationId xmlns:a16="http://schemas.microsoft.com/office/drawing/2014/main" id="{3038FD8D-24C7-4C2B-9742-F748D6AB18E0}"/>
              </a:ext>
            </a:extLst>
          </p:cNvPr>
          <p:cNvSpPr>
            <a:spLocks noGrp="1"/>
          </p:cNvSpPr>
          <p:nvPr/>
        </p:nvSpPr>
        <p:spPr>
          <a:xfrm>
            <a:off x="8172450" y="2914650"/>
            <a:ext cx="3067050" cy="285750"/>
          </a:xfrm>
          <a:prstGeom prst="rect">
            <a:avLst/>
          </a:prstGeom>
          <a:noFill/>
          <a:ln w="0">
            <a:noFill/>
            <a:prstDash val="solid"/>
          </a:ln>
        </p:spPr>
        <p:txBody>
          <a:bodyPr/>
          <a:lstStyle/>
          <a:p>
            <a:pPr algn="l">
              <a:defRPr sz="1125" b="1">
                <a:solidFill>
                  <a:srgbClr val="132033"/>
                </a:solidFill>
              </a:defRPr>
            </a:pPr>
            <a:r>
              <a:rPr sz="1125" b="1">
                <a:solidFill>
                  <a:srgbClr val="132033"/>
                </a:solidFill>
              </a:rPr>
              <a:t>Page 4 • Section 3.2(b)</a:t>
            </a:r>
          </a:p>
        </p:txBody>
      </p:sp>
      <p:sp>
        <p:nvSpPr>
          <p:cNvPr id="27" name="Rectangle 26">
            <a:extLst>
              <a:ext uri="{FF2B5EF4-FFF2-40B4-BE49-F238E27FC236}">
                <a16:creationId xmlns:a16="http://schemas.microsoft.com/office/drawing/2014/main" id="{19572545-1D4F-40D3-A4E7-632E3D5E4699}"/>
              </a:ext>
            </a:extLst>
          </p:cNvPr>
          <p:cNvSpPr>
            <a:spLocks noGrp="1"/>
          </p:cNvSpPr>
          <p:nvPr/>
        </p:nvSpPr>
        <p:spPr>
          <a:xfrm>
            <a:off x="8172450" y="3276600"/>
            <a:ext cx="3048000" cy="9525"/>
          </a:xfrm>
          <a:prstGeom prst="rect">
            <a:avLst/>
          </a:prstGeom>
          <a:solidFill>
            <a:srgbClr val="D8DEE8"/>
          </a:solidFill>
          <a:ln w="0">
            <a:noFill/>
            <a:prstDash val="solid"/>
          </a:ln>
        </p:spPr>
        <p:txBody>
          <a:bodyPr/>
          <a:lstStyle/>
          <a:p>
            <a:endParaRPr lang="en-IN"/>
          </a:p>
        </p:txBody>
      </p:sp>
      <p:sp>
        <p:nvSpPr>
          <p:cNvPr id="28" name="Rectangle 27">
            <a:extLst>
              <a:ext uri="{FF2B5EF4-FFF2-40B4-BE49-F238E27FC236}">
                <a16:creationId xmlns:a16="http://schemas.microsoft.com/office/drawing/2014/main" id="{C626B5AB-2481-4A79-9C3C-3EC6E3A6DD2F}"/>
              </a:ext>
            </a:extLst>
          </p:cNvPr>
          <p:cNvSpPr>
            <a:spLocks noGrp="1"/>
          </p:cNvSpPr>
          <p:nvPr/>
        </p:nvSpPr>
        <p:spPr>
          <a:xfrm>
            <a:off x="8172450" y="3419475"/>
            <a:ext cx="1047750" cy="171450"/>
          </a:xfrm>
          <a:prstGeom prst="rect">
            <a:avLst/>
          </a:prstGeom>
          <a:noFill/>
          <a:ln w="0">
            <a:noFill/>
            <a:prstDash val="solid"/>
          </a:ln>
        </p:spPr>
        <p:txBody>
          <a:bodyPr/>
          <a:lstStyle/>
          <a:p>
            <a:pPr algn="l">
              <a:defRPr sz="750" b="1">
                <a:solidFill>
                  <a:srgbClr val="667389"/>
                </a:solidFill>
              </a:defRPr>
            </a:pPr>
            <a:r>
              <a:rPr sz="750" b="1">
                <a:solidFill>
                  <a:srgbClr val="667389"/>
                </a:solidFill>
              </a:rPr>
              <a:t>LINEAGE</a:t>
            </a:r>
          </a:p>
        </p:txBody>
      </p:sp>
      <p:sp>
        <p:nvSpPr>
          <p:cNvPr id="29" name="Rectangle 28">
            <a:extLst>
              <a:ext uri="{FF2B5EF4-FFF2-40B4-BE49-F238E27FC236}">
                <a16:creationId xmlns:a16="http://schemas.microsoft.com/office/drawing/2014/main" id="{AD67750A-D052-4FD4-805B-9E71283BC2F3}"/>
              </a:ext>
            </a:extLst>
          </p:cNvPr>
          <p:cNvSpPr>
            <a:spLocks noGrp="1"/>
          </p:cNvSpPr>
          <p:nvPr/>
        </p:nvSpPr>
        <p:spPr>
          <a:xfrm>
            <a:off x="8172450" y="3648075"/>
            <a:ext cx="3067050" cy="285750"/>
          </a:xfrm>
          <a:prstGeom prst="rect">
            <a:avLst/>
          </a:prstGeom>
          <a:noFill/>
          <a:ln w="0">
            <a:noFill/>
            <a:prstDash val="solid"/>
          </a:ln>
        </p:spPr>
        <p:txBody>
          <a:bodyPr/>
          <a:lstStyle/>
          <a:p>
            <a:pPr algn="l">
              <a:defRPr sz="1125" b="1">
                <a:solidFill>
                  <a:srgbClr val="132033"/>
                </a:solidFill>
              </a:defRPr>
            </a:pPr>
            <a:r>
              <a:rPr sz="1125" b="1">
                <a:solidFill>
                  <a:srgbClr val="132033"/>
                </a:solidFill>
              </a:rPr>
              <a:t>Supersedes Eleventh Amendment</a:t>
            </a:r>
          </a:p>
        </p:txBody>
      </p:sp>
      <p:sp>
        <p:nvSpPr>
          <p:cNvPr id="30" name="Rectangle 29">
            <a:extLst>
              <a:ext uri="{FF2B5EF4-FFF2-40B4-BE49-F238E27FC236}">
                <a16:creationId xmlns:a16="http://schemas.microsoft.com/office/drawing/2014/main" id="{3C73CCD9-D7BC-484B-8E55-5E2DCF0C0BFF}"/>
              </a:ext>
            </a:extLst>
          </p:cNvPr>
          <p:cNvSpPr>
            <a:spLocks noGrp="1"/>
          </p:cNvSpPr>
          <p:nvPr/>
        </p:nvSpPr>
        <p:spPr>
          <a:xfrm>
            <a:off x="8172450" y="4010025"/>
            <a:ext cx="3048000" cy="9525"/>
          </a:xfrm>
          <a:prstGeom prst="rect">
            <a:avLst/>
          </a:prstGeom>
          <a:solidFill>
            <a:srgbClr val="D8DEE8"/>
          </a:solidFill>
          <a:ln w="0">
            <a:noFill/>
            <a:prstDash val="solid"/>
          </a:ln>
        </p:spPr>
        <p:txBody>
          <a:bodyPr/>
          <a:lstStyle/>
          <a:p>
            <a:endParaRPr lang="en-IN"/>
          </a:p>
        </p:txBody>
      </p:sp>
      <p:sp>
        <p:nvSpPr>
          <p:cNvPr id="31" name="Rectangle 30">
            <a:extLst>
              <a:ext uri="{FF2B5EF4-FFF2-40B4-BE49-F238E27FC236}">
                <a16:creationId xmlns:a16="http://schemas.microsoft.com/office/drawing/2014/main" id="{B5872AD2-0DD2-4748-B131-3B51D2938949}"/>
              </a:ext>
            </a:extLst>
          </p:cNvPr>
          <p:cNvSpPr>
            <a:spLocks noGrp="1"/>
          </p:cNvSpPr>
          <p:nvPr/>
        </p:nvSpPr>
        <p:spPr>
          <a:xfrm>
            <a:off x="8172450" y="4152900"/>
            <a:ext cx="1047750" cy="171450"/>
          </a:xfrm>
          <a:prstGeom prst="rect">
            <a:avLst/>
          </a:prstGeom>
          <a:noFill/>
          <a:ln w="0">
            <a:noFill/>
            <a:prstDash val="solid"/>
          </a:ln>
        </p:spPr>
        <p:txBody>
          <a:bodyPr/>
          <a:lstStyle/>
          <a:p>
            <a:pPr algn="l">
              <a:defRPr sz="750" b="1">
                <a:solidFill>
                  <a:srgbClr val="667389"/>
                </a:solidFill>
              </a:defRPr>
            </a:pPr>
            <a:r>
              <a:rPr sz="750" b="1">
                <a:solidFill>
                  <a:srgbClr val="667389"/>
                </a:solidFill>
              </a:rPr>
              <a:t>CHECKS</a:t>
            </a:r>
          </a:p>
        </p:txBody>
      </p:sp>
      <p:sp>
        <p:nvSpPr>
          <p:cNvPr id="32" name="Rectangle 31">
            <a:extLst>
              <a:ext uri="{FF2B5EF4-FFF2-40B4-BE49-F238E27FC236}">
                <a16:creationId xmlns:a16="http://schemas.microsoft.com/office/drawing/2014/main" id="{9992A69F-ADAD-464D-B5D3-659DEF12207C}"/>
              </a:ext>
            </a:extLst>
          </p:cNvPr>
          <p:cNvSpPr>
            <a:spLocks noGrp="1"/>
          </p:cNvSpPr>
          <p:nvPr/>
        </p:nvSpPr>
        <p:spPr>
          <a:xfrm>
            <a:off x="8172450" y="4381500"/>
            <a:ext cx="3067050" cy="285750"/>
          </a:xfrm>
          <a:prstGeom prst="rect">
            <a:avLst/>
          </a:prstGeom>
          <a:noFill/>
          <a:ln w="0">
            <a:noFill/>
            <a:prstDash val="solid"/>
          </a:ln>
        </p:spPr>
        <p:txBody>
          <a:bodyPr/>
          <a:lstStyle/>
          <a:p>
            <a:pPr algn="l">
              <a:defRPr sz="1125" b="1">
                <a:solidFill>
                  <a:srgbClr val="132033"/>
                </a:solidFill>
              </a:defRPr>
            </a:pPr>
            <a:r>
              <a:rPr sz="1125" b="1">
                <a:solidFill>
                  <a:srgbClr val="132033"/>
                </a:solidFill>
              </a:rPr>
              <a:t>State • numeric • citation</a:t>
            </a:r>
          </a:p>
        </p:txBody>
      </p:sp>
      <p:sp>
        <p:nvSpPr>
          <p:cNvPr id="33" name="Rectangle 32">
            <a:extLst>
              <a:ext uri="{FF2B5EF4-FFF2-40B4-BE49-F238E27FC236}">
                <a16:creationId xmlns:a16="http://schemas.microsoft.com/office/drawing/2014/main" id="{91E9A80C-25D6-4B3B-9C5E-C9011346093A}"/>
              </a:ext>
            </a:extLst>
          </p:cNvPr>
          <p:cNvSpPr>
            <a:spLocks noGrp="1"/>
          </p:cNvSpPr>
          <p:nvPr/>
        </p:nvSpPr>
        <p:spPr>
          <a:xfrm>
            <a:off x="8172450" y="4743450"/>
            <a:ext cx="3048000" cy="9525"/>
          </a:xfrm>
          <a:prstGeom prst="rect">
            <a:avLst/>
          </a:prstGeom>
          <a:solidFill>
            <a:srgbClr val="D8DEE8"/>
          </a:solidFill>
          <a:ln w="0">
            <a:noFill/>
            <a:prstDash val="solid"/>
          </a:ln>
        </p:spPr>
        <p:txBody>
          <a:bodyPr/>
          <a:lstStyle/>
          <a:p>
            <a:endParaRPr lang="en-IN"/>
          </a:p>
        </p:txBody>
      </p:sp>
      <p:sp>
        <p:nvSpPr>
          <p:cNvPr id="34" name="Rectangle 33">
            <a:extLst>
              <a:ext uri="{FF2B5EF4-FFF2-40B4-BE49-F238E27FC236}">
                <a16:creationId xmlns:a16="http://schemas.microsoft.com/office/drawing/2014/main" id="{F6284046-FFA9-43E8-81C8-16884BC048A5}"/>
              </a:ext>
            </a:extLst>
          </p:cNvPr>
          <p:cNvSpPr>
            <a:spLocks noGrp="1"/>
          </p:cNvSpPr>
          <p:nvPr/>
        </p:nvSpPr>
        <p:spPr>
          <a:xfrm>
            <a:off x="8172450" y="4886325"/>
            <a:ext cx="1047750" cy="171450"/>
          </a:xfrm>
          <a:prstGeom prst="rect">
            <a:avLst/>
          </a:prstGeom>
          <a:noFill/>
          <a:ln w="0">
            <a:noFill/>
            <a:prstDash val="solid"/>
          </a:ln>
        </p:spPr>
        <p:txBody>
          <a:bodyPr/>
          <a:lstStyle/>
          <a:p>
            <a:pPr algn="l">
              <a:defRPr sz="750" b="1">
                <a:solidFill>
                  <a:srgbClr val="667389"/>
                </a:solidFill>
              </a:defRPr>
            </a:pPr>
            <a:r>
              <a:rPr sz="750" b="1">
                <a:solidFill>
                  <a:srgbClr val="667389"/>
                </a:solidFill>
              </a:rPr>
              <a:t>RESULT</a:t>
            </a:r>
          </a:p>
        </p:txBody>
      </p:sp>
      <p:sp>
        <p:nvSpPr>
          <p:cNvPr id="35" name="Rectangle 34">
            <a:extLst>
              <a:ext uri="{FF2B5EF4-FFF2-40B4-BE49-F238E27FC236}">
                <a16:creationId xmlns:a16="http://schemas.microsoft.com/office/drawing/2014/main" id="{ABFD3BA1-0F7C-4391-8434-7479172C6053}"/>
              </a:ext>
            </a:extLst>
          </p:cNvPr>
          <p:cNvSpPr>
            <a:spLocks noGrp="1"/>
          </p:cNvSpPr>
          <p:nvPr/>
        </p:nvSpPr>
        <p:spPr>
          <a:xfrm>
            <a:off x="8172450" y="5114925"/>
            <a:ext cx="3067050" cy="285750"/>
          </a:xfrm>
          <a:prstGeom prst="rect">
            <a:avLst/>
          </a:prstGeom>
          <a:noFill/>
          <a:ln w="0">
            <a:noFill/>
            <a:prstDash val="solid"/>
          </a:ln>
        </p:spPr>
        <p:txBody>
          <a:bodyPr/>
          <a:lstStyle/>
          <a:p>
            <a:pPr algn="l">
              <a:defRPr sz="1125" b="1">
                <a:solidFill>
                  <a:srgbClr val="2D7D5B"/>
                </a:solidFill>
              </a:defRPr>
            </a:pPr>
            <a:r>
              <a:rPr sz="1125" b="1">
                <a:solidFill>
                  <a:srgbClr val="2D7D5B"/>
                </a:solidFill>
              </a:rPr>
              <a:t>Evidence-backed</a:t>
            </a:r>
          </a:p>
        </p:txBody>
      </p:sp>
      <p:sp>
        <p:nvSpPr>
          <p:cNvPr id="36" name="Rectangle: Rounded Corners 35">
            <a:extLst>
              <a:ext uri="{FF2B5EF4-FFF2-40B4-BE49-F238E27FC236}">
                <a16:creationId xmlns:a16="http://schemas.microsoft.com/office/drawing/2014/main" id="{FC54F5DD-CDB4-477B-9061-6C05F3F62708}"/>
              </a:ext>
            </a:extLst>
          </p:cNvPr>
          <p:cNvSpPr>
            <a:spLocks noGrp="1"/>
          </p:cNvSpPr>
          <p:nvPr/>
        </p:nvSpPr>
        <p:spPr>
          <a:xfrm>
            <a:off x="1714500" y="6124575"/>
            <a:ext cx="8763000" cy="323850"/>
          </a:xfrm>
          <a:prstGeom prst="roundRect">
            <a:avLst>
              <a:gd name="adj" fmla="val 11765"/>
            </a:avLst>
          </a:prstGeom>
          <a:solidFill>
            <a:srgbClr val="F1ECF6"/>
          </a:solidFill>
          <a:ln w="9525">
            <a:solidFill>
              <a:srgbClr val="6B4E8C"/>
            </a:solidFill>
            <a:prstDash val="solid"/>
          </a:ln>
        </p:spPr>
        <p:txBody>
          <a:bodyPr/>
          <a:lstStyle/>
          <a:p>
            <a:endParaRPr lang="en-IN"/>
          </a:p>
        </p:txBody>
      </p:sp>
      <p:sp>
        <p:nvSpPr>
          <p:cNvPr id="37" name="Rectangle 36">
            <a:extLst>
              <a:ext uri="{FF2B5EF4-FFF2-40B4-BE49-F238E27FC236}">
                <a16:creationId xmlns:a16="http://schemas.microsoft.com/office/drawing/2014/main" id="{C415B6E9-C28F-4583-A0A2-5E1246EFE8C0}"/>
              </a:ext>
            </a:extLst>
          </p:cNvPr>
          <p:cNvSpPr>
            <a:spLocks noGrp="1"/>
          </p:cNvSpPr>
          <p:nvPr/>
        </p:nvSpPr>
        <p:spPr>
          <a:xfrm>
            <a:off x="1714500" y="6124575"/>
            <a:ext cx="57150" cy="323850"/>
          </a:xfrm>
          <a:prstGeom prst="rect">
            <a:avLst/>
          </a:prstGeom>
          <a:solidFill>
            <a:srgbClr val="6B4E8C"/>
          </a:solidFill>
          <a:ln w="0">
            <a:noFill/>
            <a:prstDash val="solid"/>
          </a:ln>
        </p:spPr>
        <p:txBody>
          <a:bodyPr/>
          <a:lstStyle/>
          <a:p>
            <a:endParaRPr lang="en-IN"/>
          </a:p>
        </p:txBody>
      </p:sp>
      <p:sp>
        <p:nvSpPr>
          <p:cNvPr id="38" name="Rectangle 37">
            <a:extLst>
              <a:ext uri="{FF2B5EF4-FFF2-40B4-BE49-F238E27FC236}">
                <a16:creationId xmlns:a16="http://schemas.microsoft.com/office/drawing/2014/main" id="{02E3F8C9-2BAB-459A-8A83-F35E2ADA7789}"/>
              </a:ext>
            </a:extLst>
          </p:cNvPr>
          <p:cNvSpPr>
            <a:spLocks noGrp="1"/>
          </p:cNvSpPr>
          <p:nvPr/>
        </p:nvSpPr>
        <p:spPr>
          <a:xfrm>
            <a:off x="1924050" y="6248400"/>
            <a:ext cx="8401050" cy="152400"/>
          </a:xfrm>
          <a:prstGeom prst="rect">
            <a:avLst/>
          </a:prstGeom>
          <a:noFill/>
          <a:ln w="0">
            <a:noFill/>
            <a:prstDash val="solid"/>
          </a:ln>
        </p:spPr>
        <p:txBody>
          <a:bodyPr/>
          <a:lstStyle/>
          <a:p>
            <a:pPr algn="l">
              <a:defRPr sz="1200" b="1">
                <a:solidFill>
                  <a:srgbClr val="132033"/>
                </a:solidFill>
              </a:defRPr>
            </a:pPr>
            <a:r>
              <a:rPr sz="1200" b="1">
                <a:solidFill>
                  <a:srgbClr val="132033"/>
                </a:solidFill>
              </a:rPr>
              <a:t>The value matters; the evidence and lineage are the differentiator.</a:t>
            </a:r>
          </a:p>
        </p:txBody>
      </p:sp>
    </p:spTree>
    <p:extLst>
      <p:ext uri="{BB962C8B-B14F-4D97-AF65-F5344CB8AC3E}">
        <p14:creationId xmlns:p14="http://schemas.microsoft.com/office/powerpoint/2010/main" val="8530014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B51813A3-A55C-4697-8AD5-14BD155FD2DB}"/>
              </a:ext>
            </a:extLst>
          </p:cNvPr>
          <p:cNvSpPr/>
          <p:nvPr/>
        </p:nvSpPr>
        <p:spPr>
          <a:xfrm>
            <a:off x="4191000" y="3276600"/>
            <a:ext cx="476250" cy="19050"/>
          </a:xfrm>
          <a:prstGeom prst="rect">
            <a:avLst/>
          </a:prstGeom>
          <a:solidFill>
            <a:srgbClr val="D5DDE8"/>
          </a:solidFill>
          <a:ln w="1905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0" name="Rectangle 29">
            <a:extLst>
              <a:ext uri="{FF2B5EF4-FFF2-40B4-BE49-F238E27FC236}">
                <a16:creationId xmlns:a16="http://schemas.microsoft.com/office/drawing/2014/main" id="{23256783-EDD1-4C3A-A4F1-64408EFC8D32}"/>
              </a:ext>
            </a:extLst>
          </p:cNvPr>
          <p:cNvSpPr/>
          <p:nvPr/>
        </p:nvSpPr>
        <p:spPr>
          <a:xfrm>
            <a:off x="4181475" y="2190750"/>
            <a:ext cx="19050" cy="2190750"/>
          </a:xfrm>
          <a:prstGeom prst="rect">
            <a:avLst/>
          </a:prstGeom>
          <a:solidFill>
            <a:srgbClr val="D5DDE8"/>
          </a:solidFill>
          <a:ln w="19050">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29" name="section">
            <a:extLst>
              <a:ext uri="{FF2B5EF4-FFF2-40B4-BE49-F238E27FC236}">
                <a16:creationId xmlns:a16="http://schemas.microsoft.com/office/drawing/2014/main" id="{9B3B583B-A18A-4925-9388-AA2091CF2938}"/>
              </a:ext>
            </a:extLst>
          </p:cNvPr>
          <p:cNvSpPr>
            <a:spLocks noGrp="1"/>
          </p:cNvSpPr>
          <p:nvPr/>
        </p:nvSpPr>
        <p:spPr>
          <a:xfrm>
            <a:off x="457200" y="209550"/>
            <a:ext cx="6858000" cy="190500"/>
          </a:xfrm>
          <a:prstGeom prst="rect">
            <a:avLst/>
          </a:prstGeom>
          <a:noFill/>
          <a:ln w="0">
            <a:noFill/>
            <a:prstDash val="solid"/>
          </a:ln>
        </p:spPr>
        <p:txBody>
          <a:bodyPr/>
          <a:lstStyle/>
          <a:p>
            <a:pPr algn="l">
              <a:defRPr sz="825" b="1">
                <a:solidFill>
                  <a:srgbClr val="6B4E8C"/>
                </a:solidFill>
              </a:defRPr>
            </a:pPr>
            <a:r>
              <a:rPr sz="825" b="1">
                <a:solidFill>
                  <a:srgbClr val="6B4E8C"/>
                </a:solidFill>
              </a:rPr>
              <a:t>ENTERPRISE APPLICABILITY</a:t>
            </a:r>
          </a:p>
        </p:txBody>
      </p:sp>
      <p:sp>
        <p:nvSpPr>
          <p:cNvPr id="2" name="slide-title">
            <a:extLst>
              <a:ext uri="{FF2B5EF4-FFF2-40B4-BE49-F238E27FC236}">
                <a16:creationId xmlns:a16="http://schemas.microsoft.com/office/drawing/2014/main" id="{C732F614-9B87-46E9-87D3-3BE8B2BD4011}"/>
              </a:ext>
            </a:extLst>
          </p:cNvPr>
          <p:cNvSpPr>
            <a:spLocks noGrp="1"/>
          </p:cNvSpPr>
          <p:nvPr/>
        </p:nvSpPr>
        <p:spPr>
          <a:xfrm>
            <a:off x="457200" y="457200"/>
            <a:ext cx="11220450" cy="457200"/>
          </a:xfrm>
          <a:prstGeom prst="rect">
            <a:avLst/>
          </a:prstGeom>
          <a:noFill/>
          <a:ln w="0">
            <a:noFill/>
            <a:prstDash val="solid"/>
          </a:ln>
        </p:spPr>
        <p:txBody>
          <a:bodyPr/>
          <a:lstStyle/>
          <a:p>
            <a:pPr algn="l">
              <a:defRPr sz="2625" b="1">
                <a:solidFill>
                  <a:srgbClr val="132033"/>
                </a:solidFill>
              </a:defRPr>
            </a:pPr>
            <a:r>
              <a:rPr sz="2625" b="1">
                <a:solidFill>
                  <a:srgbClr val="132033"/>
                </a:solidFill>
              </a:rPr>
              <a:t>One foundation can enable seven enterprise functions</a:t>
            </a:r>
          </a:p>
        </p:txBody>
      </p:sp>
      <p:sp>
        <p:nvSpPr>
          <p:cNvPr id="3" name="Rectangle 2">
            <a:extLst>
              <a:ext uri="{FF2B5EF4-FFF2-40B4-BE49-F238E27FC236}">
                <a16:creationId xmlns:a16="http://schemas.microsoft.com/office/drawing/2014/main" id="{E2BB2C3D-5758-4DFC-ACB7-8A505BBBB274}"/>
              </a:ext>
            </a:extLst>
          </p:cNvPr>
          <p:cNvSpPr>
            <a:spLocks noGrp="1"/>
          </p:cNvSpPr>
          <p:nvPr/>
        </p:nvSpPr>
        <p:spPr>
          <a:xfrm>
            <a:off x="457200" y="990600"/>
            <a:ext cx="11277600" cy="9525"/>
          </a:xfrm>
          <a:prstGeom prst="rect">
            <a:avLst/>
          </a:prstGeom>
          <a:solidFill>
            <a:srgbClr val="D8DEE8"/>
          </a:solidFill>
          <a:ln w="0">
            <a:noFill/>
            <a:prstDash val="solid"/>
          </a:ln>
        </p:spPr>
        <p:txBody>
          <a:bodyPr/>
          <a:lstStyle/>
          <a:p>
            <a:endParaRPr lang="en-IN"/>
          </a:p>
        </p:txBody>
      </p:sp>
      <p:sp>
        <p:nvSpPr>
          <p:cNvPr id="4" name="visible-source">
            <a:extLst>
              <a:ext uri="{FF2B5EF4-FFF2-40B4-BE49-F238E27FC236}">
                <a16:creationId xmlns:a16="http://schemas.microsoft.com/office/drawing/2014/main" id="{127EF716-0B70-4C65-8CE5-01D2C1175357}"/>
              </a:ext>
            </a:extLst>
          </p:cNvPr>
          <p:cNvSpPr>
            <a:spLocks noGrp="1"/>
          </p:cNvSpPr>
          <p:nvPr/>
        </p:nvSpPr>
        <p:spPr>
          <a:xfrm>
            <a:off x="457200" y="6524625"/>
            <a:ext cx="9334500" cy="142875"/>
          </a:xfrm>
          <a:prstGeom prst="rect">
            <a:avLst/>
          </a:prstGeom>
          <a:noFill/>
          <a:ln w="0">
            <a:noFill/>
            <a:prstDash val="solid"/>
          </a:ln>
        </p:spPr>
        <p:txBody>
          <a:bodyPr/>
          <a:lstStyle/>
          <a:p>
            <a:pPr algn="l">
              <a:defRPr sz="675" b="0">
                <a:solidFill>
                  <a:srgbClr val="667389"/>
                </a:solidFill>
              </a:defRPr>
            </a:pPr>
            <a:r>
              <a:rPr sz="675" b="0">
                <a:solidFill>
                  <a:srgbClr val="667389"/>
                </a:solidFill>
              </a:rPr>
              <a:t>Source: Application and business-value documentation</a:t>
            </a:r>
          </a:p>
        </p:txBody>
      </p:sp>
      <p:sp>
        <p:nvSpPr>
          <p:cNvPr id="5" name="page">
            <a:extLst>
              <a:ext uri="{FF2B5EF4-FFF2-40B4-BE49-F238E27FC236}">
                <a16:creationId xmlns:a16="http://schemas.microsoft.com/office/drawing/2014/main" id="{19550576-E7B6-4657-8264-30FB5922BA92}"/>
              </a:ext>
            </a:extLst>
          </p:cNvPr>
          <p:cNvSpPr>
            <a:spLocks noGrp="1"/>
          </p:cNvSpPr>
          <p:nvPr/>
        </p:nvSpPr>
        <p:spPr>
          <a:xfrm>
            <a:off x="11220450" y="6496050"/>
            <a:ext cx="514350" cy="171450"/>
          </a:xfrm>
          <a:prstGeom prst="rect">
            <a:avLst/>
          </a:prstGeom>
          <a:noFill/>
          <a:ln w="0">
            <a:noFill/>
            <a:prstDash val="solid"/>
          </a:ln>
        </p:spPr>
        <p:txBody>
          <a:bodyPr/>
          <a:lstStyle/>
          <a:p>
            <a:pPr algn="r">
              <a:defRPr sz="750" b="1">
                <a:solidFill>
                  <a:srgbClr val="667389"/>
                </a:solidFill>
              </a:defRPr>
            </a:pPr>
            <a:r>
              <a:rPr sz="750" b="1">
                <a:solidFill>
                  <a:srgbClr val="667389"/>
                </a:solidFill>
              </a:rPr>
              <a:t>11</a:t>
            </a:r>
          </a:p>
        </p:txBody>
      </p:sp>
      <p:sp>
        <p:nvSpPr>
          <p:cNvPr id="6" name="Rectangle: Rounded Corners 5">
            <a:extLst>
              <a:ext uri="{FF2B5EF4-FFF2-40B4-BE49-F238E27FC236}">
                <a16:creationId xmlns:a16="http://schemas.microsoft.com/office/drawing/2014/main" id="{BDB225AB-95DB-419F-88C0-BE2353A9845C}"/>
              </a:ext>
            </a:extLst>
          </p:cNvPr>
          <p:cNvSpPr>
            <a:spLocks noGrp="1"/>
          </p:cNvSpPr>
          <p:nvPr/>
        </p:nvSpPr>
        <p:spPr>
          <a:xfrm>
            <a:off x="4667250" y="2381250"/>
            <a:ext cx="2857500" cy="1809750"/>
          </a:xfrm>
          <a:prstGeom prst="roundRect">
            <a:avLst>
              <a:gd name="adj" fmla="val 2105"/>
            </a:avLst>
          </a:prstGeom>
          <a:solidFill>
            <a:srgbClr val="F1ECF6"/>
          </a:solidFill>
          <a:ln w="9525">
            <a:solidFill>
              <a:srgbClr val="6B4E8C"/>
            </a:solidFill>
            <a:prstDash val="solid"/>
          </a:ln>
        </p:spPr>
        <p:txBody>
          <a:bodyPr/>
          <a:lstStyle/>
          <a:p>
            <a:endParaRPr lang="en-IN"/>
          </a:p>
        </p:txBody>
      </p:sp>
      <p:sp>
        <p:nvSpPr>
          <p:cNvPr id="7" name="Rectangle 6">
            <a:extLst>
              <a:ext uri="{FF2B5EF4-FFF2-40B4-BE49-F238E27FC236}">
                <a16:creationId xmlns:a16="http://schemas.microsoft.com/office/drawing/2014/main" id="{A97B5477-53D5-4DD4-A015-E47D3D8B3987}"/>
              </a:ext>
            </a:extLst>
          </p:cNvPr>
          <p:cNvSpPr>
            <a:spLocks noGrp="1"/>
          </p:cNvSpPr>
          <p:nvPr/>
        </p:nvSpPr>
        <p:spPr>
          <a:xfrm>
            <a:off x="4953000" y="2800350"/>
            <a:ext cx="2286000" cy="609600"/>
          </a:xfrm>
          <a:prstGeom prst="rect">
            <a:avLst/>
          </a:prstGeom>
          <a:noFill/>
          <a:ln w="0">
            <a:noFill/>
            <a:prstDash val="solid"/>
          </a:ln>
        </p:spPr>
        <p:txBody>
          <a:bodyPr/>
          <a:lstStyle/>
          <a:p>
            <a:pPr algn="ctr">
              <a:defRPr sz="1800" b="1">
                <a:solidFill>
                  <a:srgbClr val="132033"/>
                </a:solidFill>
              </a:defRPr>
            </a:pPr>
            <a:r>
              <a:rPr sz="1800" b="1">
                <a:solidFill>
                  <a:srgbClr val="132033"/>
                </a:solidFill>
              </a:rPr>
              <a:t>GOVERNED CONTRACT</a:t>
            </a:r>
          </a:p>
          <a:p>
            <a:pPr algn="ctr">
              <a:defRPr sz="1800" b="1">
                <a:solidFill>
                  <a:srgbClr val="132033"/>
                </a:solidFill>
              </a:defRPr>
            </a:pPr>
            <a:r>
              <a:rPr sz="1800" b="1">
                <a:solidFill>
                  <a:srgbClr val="132033"/>
                </a:solidFill>
              </a:rPr>
              <a:t>INTELLIGENCE</a:t>
            </a:r>
          </a:p>
        </p:txBody>
      </p:sp>
      <p:sp>
        <p:nvSpPr>
          <p:cNvPr id="8" name="Rectangle 7">
            <a:extLst>
              <a:ext uri="{FF2B5EF4-FFF2-40B4-BE49-F238E27FC236}">
                <a16:creationId xmlns:a16="http://schemas.microsoft.com/office/drawing/2014/main" id="{BF594193-89AF-4490-BC6B-63D56334D005}"/>
              </a:ext>
            </a:extLst>
          </p:cNvPr>
          <p:cNvSpPr>
            <a:spLocks noGrp="1"/>
          </p:cNvSpPr>
          <p:nvPr/>
        </p:nvSpPr>
        <p:spPr>
          <a:xfrm>
            <a:off x="4953000" y="3571875"/>
            <a:ext cx="2286000" cy="209550"/>
          </a:xfrm>
          <a:prstGeom prst="rect">
            <a:avLst/>
          </a:prstGeom>
          <a:noFill/>
          <a:ln w="0">
            <a:noFill/>
            <a:prstDash val="solid"/>
          </a:ln>
        </p:spPr>
        <p:txBody>
          <a:bodyPr/>
          <a:lstStyle/>
          <a:p>
            <a:pPr algn="ctr">
              <a:defRPr sz="1050" b="1">
                <a:solidFill>
                  <a:srgbClr val="6B4E8C"/>
                </a:solidFill>
              </a:defRPr>
            </a:pPr>
            <a:r>
              <a:rPr sz="1050" b="1">
                <a:solidFill>
                  <a:srgbClr val="6B4E8C"/>
                </a:solidFill>
              </a:rPr>
              <a:t>one reusable foundation</a:t>
            </a:r>
          </a:p>
        </p:txBody>
      </p:sp>
      <p:sp>
        <p:nvSpPr>
          <p:cNvPr id="9" name="Rectangle: Rounded Corners 8">
            <a:extLst>
              <a:ext uri="{FF2B5EF4-FFF2-40B4-BE49-F238E27FC236}">
                <a16:creationId xmlns:a16="http://schemas.microsoft.com/office/drawing/2014/main" id="{2AA0E556-D194-4190-98C0-BF12B2ED1139}"/>
              </a:ext>
            </a:extLst>
          </p:cNvPr>
          <p:cNvSpPr>
            <a:spLocks noGrp="1"/>
          </p:cNvSpPr>
          <p:nvPr/>
        </p:nvSpPr>
        <p:spPr>
          <a:xfrm>
            <a:off x="571500" y="1285875"/>
            <a:ext cx="2857500" cy="1809750"/>
          </a:xfrm>
          <a:prstGeom prst="roundRect">
            <a:avLst>
              <a:gd name="adj" fmla="val 2105"/>
            </a:avLst>
          </a:prstGeom>
          <a:solidFill>
            <a:srgbClr val="FFFFFF"/>
          </a:solidFill>
          <a:ln w="9525">
            <a:solidFill>
              <a:srgbClr val="1769AA"/>
            </a:solidFill>
            <a:prstDash val="solid"/>
          </a:ln>
        </p:spPr>
        <p:txBody>
          <a:bodyPr/>
          <a:lstStyle/>
          <a:p>
            <a:endParaRPr lang="en-IN"/>
          </a:p>
        </p:txBody>
      </p:sp>
      <p:sp>
        <p:nvSpPr>
          <p:cNvPr id="10" name="Rectangle 9">
            <a:extLst>
              <a:ext uri="{FF2B5EF4-FFF2-40B4-BE49-F238E27FC236}">
                <a16:creationId xmlns:a16="http://schemas.microsoft.com/office/drawing/2014/main" id="{8B654839-D118-4DE6-B026-8745434F6746}"/>
              </a:ext>
            </a:extLst>
          </p:cNvPr>
          <p:cNvSpPr>
            <a:spLocks noGrp="1"/>
          </p:cNvSpPr>
          <p:nvPr/>
        </p:nvSpPr>
        <p:spPr>
          <a:xfrm>
            <a:off x="742950" y="1514475"/>
            <a:ext cx="2514600" cy="228600"/>
          </a:xfrm>
          <a:prstGeom prst="rect">
            <a:avLst/>
          </a:prstGeom>
          <a:noFill/>
          <a:ln w="0">
            <a:noFill/>
            <a:prstDash val="solid"/>
          </a:ln>
        </p:spPr>
        <p:txBody>
          <a:bodyPr/>
          <a:lstStyle/>
          <a:p>
            <a:pPr algn="ctr">
              <a:defRPr sz="1050" b="1">
                <a:solidFill>
                  <a:srgbClr val="1769AA"/>
                </a:solidFill>
              </a:defRPr>
            </a:pPr>
            <a:r>
              <a:rPr sz="1050" b="1">
                <a:solidFill>
                  <a:srgbClr val="1769AA"/>
                </a:solidFill>
              </a:rPr>
              <a:t>OPERATIONAL DECISIONS</a:t>
            </a:r>
          </a:p>
        </p:txBody>
      </p:sp>
      <p:sp>
        <p:nvSpPr>
          <p:cNvPr id="11" name="Rectangle 10">
            <a:extLst>
              <a:ext uri="{FF2B5EF4-FFF2-40B4-BE49-F238E27FC236}">
                <a16:creationId xmlns:a16="http://schemas.microsoft.com/office/drawing/2014/main" id="{FE34BA9E-8F6A-4472-BD59-BA55819C76A2}"/>
              </a:ext>
            </a:extLst>
          </p:cNvPr>
          <p:cNvSpPr>
            <a:spLocks noGrp="1"/>
          </p:cNvSpPr>
          <p:nvPr/>
        </p:nvSpPr>
        <p:spPr>
          <a:xfrm>
            <a:off x="819150" y="2009775"/>
            <a:ext cx="2362200" cy="228600"/>
          </a:xfrm>
          <a:prstGeom prst="rect">
            <a:avLst/>
          </a:prstGeom>
          <a:noFill/>
          <a:ln w="0">
            <a:noFill/>
            <a:prstDash val="solid"/>
          </a:ln>
        </p:spPr>
        <p:txBody>
          <a:bodyPr/>
          <a:lstStyle/>
          <a:p>
            <a:pPr algn="ctr">
              <a:defRPr sz="1275" b="1">
                <a:solidFill>
                  <a:srgbClr val="35445B"/>
                </a:solidFill>
              </a:defRPr>
            </a:pPr>
            <a:r>
              <a:rPr sz="1275" b="1">
                <a:solidFill>
                  <a:srgbClr val="35445B"/>
                </a:solidFill>
              </a:rPr>
              <a:t>Claims Adjudication</a:t>
            </a:r>
          </a:p>
        </p:txBody>
      </p:sp>
      <p:sp>
        <p:nvSpPr>
          <p:cNvPr id="12" name="Rectangle 11">
            <a:extLst>
              <a:ext uri="{FF2B5EF4-FFF2-40B4-BE49-F238E27FC236}">
                <a16:creationId xmlns:a16="http://schemas.microsoft.com/office/drawing/2014/main" id="{F4579070-3D9D-45CE-8DED-92D055CB61A9}"/>
              </a:ext>
            </a:extLst>
          </p:cNvPr>
          <p:cNvSpPr>
            <a:spLocks noGrp="1"/>
          </p:cNvSpPr>
          <p:nvPr/>
        </p:nvSpPr>
        <p:spPr>
          <a:xfrm>
            <a:off x="819150" y="2524125"/>
            <a:ext cx="2362200" cy="228600"/>
          </a:xfrm>
          <a:prstGeom prst="rect">
            <a:avLst/>
          </a:prstGeom>
          <a:noFill/>
          <a:ln w="0">
            <a:noFill/>
            <a:prstDash val="solid"/>
          </a:ln>
        </p:spPr>
        <p:txBody>
          <a:bodyPr/>
          <a:lstStyle/>
          <a:p>
            <a:pPr algn="ctr">
              <a:defRPr sz="1275" b="1">
                <a:solidFill>
                  <a:srgbClr val="35445B"/>
                </a:solidFill>
              </a:defRPr>
            </a:pPr>
            <a:r>
              <a:rPr sz="1275" b="1">
                <a:solidFill>
                  <a:srgbClr val="35445B"/>
                </a:solidFill>
              </a:rPr>
              <a:t>Utilization Management</a:t>
            </a:r>
          </a:p>
        </p:txBody>
      </p:sp>
      <p:sp>
        <p:nvSpPr>
          <p:cNvPr id="13" name="Rectangle: Rounded Corners 12">
            <a:extLst>
              <a:ext uri="{FF2B5EF4-FFF2-40B4-BE49-F238E27FC236}">
                <a16:creationId xmlns:a16="http://schemas.microsoft.com/office/drawing/2014/main" id="{DA5E5C8D-50EE-4EDB-BFB1-C56AC8DDBCED}"/>
              </a:ext>
            </a:extLst>
          </p:cNvPr>
          <p:cNvSpPr>
            <a:spLocks noGrp="1"/>
          </p:cNvSpPr>
          <p:nvPr/>
        </p:nvSpPr>
        <p:spPr>
          <a:xfrm>
            <a:off x="571500" y="3476625"/>
            <a:ext cx="2857500" cy="1809750"/>
          </a:xfrm>
          <a:prstGeom prst="roundRect">
            <a:avLst>
              <a:gd name="adj" fmla="val 2105"/>
            </a:avLst>
          </a:prstGeom>
          <a:solidFill>
            <a:srgbClr val="FFFFFF"/>
          </a:solidFill>
          <a:ln w="9525">
            <a:solidFill>
              <a:srgbClr val="007A78"/>
            </a:solidFill>
            <a:prstDash val="solid"/>
          </a:ln>
        </p:spPr>
        <p:txBody>
          <a:bodyPr/>
          <a:lstStyle/>
          <a:p>
            <a:endParaRPr lang="en-IN"/>
          </a:p>
        </p:txBody>
      </p:sp>
      <p:sp>
        <p:nvSpPr>
          <p:cNvPr id="14" name="Rectangle 13">
            <a:extLst>
              <a:ext uri="{FF2B5EF4-FFF2-40B4-BE49-F238E27FC236}">
                <a16:creationId xmlns:a16="http://schemas.microsoft.com/office/drawing/2014/main" id="{F0244D09-2291-4C3D-8539-58C6CF2F87F5}"/>
              </a:ext>
            </a:extLst>
          </p:cNvPr>
          <p:cNvSpPr>
            <a:spLocks noGrp="1"/>
          </p:cNvSpPr>
          <p:nvPr/>
        </p:nvSpPr>
        <p:spPr>
          <a:xfrm>
            <a:off x="742950" y="3705225"/>
            <a:ext cx="2514600" cy="228600"/>
          </a:xfrm>
          <a:prstGeom prst="rect">
            <a:avLst/>
          </a:prstGeom>
          <a:noFill/>
          <a:ln w="0">
            <a:noFill/>
            <a:prstDash val="solid"/>
          </a:ln>
        </p:spPr>
        <p:txBody>
          <a:bodyPr/>
          <a:lstStyle/>
          <a:p>
            <a:pPr algn="ctr">
              <a:defRPr sz="1050" b="1">
                <a:solidFill>
                  <a:srgbClr val="007A78"/>
                </a:solidFill>
              </a:defRPr>
            </a:pPr>
            <a:r>
              <a:rPr sz="1050" b="1">
                <a:solidFill>
                  <a:srgbClr val="007A78"/>
                </a:solidFill>
              </a:rPr>
              <a:t>CONTRACT DECISIONS</a:t>
            </a:r>
          </a:p>
        </p:txBody>
      </p:sp>
      <p:sp>
        <p:nvSpPr>
          <p:cNvPr id="15" name="Rectangle 14">
            <a:extLst>
              <a:ext uri="{FF2B5EF4-FFF2-40B4-BE49-F238E27FC236}">
                <a16:creationId xmlns:a16="http://schemas.microsoft.com/office/drawing/2014/main" id="{806CAE46-9C64-4A57-842A-6541BEE132C9}"/>
              </a:ext>
            </a:extLst>
          </p:cNvPr>
          <p:cNvSpPr>
            <a:spLocks noGrp="1"/>
          </p:cNvSpPr>
          <p:nvPr/>
        </p:nvSpPr>
        <p:spPr>
          <a:xfrm>
            <a:off x="819150" y="4200525"/>
            <a:ext cx="2362200" cy="228600"/>
          </a:xfrm>
          <a:prstGeom prst="rect">
            <a:avLst/>
          </a:prstGeom>
          <a:noFill/>
          <a:ln w="0">
            <a:noFill/>
            <a:prstDash val="solid"/>
          </a:ln>
        </p:spPr>
        <p:txBody>
          <a:bodyPr/>
          <a:lstStyle/>
          <a:p>
            <a:pPr algn="ctr">
              <a:defRPr sz="1275" b="1">
                <a:solidFill>
                  <a:srgbClr val="35445B"/>
                </a:solidFill>
              </a:defRPr>
            </a:pPr>
            <a:r>
              <a:rPr sz="1275" b="1">
                <a:solidFill>
                  <a:srgbClr val="35445B"/>
                </a:solidFill>
              </a:rPr>
              <a:t>Provider Relations</a:t>
            </a:r>
          </a:p>
        </p:txBody>
      </p:sp>
      <p:sp>
        <p:nvSpPr>
          <p:cNvPr id="16" name="Rectangle 15">
            <a:extLst>
              <a:ext uri="{FF2B5EF4-FFF2-40B4-BE49-F238E27FC236}">
                <a16:creationId xmlns:a16="http://schemas.microsoft.com/office/drawing/2014/main" id="{CBE31FE2-DA86-4743-AE09-D08CF1B754EB}"/>
              </a:ext>
            </a:extLst>
          </p:cNvPr>
          <p:cNvSpPr>
            <a:spLocks noGrp="1"/>
          </p:cNvSpPr>
          <p:nvPr/>
        </p:nvSpPr>
        <p:spPr>
          <a:xfrm>
            <a:off x="819150" y="4714875"/>
            <a:ext cx="2362200" cy="228600"/>
          </a:xfrm>
          <a:prstGeom prst="rect">
            <a:avLst/>
          </a:prstGeom>
          <a:noFill/>
          <a:ln w="0">
            <a:noFill/>
            <a:prstDash val="solid"/>
          </a:ln>
        </p:spPr>
        <p:txBody>
          <a:bodyPr/>
          <a:lstStyle/>
          <a:p>
            <a:pPr algn="ctr">
              <a:defRPr sz="1275" b="1">
                <a:solidFill>
                  <a:srgbClr val="35445B"/>
                </a:solidFill>
              </a:defRPr>
            </a:pPr>
            <a:r>
              <a:rPr sz="1275" b="1">
                <a:solidFill>
                  <a:srgbClr val="35445B"/>
                </a:solidFill>
              </a:rPr>
              <a:t>Network Management</a:t>
            </a:r>
          </a:p>
        </p:txBody>
      </p:sp>
      <p:sp>
        <p:nvSpPr>
          <p:cNvPr id="17" name="Rectangle: Rounded Corners 16">
            <a:extLst>
              <a:ext uri="{FF2B5EF4-FFF2-40B4-BE49-F238E27FC236}">
                <a16:creationId xmlns:a16="http://schemas.microsoft.com/office/drawing/2014/main" id="{5BF35038-97D3-4EB5-B9C3-0ED5D5805923}"/>
              </a:ext>
            </a:extLst>
          </p:cNvPr>
          <p:cNvSpPr>
            <a:spLocks noGrp="1"/>
          </p:cNvSpPr>
          <p:nvPr/>
        </p:nvSpPr>
        <p:spPr>
          <a:xfrm>
            <a:off x="8763000" y="2024062"/>
            <a:ext cx="2857500" cy="2524125"/>
          </a:xfrm>
          <a:prstGeom prst="roundRect">
            <a:avLst>
              <a:gd name="adj" fmla="val 1509"/>
            </a:avLst>
          </a:prstGeom>
          <a:solidFill>
            <a:srgbClr val="FFFFFF"/>
          </a:solidFill>
          <a:ln w="9525">
            <a:solidFill>
              <a:srgbClr val="6B4E8C"/>
            </a:solidFill>
            <a:prstDash val="solid"/>
          </a:ln>
        </p:spPr>
        <p:txBody>
          <a:bodyPr/>
          <a:lstStyle/>
          <a:p>
            <a:endParaRPr lang="en-IN"/>
          </a:p>
        </p:txBody>
      </p:sp>
      <p:sp>
        <p:nvSpPr>
          <p:cNvPr id="18" name="Rectangle 17">
            <a:extLst>
              <a:ext uri="{FF2B5EF4-FFF2-40B4-BE49-F238E27FC236}">
                <a16:creationId xmlns:a16="http://schemas.microsoft.com/office/drawing/2014/main" id="{A6BEA0FC-7230-4625-98F0-98129F7FD04C}"/>
              </a:ext>
            </a:extLst>
          </p:cNvPr>
          <p:cNvSpPr>
            <a:spLocks noGrp="1"/>
          </p:cNvSpPr>
          <p:nvPr/>
        </p:nvSpPr>
        <p:spPr>
          <a:xfrm>
            <a:off x="8934450" y="2252662"/>
            <a:ext cx="2514600" cy="228600"/>
          </a:xfrm>
          <a:prstGeom prst="rect">
            <a:avLst/>
          </a:prstGeom>
          <a:noFill/>
          <a:ln w="0">
            <a:noFill/>
            <a:prstDash val="solid"/>
          </a:ln>
        </p:spPr>
        <p:txBody>
          <a:bodyPr/>
          <a:lstStyle/>
          <a:p>
            <a:pPr algn="ctr">
              <a:defRPr sz="1050" b="1">
                <a:solidFill>
                  <a:srgbClr val="6B4E8C"/>
                </a:solidFill>
              </a:defRPr>
            </a:pPr>
            <a:r>
              <a:rPr sz="1050" b="1">
                <a:solidFill>
                  <a:srgbClr val="6B4E8C"/>
                </a:solidFill>
              </a:rPr>
              <a:t>OVERSIGHT &amp; INTELLIGENCE</a:t>
            </a:r>
          </a:p>
        </p:txBody>
      </p:sp>
      <p:sp>
        <p:nvSpPr>
          <p:cNvPr id="19" name="Rectangle 18">
            <a:extLst>
              <a:ext uri="{FF2B5EF4-FFF2-40B4-BE49-F238E27FC236}">
                <a16:creationId xmlns:a16="http://schemas.microsoft.com/office/drawing/2014/main" id="{B72D91E2-8035-4715-AF60-DCE29E29E36F}"/>
              </a:ext>
            </a:extLst>
          </p:cNvPr>
          <p:cNvSpPr>
            <a:spLocks noGrp="1"/>
          </p:cNvSpPr>
          <p:nvPr/>
        </p:nvSpPr>
        <p:spPr>
          <a:xfrm>
            <a:off x="9010650" y="2747962"/>
            <a:ext cx="2362200" cy="228600"/>
          </a:xfrm>
          <a:prstGeom prst="rect">
            <a:avLst/>
          </a:prstGeom>
          <a:noFill/>
          <a:ln w="0">
            <a:noFill/>
            <a:prstDash val="solid"/>
          </a:ln>
        </p:spPr>
        <p:txBody>
          <a:bodyPr/>
          <a:lstStyle/>
          <a:p>
            <a:pPr algn="ctr">
              <a:defRPr sz="1275" b="1">
                <a:solidFill>
                  <a:srgbClr val="35445B"/>
                </a:solidFill>
              </a:defRPr>
            </a:pPr>
            <a:r>
              <a:rPr sz="1275" b="1">
                <a:solidFill>
                  <a:srgbClr val="35445B"/>
                </a:solidFill>
              </a:rPr>
              <a:t>Analytics</a:t>
            </a:r>
          </a:p>
        </p:txBody>
      </p:sp>
      <p:sp>
        <p:nvSpPr>
          <p:cNvPr id="20" name="Rectangle 19">
            <a:extLst>
              <a:ext uri="{FF2B5EF4-FFF2-40B4-BE49-F238E27FC236}">
                <a16:creationId xmlns:a16="http://schemas.microsoft.com/office/drawing/2014/main" id="{252CD0B7-B37D-4FDC-B7A4-8D833522CC41}"/>
              </a:ext>
            </a:extLst>
          </p:cNvPr>
          <p:cNvSpPr>
            <a:spLocks noGrp="1"/>
          </p:cNvSpPr>
          <p:nvPr/>
        </p:nvSpPr>
        <p:spPr>
          <a:xfrm>
            <a:off x="9010650" y="3262312"/>
            <a:ext cx="2362200" cy="228600"/>
          </a:xfrm>
          <a:prstGeom prst="rect">
            <a:avLst/>
          </a:prstGeom>
          <a:noFill/>
          <a:ln w="0">
            <a:noFill/>
            <a:prstDash val="solid"/>
          </a:ln>
        </p:spPr>
        <p:txBody>
          <a:bodyPr/>
          <a:lstStyle/>
          <a:p>
            <a:pPr algn="ctr">
              <a:defRPr sz="1275" b="1">
                <a:solidFill>
                  <a:srgbClr val="35445B"/>
                </a:solidFill>
              </a:defRPr>
            </a:pPr>
            <a:r>
              <a:rPr sz="1275" b="1">
                <a:solidFill>
                  <a:srgbClr val="35445B"/>
                </a:solidFill>
              </a:rPr>
              <a:t>Compliance &amp; Audit</a:t>
            </a:r>
          </a:p>
        </p:txBody>
      </p:sp>
      <p:sp>
        <p:nvSpPr>
          <p:cNvPr id="21" name="Rectangle 20">
            <a:extLst>
              <a:ext uri="{FF2B5EF4-FFF2-40B4-BE49-F238E27FC236}">
                <a16:creationId xmlns:a16="http://schemas.microsoft.com/office/drawing/2014/main" id="{CB4C0F64-5A89-4032-B6C0-987A4F340C56}"/>
              </a:ext>
            </a:extLst>
          </p:cNvPr>
          <p:cNvSpPr>
            <a:spLocks noGrp="1"/>
          </p:cNvSpPr>
          <p:nvPr/>
        </p:nvSpPr>
        <p:spPr>
          <a:xfrm>
            <a:off x="9010650" y="3776662"/>
            <a:ext cx="2362200" cy="228600"/>
          </a:xfrm>
          <a:prstGeom prst="rect">
            <a:avLst/>
          </a:prstGeom>
          <a:noFill/>
          <a:ln w="0">
            <a:noFill/>
            <a:prstDash val="solid"/>
          </a:ln>
        </p:spPr>
        <p:txBody>
          <a:bodyPr/>
          <a:lstStyle/>
          <a:p>
            <a:pPr algn="ctr">
              <a:defRPr sz="1275" b="1">
                <a:solidFill>
                  <a:srgbClr val="35445B"/>
                </a:solidFill>
              </a:defRPr>
            </a:pPr>
            <a:r>
              <a:rPr sz="1275" b="1">
                <a:solidFill>
                  <a:srgbClr val="35445B"/>
                </a:solidFill>
              </a:rPr>
              <a:t>Executive Leadership</a:t>
            </a:r>
          </a:p>
        </p:txBody>
      </p:sp>
      <p:sp>
        <p:nvSpPr>
          <p:cNvPr id="22" name="Rectangle 21">
            <a:extLst>
              <a:ext uri="{FF2B5EF4-FFF2-40B4-BE49-F238E27FC236}">
                <a16:creationId xmlns:a16="http://schemas.microsoft.com/office/drawing/2014/main" id="{77F8151B-2D99-4FE6-A82E-196C1E5EF4DA}"/>
              </a:ext>
            </a:extLst>
          </p:cNvPr>
          <p:cNvSpPr>
            <a:spLocks noGrp="1"/>
          </p:cNvSpPr>
          <p:nvPr/>
        </p:nvSpPr>
        <p:spPr>
          <a:xfrm>
            <a:off x="3429000" y="2181225"/>
            <a:ext cx="762000" cy="19050"/>
          </a:xfrm>
          <a:prstGeom prst="rect">
            <a:avLst/>
          </a:prstGeom>
          <a:solidFill>
            <a:srgbClr val="D8DEE8"/>
          </a:solidFill>
          <a:ln w="0">
            <a:noFill/>
            <a:prstDash val="solid"/>
          </a:ln>
        </p:spPr>
        <p:txBody>
          <a:bodyPr/>
          <a:lstStyle/>
          <a:p>
            <a:endParaRPr lang="en-IN"/>
          </a:p>
        </p:txBody>
      </p:sp>
      <p:sp>
        <p:nvSpPr>
          <p:cNvPr id="23" name="Rectangle 22">
            <a:extLst>
              <a:ext uri="{FF2B5EF4-FFF2-40B4-BE49-F238E27FC236}">
                <a16:creationId xmlns:a16="http://schemas.microsoft.com/office/drawing/2014/main" id="{CA2769A9-E102-486E-B999-24D82F5765E3}"/>
              </a:ext>
            </a:extLst>
          </p:cNvPr>
          <p:cNvSpPr>
            <a:spLocks noGrp="1"/>
          </p:cNvSpPr>
          <p:nvPr/>
        </p:nvSpPr>
        <p:spPr>
          <a:xfrm>
            <a:off x="3429000" y="4371975"/>
            <a:ext cx="762000" cy="19050"/>
          </a:xfrm>
          <a:prstGeom prst="rect">
            <a:avLst/>
          </a:prstGeom>
          <a:solidFill>
            <a:srgbClr val="D8DEE8"/>
          </a:solidFill>
          <a:ln w="0">
            <a:noFill/>
            <a:prstDash val="solid"/>
          </a:ln>
        </p:spPr>
        <p:txBody>
          <a:bodyPr/>
          <a:lstStyle/>
          <a:p>
            <a:endParaRPr lang="en-IN"/>
          </a:p>
        </p:txBody>
      </p:sp>
      <p:sp>
        <p:nvSpPr>
          <p:cNvPr id="24" name="Rectangle 23">
            <a:extLst>
              <a:ext uri="{FF2B5EF4-FFF2-40B4-BE49-F238E27FC236}">
                <a16:creationId xmlns:a16="http://schemas.microsoft.com/office/drawing/2014/main" id="{AA6DE53A-AB33-4363-ACDE-B0F61ED570D7}"/>
              </a:ext>
            </a:extLst>
          </p:cNvPr>
          <p:cNvSpPr>
            <a:spLocks noGrp="1"/>
          </p:cNvSpPr>
          <p:nvPr/>
        </p:nvSpPr>
        <p:spPr>
          <a:xfrm>
            <a:off x="7524750" y="3276600"/>
            <a:ext cx="1238250" cy="19050"/>
          </a:xfrm>
          <a:prstGeom prst="rect">
            <a:avLst/>
          </a:prstGeom>
          <a:solidFill>
            <a:srgbClr val="D8DEE8"/>
          </a:solidFill>
          <a:ln w="0">
            <a:noFill/>
            <a:prstDash val="solid"/>
          </a:ln>
        </p:spPr>
        <p:txBody>
          <a:bodyPr/>
          <a:lstStyle/>
          <a:p>
            <a:endParaRPr lang="en-IN"/>
          </a:p>
        </p:txBody>
      </p:sp>
      <p:sp>
        <p:nvSpPr>
          <p:cNvPr id="25" name="Rectangle: Rounded Corners 24">
            <a:extLst>
              <a:ext uri="{FF2B5EF4-FFF2-40B4-BE49-F238E27FC236}">
                <a16:creationId xmlns:a16="http://schemas.microsoft.com/office/drawing/2014/main" id="{6677E077-BA9C-4275-A84F-67D4A02F5929}"/>
              </a:ext>
            </a:extLst>
          </p:cNvPr>
          <p:cNvSpPr>
            <a:spLocks noGrp="1"/>
          </p:cNvSpPr>
          <p:nvPr/>
        </p:nvSpPr>
        <p:spPr>
          <a:xfrm>
            <a:off x="571500" y="5562600"/>
            <a:ext cx="11049000" cy="514350"/>
          </a:xfrm>
          <a:prstGeom prst="roundRect">
            <a:avLst>
              <a:gd name="adj" fmla="val 7407"/>
            </a:avLst>
          </a:prstGeom>
          <a:solidFill>
            <a:srgbClr val="F1ECF6"/>
          </a:solidFill>
          <a:ln w="9525">
            <a:solidFill>
              <a:srgbClr val="6B4E8C"/>
            </a:solidFill>
            <a:prstDash val="solid"/>
          </a:ln>
        </p:spPr>
        <p:txBody>
          <a:bodyPr/>
          <a:lstStyle/>
          <a:p>
            <a:endParaRPr lang="en-IN"/>
          </a:p>
        </p:txBody>
      </p:sp>
      <p:sp>
        <p:nvSpPr>
          <p:cNvPr id="26" name="Rectangle 25">
            <a:extLst>
              <a:ext uri="{FF2B5EF4-FFF2-40B4-BE49-F238E27FC236}">
                <a16:creationId xmlns:a16="http://schemas.microsoft.com/office/drawing/2014/main" id="{D5B18FB7-50DA-49AF-AC19-50257BE6797E}"/>
              </a:ext>
            </a:extLst>
          </p:cNvPr>
          <p:cNvSpPr>
            <a:spLocks noGrp="1"/>
          </p:cNvSpPr>
          <p:nvPr/>
        </p:nvSpPr>
        <p:spPr>
          <a:xfrm>
            <a:off x="571500" y="5562600"/>
            <a:ext cx="57150" cy="514350"/>
          </a:xfrm>
          <a:prstGeom prst="rect">
            <a:avLst/>
          </a:prstGeom>
          <a:solidFill>
            <a:srgbClr val="6B4E8C"/>
          </a:solidFill>
          <a:ln w="0">
            <a:noFill/>
            <a:prstDash val="solid"/>
          </a:ln>
        </p:spPr>
        <p:txBody>
          <a:bodyPr/>
          <a:lstStyle/>
          <a:p>
            <a:endParaRPr lang="en-IN"/>
          </a:p>
        </p:txBody>
      </p:sp>
      <p:sp>
        <p:nvSpPr>
          <p:cNvPr id="27" name="Rectangle 26">
            <a:extLst>
              <a:ext uri="{FF2B5EF4-FFF2-40B4-BE49-F238E27FC236}">
                <a16:creationId xmlns:a16="http://schemas.microsoft.com/office/drawing/2014/main" id="{3B550BEC-B82A-4420-8E20-4527D7BA63B8}"/>
              </a:ext>
            </a:extLst>
          </p:cNvPr>
          <p:cNvSpPr>
            <a:spLocks noGrp="1"/>
          </p:cNvSpPr>
          <p:nvPr/>
        </p:nvSpPr>
        <p:spPr>
          <a:xfrm>
            <a:off x="781050" y="5686425"/>
            <a:ext cx="10687050" cy="342900"/>
          </a:xfrm>
          <a:prstGeom prst="rect">
            <a:avLst/>
          </a:prstGeom>
          <a:noFill/>
          <a:ln w="0">
            <a:noFill/>
            <a:prstDash val="solid"/>
          </a:ln>
        </p:spPr>
        <p:txBody>
          <a:bodyPr/>
          <a:lstStyle/>
          <a:p>
            <a:pPr algn="l">
              <a:defRPr sz="1425" b="1">
                <a:solidFill>
                  <a:srgbClr val="132033"/>
                </a:solidFill>
              </a:defRPr>
            </a:pPr>
            <a:r>
              <a:rPr sz="1425" b="1">
                <a:solidFill>
                  <a:srgbClr val="132033"/>
                </a:solidFill>
              </a:rPr>
              <a:t>One ingestion and intelligence layer—many enterprise workflows.</a:t>
            </a:r>
          </a:p>
        </p:txBody>
      </p:sp>
      <p:sp>
        <p:nvSpPr>
          <p:cNvPr id="28" name="Rectangle 27">
            <a:extLst>
              <a:ext uri="{FF2B5EF4-FFF2-40B4-BE49-F238E27FC236}">
                <a16:creationId xmlns:a16="http://schemas.microsoft.com/office/drawing/2014/main" id="{9B42801A-433D-4625-9F2A-DB1F29C33B7A}"/>
              </a:ext>
            </a:extLst>
          </p:cNvPr>
          <p:cNvSpPr>
            <a:spLocks noGrp="1"/>
          </p:cNvSpPr>
          <p:nvPr/>
        </p:nvSpPr>
        <p:spPr>
          <a:xfrm>
            <a:off x="571500" y="6162675"/>
            <a:ext cx="11049000" cy="152400"/>
          </a:xfrm>
          <a:prstGeom prst="rect">
            <a:avLst/>
          </a:prstGeom>
          <a:noFill/>
          <a:ln w="0">
            <a:noFill/>
            <a:prstDash val="solid"/>
          </a:ln>
        </p:spPr>
        <p:txBody>
          <a:bodyPr/>
          <a:lstStyle/>
          <a:p>
            <a:pPr algn="ctr">
              <a:defRPr sz="750" b="0">
                <a:solidFill>
                  <a:srgbClr val="667389"/>
                </a:solidFill>
              </a:defRPr>
            </a:pPr>
            <a:r>
              <a:rPr sz="750" b="0">
                <a:solidFill>
                  <a:srgbClr val="667389"/>
                </a:solidFill>
              </a:rPr>
              <a:t>Enabled use cases; business adoption has not yet begun.</a:t>
            </a:r>
          </a:p>
        </p:txBody>
      </p:sp>
    </p:spTree>
    <p:extLst>
      <p:ext uri="{BB962C8B-B14F-4D97-AF65-F5344CB8AC3E}">
        <p14:creationId xmlns:p14="http://schemas.microsoft.com/office/powerpoint/2010/main" val="2883486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7" name="section">
            <a:extLst>
              <a:ext uri="{FF2B5EF4-FFF2-40B4-BE49-F238E27FC236}">
                <a16:creationId xmlns:a16="http://schemas.microsoft.com/office/drawing/2014/main" id="{B0BD9546-39A5-4E59-8ABC-759AB4A3A30B}"/>
              </a:ext>
            </a:extLst>
          </p:cNvPr>
          <p:cNvSpPr>
            <a:spLocks noGrp="1"/>
          </p:cNvSpPr>
          <p:nvPr/>
        </p:nvSpPr>
        <p:spPr>
          <a:xfrm>
            <a:off x="457200" y="209550"/>
            <a:ext cx="6858000" cy="190500"/>
          </a:xfrm>
          <a:prstGeom prst="rect">
            <a:avLst/>
          </a:prstGeom>
          <a:noFill/>
          <a:ln w="0">
            <a:noFill/>
            <a:prstDash val="solid"/>
          </a:ln>
        </p:spPr>
        <p:txBody>
          <a:bodyPr/>
          <a:lstStyle/>
          <a:p>
            <a:pPr algn="l">
              <a:defRPr sz="825" b="1">
                <a:solidFill>
                  <a:srgbClr val="C98A16"/>
                </a:solidFill>
              </a:defRPr>
            </a:pPr>
            <a:r>
              <a:rPr sz="825" b="1">
                <a:solidFill>
                  <a:srgbClr val="C98A16"/>
                </a:solidFill>
              </a:rPr>
              <a:t>STATUS AND VALUE PATH</a:t>
            </a:r>
          </a:p>
        </p:txBody>
      </p:sp>
      <p:sp>
        <p:nvSpPr>
          <p:cNvPr id="2" name="slide-title">
            <a:extLst>
              <a:ext uri="{FF2B5EF4-FFF2-40B4-BE49-F238E27FC236}">
                <a16:creationId xmlns:a16="http://schemas.microsoft.com/office/drawing/2014/main" id="{2757F0D3-4518-4A21-B8D8-E372DE86EB0B}"/>
              </a:ext>
            </a:extLst>
          </p:cNvPr>
          <p:cNvSpPr>
            <a:spLocks noGrp="1"/>
          </p:cNvSpPr>
          <p:nvPr/>
        </p:nvSpPr>
        <p:spPr>
          <a:xfrm>
            <a:off x="457200" y="457200"/>
            <a:ext cx="11220450" cy="457200"/>
          </a:xfrm>
          <a:prstGeom prst="rect">
            <a:avLst/>
          </a:prstGeom>
          <a:noFill/>
          <a:ln w="0">
            <a:noFill/>
            <a:prstDash val="solid"/>
          </a:ln>
        </p:spPr>
        <p:txBody>
          <a:bodyPr/>
          <a:lstStyle/>
          <a:p>
            <a:pPr algn="l">
              <a:defRPr sz="2625" b="1">
                <a:solidFill>
                  <a:srgbClr val="132033"/>
                </a:solidFill>
              </a:defRPr>
            </a:pPr>
            <a:r>
              <a:rPr sz="2625" b="1">
                <a:solidFill>
                  <a:srgbClr val="132033"/>
                </a:solidFill>
              </a:rPr>
              <a:t>Technology is ready; value realization comes next</a:t>
            </a:r>
          </a:p>
        </p:txBody>
      </p:sp>
      <p:sp>
        <p:nvSpPr>
          <p:cNvPr id="3" name="Rectangle 2">
            <a:extLst>
              <a:ext uri="{FF2B5EF4-FFF2-40B4-BE49-F238E27FC236}">
                <a16:creationId xmlns:a16="http://schemas.microsoft.com/office/drawing/2014/main" id="{0E314DEA-2AEA-4C4F-8A60-351E021FBFBB}"/>
              </a:ext>
            </a:extLst>
          </p:cNvPr>
          <p:cNvSpPr>
            <a:spLocks noGrp="1"/>
          </p:cNvSpPr>
          <p:nvPr/>
        </p:nvSpPr>
        <p:spPr>
          <a:xfrm>
            <a:off x="457200" y="990600"/>
            <a:ext cx="11277600" cy="9525"/>
          </a:xfrm>
          <a:prstGeom prst="rect">
            <a:avLst/>
          </a:prstGeom>
          <a:solidFill>
            <a:srgbClr val="D8DEE8"/>
          </a:solidFill>
          <a:ln w="0">
            <a:noFill/>
            <a:prstDash val="solid"/>
          </a:ln>
        </p:spPr>
        <p:txBody>
          <a:bodyPr/>
          <a:lstStyle/>
          <a:p>
            <a:endParaRPr lang="en-IN"/>
          </a:p>
        </p:txBody>
      </p:sp>
      <p:sp>
        <p:nvSpPr>
          <p:cNvPr id="4" name="visible-source">
            <a:extLst>
              <a:ext uri="{FF2B5EF4-FFF2-40B4-BE49-F238E27FC236}">
                <a16:creationId xmlns:a16="http://schemas.microsoft.com/office/drawing/2014/main" id="{7D73CF22-177E-479D-89E2-2A5C58899120}"/>
              </a:ext>
            </a:extLst>
          </p:cNvPr>
          <p:cNvSpPr>
            <a:spLocks noGrp="1"/>
          </p:cNvSpPr>
          <p:nvPr/>
        </p:nvSpPr>
        <p:spPr>
          <a:xfrm>
            <a:off x="457200" y="6524625"/>
            <a:ext cx="9334500" cy="142875"/>
          </a:xfrm>
          <a:prstGeom prst="rect">
            <a:avLst/>
          </a:prstGeom>
          <a:noFill/>
          <a:ln w="0">
            <a:noFill/>
            <a:prstDash val="solid"/>
          </a:ln>
        </p:spPr>
        <p:txBody>
          <a:bodyPr/>
          <a:lstStyle/>
          <a:p>
            <a:pPr algn="l">
              <a:defRPr sz="675" b="0">
                <a:solidFill>
                  <a:srgbClr val="667389"/>
                </a:solidFill>
              </a:defRPr>
            </a:pPr>
            <a:r>
              <a:rPr sz="675" b="0">
                <a:solidFill>
                  <a:srgbClr val="667389"/>
                </a:solidFill>
              </a:rPr>
              <a:t>Source: Client-recognized estimates; user-confirmed deployment status</a:t>
            </a:r>
          </a:p>
        </p:txBody>
      </p:sp>
      <p:sp>
        <p:nvSpPr>
          <p:cNvPr id="5" name="page">
            <a:extLst>
              <a:ext uri="{FF2B5EF4-FFF2-40B4-BE49-F238E27FC236}">
                <a16:creationId xmlns:a16="http://schemas.microsoft.com/office/drawing/2014/main" id="{10FEB392-584D-4887-A07D-EB7F37C87677}"/>
              </a:ext>
            </a:extLst>
          </p:cNvPr>
          <p:cNvSpPr>
            <a:spLocks noGrp="1"/>
          </p:cNvSpPr>
          <p:nvPr/>
        </p:nvSpPr>
        <p:spPr>
          <a:xfrm>
            <a:off x="11220450" y="6496050"/>
            <a:ext cx="514350" cy="171450"/>
          </a:xfrm>
          <a:prstGeom prst="rect">
            <a:avLst/>
          </a:prstGeom>
          <a:noFill/>
          <a:ln w="0">
            <a:noFill/>
            <a:prstDash val="solid"/>
          </a:ln>
        </p:spPr>
        <p:txBody>
          <a:bodyPr/>
          <a:lstStyle/>
          <a:p>
            <a:pPr algn="r">
              <a:defRPr sz="750" b="1">
                <a:solidFill>
                  <a:srgbClr val="667389"/>
                </a:solidFill>
              </a:defRPr>
            </a:pPr>
            <a:r>
              <a:rPr sz="750" b="1">
                <a:solidFill>
                  <a:srgbClr val="667389"/>
                </a:solidFill>
              </a:rPr>
              <a:t>12</a:t>
            </a:r>
          </a:p>
        </p:txBody>
      </p:sp>
      <p:sp>
        <p:nvSpPr>
          <p:cNvPr id="6" name="Rectangle: Rounded Corners 5">
            <a:extLst>
              <a:ext uri="{FF2B5EF4-FFF2-40B4-BE49-F238E27FC236}">
                <a16:creationId xmlns:a16="http://schemas.microsoft.com/office/drawing/2014/main" id="{0E18C46B-C2A6-4DE5-BF27-BAB6FA453DC7}"/>
              </a:ext>
            </a:extLst>
          </p:cNvPr>
          <p:cNvSpPr>
            <a:spLocks noGrp="1"/>
          </p:cNvSpPr>
          <p:nvPr/>
        </p:nvSpPr>
        <p:spPr>
          <a:xfrm>
            <a:off x="457200" y="1333500"/>
            <a:ext cx="3600450" cy="4191000"/>
          </a:xfrm>
          <a:prstGeom prst="roundRect">
            <a:avLst>
              <a:gd name="adj" fmla="val 1058"/>
            </a:avLst>
          </a:prstGeom>
          <a:solidFill>
            <a:srgbClr val="E8F2F9"/>
          </a:solidFill>
          <a:ln w="9525">
            <a:solidFill>
              <a:srgbClr val="1769AA"/>
            </a:solidFill>
            <a:prstDash val="solid"/>
          </a:ln>
        </p:spPr>
        <p:txBody>
          <a:bodyPr/>
          <a:lstStyle/>
          <a:p>
            <a:endParaRPr lang="en-IN"/>
          </a:p>
        </p:txBody>
      </p:sp>
      <p:sp>
        <p:nvSpPr>
          <p:cNvPr id="7" name="Rectangle 6">
            <a:extLst>
              <a:ext uri="{FF2B5EF4-FFF2-40B4-BE49-F238E27FC236}">
                <a16:creationId xmlns:a16="http://schemas.microsoft.com/office/drawing/2014/main" id="{CDE0134A-1BDE-4008-8943-5DA5716A7DB5}"/>
              </a:ext>
            </a:extLst>
          </p:cNvPr>
          <p:cNvSpPr>
            <a:spLocks noGrp="1"/>
          </p:cNvSpPr>
          <p:nvPr/>
        </p:nvSpPr>
        <p:spPr>
          <a:xfrm>
            <a:off x="666750" y="1581150"/>
            <a:ext cx="3181350" cy="209550"/>
          </a:xfrm>
          <a:prstGeom prst="rect">
            <a:avLst/>
          </a:prstGeom>
          <a:noFill/>
          <a:ln w="0">
            <a:noFill/>
            <a:prstDash val="solid"/>
          </a:ln>
        </p:spPr>
        <p:txBody>
          <a:bodyPr/>
          <a:lstStyle/>
          <a:p>
            <a:pPr algn="ctr">
              <a:defRPr sz="1050" b="1">
                <a:solidFill>
                  <a:srgbClr val="1769AA"/>
                </a:solidFill>
              </a:defRPr>
            </a:pPr>
            <a:r>
              <a:rPr sz="1050" b="1">
                <a:solidFill>
                  <a:srgbClr val="1769AA"/>
                </a:solidFill>
              </a:rPr>
              <a:t>IMPLEMENTED TODAY</a:t>
            </a:r>
          </a:p>
        </p:txBody>
      </p:sp>
      <p:sp>
        <p:nvSpPr>
          <p:cNvPr id="8" name="Rectangle: Rounded Corners 7">
            <a:extLst>
              <a:ext uri="{FF2B5EF4-FFF2-40B4-BE49-F238E27FC236}">
                <a16:creationId xmlns:a16="http://schemas.microsoft.com/office/drawing/2014/main" id="{7B9B746F-A91B-4820-A1A3-061349E65606}"/>
              </a:ext>
            </a:extLst>
          </p:cNvPr>
          <p:cNvSpPr>
            <a:spLocks noGrp="1"/>
          </p:cNvSpPr>
          <p:nvPr/>
        </p:nvSpPr>
        <p:spPr>
          <a:xfrm>
            <a:off x="4286250" y="1333500"/>
            <a:ext cx="3600450" cy="4191000"/>
          </a:xfrm>
          <a:prstGeom prst="roundRect">
            <a:avLst>
              <a:gd name="adj" fmla="val 1058"/>
            </a:avLst>
          </a:prstGeom>
          <a:solidFill>
            <a:srgbClr val="FBF3E1"/>
          </a:solidFill>
          <a:ln w="9525">
            <a:solidFill>
              <a:srgbClr val="C98A16"/>
            </a:solidFill>
            <a:prstDash val="solid"/>
          </a:ln>
        </p:spPr>
        <p:txBody>
          <a:bodyPr/>
          <a:lstStyle/>
          <a:p>
            <a:endParaRPr lang="en-IN"/>
          </a:p>
        </p:txBody>
      </p:sp>
      <p:sp>
        <p:nvSpPr>
          <p:cNvPr id="9" name="Rectangle 8">
            <a:extLst>
              <a:ext uri="{FF2B5EF4-FFF2-40B4-BE49-F238E27FC236}">
                <a16:creationId xmlns:a16="http://schemas.microsoft.com/office/drawing/2014/main" id="{8F2CB7C0-7261-4D7A-B29D-599BDED8A1A0}"/>
              </a:ext>
            </a:extLst>
          </p:cNvPr>
          <p:cNvSpPr>
            <a:spLocks noGrp="1"/>
          </p:cNvSpPr>
          <p:nvPr/>
        </p:nvSpPr>
        <p:spPr>
          <a:xfrm>
            <a:off x="4495800" y="1581150"/>
            <a:ext cx="3181350" cy="209550"/>
          </a:xfrm>
          <a:prstGeom prst="rect">
            <a:avLst/>
          </a:prstGeom>
          <a:noFill/>
          <a:ln w="0">
            <a:noFill/>
            <a:prstDash val="solid"/>
          </a:ln>
        </p:spPr>
        <p:txBody>
          <a:bodyPr/>
          <a:lstStyle/>
          <a:p>
            <a:pPr algn="ctr">
              <a:defRPr sz="1050" b="1">
                <a:solidFill>
                  <a:srgbClr val="C98A16"/>
                </a:solidFill>
              </a:defRPr>
            </a:pPr>
            <a:r>
              <a:rPr sz="1050" b="1">
                <a:solidFill>
                  <a:srgbClr val="C98A16"/>
                </a:solidFill>
              </a:rPr>
              <a:t>ESTIMATED OPPORTUNITY</a:t>
            </a:r>
          </a:p>
        </p:txBody>
      </p:sp>
      <p:sp>
        <p:nvSpPr>
          <p:cNvPr id="10" name="Rectangle: Rounded Corners 9">
            <a:extLst>
              <a:ext uri="{FF2B5EF4-FFF2-40B4-BE49-F238E27FC236}">
                <a16:creationId xmlns:a16="http://schemas.microsoft.com/office/drawing/2014/main" id="{FD566293-71EB-458C-A4C1-645A71F4B8A8}"/>
              </a:ext>
            </a:extLst>
          </p:cNvPr>
          <p:cNvSpPr>
            <a:spLocks noGrp="1"/>
          </p:cNvSpPr>
          <p:nvPr/>
        </p:nvSpPr>
        <p:spPr>
          <a:xfrm>
            <a:off x="8115300" y="1333500"/>
            <a:ext cx="3600450" cy="4191000"/>
          </a:xfrm>
          <a:prstGeom prst="roundRect">
            <a:avLst>
              <a:gd name="adj" fmla="val 1058"/>
            </a:avLst>
          </a:prstGeom>
          <a:solidFill>
            <a:srgbClr val="E5F4F2"/>
          </a:solidFill>
          <a:ln w="9525">
            <a:solidFill>
              <a:srgbClr val="007A78"/>
            </a:solidFill>
            <a:prstDash val="solid"/>
          </a:ln>
        </p:spPr>
        <p:txBody>
          <a:bodyPr/>
          <a:lstStyle/>
          <a:p>
            <a:endParaRPr lang="en-IN"/>
          </a:p>
        </p:txBody>
      </p:sp>
      <p:sp>
        <p:nvSpPr>
          <p:cNvPr id="11" name="Rectangle 10">
            <a:extLst>
              <a:ext uri="{FF2B5EF4-FFF2-40B4-BE49-F238E27FC236}">
                <a16:creationId xmlns:a16="http://schemas.microsoft.com/office/drawing/2014/main" id="{E24011BF-E4B8-47E3-B205-72EE2AC6BB28}"/>
              </a:ext>
            </a:extLst>
          </p:cNvPr>
          <p:cNvSpPr>
            <a:spLocks noGrp="1"/>
          </p:cNvSpPr>
          <p:nvPr/>
        </p:nvSpPr>
        <p:spPr>
          <a:xfrm>
            <a:off x="8324850" y="1581150"/>
            <a:ext cx="3181350" cy="209550"/>
          </a:xfrm>
          <a:prstGeom prst="rect">
            <a:avLst/>
          </a:prstGeom>
          <a:noFill/>
          <a:ln w="0">
            <a:noFill/>
            <a:prstDash val="solid"/>
          </a:ln>
        </p:spPr>
        <p:txBody>
          <a:bodyPr/>
          <a:lstStyle/>
          <a:p>
            <a:pPr algn="ctr">
              <a:defRPr sz="1050" b="1">
                <a:solidFill>
                  <a:srgbClr val="007A78"/>
                </a:solidFill>
              </a:defRPr>
            </a:pPr>
            <a:r>
              <a:rPr sz="1050" b="1">
                <a:solidFill>
                  <a:srgbClr val="007A78"/>
                </a:solidFill>
              </a:rPr>
              <a:t>NEXT STAGE</a:t>
            </a:r>
          </a:p>
        </p:txBody>
      </p:sp>
      <p:sp>
        <p:nvSpPr>
          <p:cNvPr id="12" name="Rectangle: Rounded Corners 11">
            <a:extLst>
              <a:ext uri="{FF2B5EF4-FFF2-40B4-BE49-F238E27FC236}">
                <a16:creationId xmlns:a16="http://schemas.microsoft.com/office/drawing/2014/main" id="{807FB913-1A1A-47AD-8CA7-B56FDA5BE7F6}"/>
              </a:ext>
            </a:extLst>
          </p:cNvPr>
          <p:cNvSpPr>
            <a:spLocks noGrp="1"/>
          </p:cNvSpPr>
          <p:nvPr/>
        </p:nvSpPr>
        <p:spPr>
          <a:xfrm>
            <a:off x="723900" y="2266950"/>
            <a:ext cx="57150" cy="57150"/>
          </a:xfrm>
          <a:prstGeom prst="roundRect">
            <a:avLst>
              <a:gd name="adj" fmla="val 50000"/>
            </a:avLst>
          </a:prstGeom>
          <a:solidFill>
            <a:srgbClr val="1769AA"/>
          </a:solidFill>
          <a:ln w="0">
            <a:noFill/>
            <a:prstDash val="solid"/>
          </a:ln>
        </p:spPr>
        <p:txBody>
          <a:bodyPr/>
          <a:lstStyle/>
          <a:p>
            <a:endParaRPr lang="en-IN"/>
          </a:p>
        </p:txBody>
      </p:sp>
      <p:sp>
        <p:nvSpPr>
          <p:cNvPr id="13" name="Rectangle 12">
            <a:extLst>
              <a:ext uri="{FF2B5EF4-FFF2-40B4-BE49-F238E27FC236}">
                <a16:creationId xmlns:a16="http://schemas.microsoft.com/office/drawing/2014/main" id="{77C75461-D41D-424B-9F26-2DC4D5A04959}"/>
              </a:ext>
            </a:extLst>
          </p:cNvPr>
          <p:cNvSpPr>
            <a:spLocks noGrp="1"/>
          </p:cNvSpPr>
          <p:nvPr/>
        </p:nvSpPr>
        <p:spPr>
          <a:xfrm>
            <a:off x="895350" y="2190750"/>
            <a:ext cx="2933700" cy="552450"/>
          </a:xfrm>
          <a:prstGeom prst="rect">
            <a:avLst/>
          </a:prstGeom>
          <a:noFill/>
          <a:ln w="0">
            <a:noFill/>
            <a:prstDash val="solid"/>
          </a:ln>
        </p:spPr>
        <p:txBody>
          <a:bodyPr/>
          <a:lstStyle/>
          <a:p>
            <a:pPr algn="l">
              <a:defRPr sz="1275" b="0">
                <a:solidFill>
                  <a:srgbClr val="35445B"/>
                </a:solidFill>
              </a:defRPr>
            </a:pPr>
            <a:r>
              <a:rPr sz="1275" b="0">
                <a:solidFill>
                  <a:srgbClr val="35445B"/>
                </a:solidFill>
              </a:rPr>
              <a:t>10,500+ documents processed</a:t>
            </a:r>
          </a:p>
        </p:txBody>
      </p:sp>
      <p:sp>
        <p:nvSpPr>
          <p:cNvPr id="14" name="Rectangle: Rounded Corners 13">
            <a:extLst>
              <a:ext uri="{FF2B5EF4-FFF2-40B4-BE49-F238E27FC236}">
                <a16:creationId xmlns:a16="http://schemas.microsoft.com/office/drawing/2014/main" id="{1A504189-F165-4843-A733-72A4B8DAB85C}"/>
              </a:ext>
            </a:extLst>
          </p:cNvPr>
          <p:cNvSpPr>
            <a:spLocks noGrp="1"/>
          </p:cNvSpPr>
          <p:nvPr/>
        </p:nvSpPr>
        <p:spPr>
          <a:xfrm>
            <a:off x="723900" y="2838450"/>
            <a:ext cx="57150" cy="57150"/>
          </a:xfrm>
          <a:prstGeom prst="roundRect">
            <a:avLst>
              <a:gd name="adj" fmla="val 50000"/>
            </a:avLst>
          </a:prstGeom>
          <a:solidFill>
            <a:srgbClr val="1769AA"/>
          </a:solidFill>
          <a:ln w="0">
            <a:noFill/>
            <a:prstDash val="solid"/>
          </a:ln>
        </p:spPr>
        <p:txBody>
          <a:bodyPr/>
          <a:lstStyle/>
          <a:p>
            <a:endParaRPr lang="en-IN"/>
          </a:p>
        </p:txBody>
      </p:sp>
      <p:sp>
        <p:nvSpPr>
          <p:cNvPr id="15" name="Rectangle 14">
            <a:extLst>
              <a:ext uri="{FF2B5EF4-FFF2-40B4-BE49-F238E27FC236}">
                <a16:creationId xmlns:a16="http://schemas.microsoft.com/office/drawing/2014/main" id="{3ED2A611-24DD-4ECC-A6BB-FFA7F130A035}"/>
              </a:ext>
            </a:extLst>
          </p:cNvPr>
          <p:cNvSpPr>
            <a:spLocks noGrp="1"/>
          </p:cNvSpPr>
          <p:nvPr/>
        </p:nvSpPr>
        <p:spPr>
          <a:xfrm>
            <a:off x="895350" y="2762250"/>
            <a:ext cx="2933700" cy="552450"/>
          </a:xfrm>
          <a:prstGeom prst="rect">
            <a:avLst/>
          </a:prstGeom>
          <a:noFill/>
          <a:ln w="0">
            <a:noFill/>
            <a:prstDash val="solid"/>
          </a:ln>
        </p:spPr>
        <p:txBody>
          <a:bodyPr/>
          <a:lstStyle/>
          <a:p>
            <a:pPr algn="l">
              <a:defRPr sz="1275" b="0">
                <a:solidFill>
                  <a:srgbClr val="35445B"/>
                </a:solidFill>
              </a:defRPr>
            </a:pPr>
            <a:r>
              <a:rPr sz="1275" b="0">
                <a:solidFill>
                  <a:srgbClr val="35445B"/>
                </a:solidFill>
              </a:rPr>
              <a:t>Pipeline and application implemented</a:t>
            </a:r>
          </a:p>
        </p:txBody>
      </p:sp>
      <p:sp>
        <p:nvSpPr>
          <p:cNvPr id="16" name="Rectangle: Rounded Corners 15">
            <a:extLst>
              <a:ext uri="{FF2B5EF4-FFF2-40B4-BE49-F238E27FC236}">
                <a16:creationId xmlns:a16="http://schemas.microsoft.com/office/drawing/2014/main" id="{870B5A2E-3BA3-410A-96F3-F72A71E151AA}"/>
              </a:ext>
            </a:extLst>
          </p:cNvPr>
          <p:cNvSpPr>
            <a:spLocks noGrp="1"/>
          </p:cNvSpPr>
          <p:nvPr/>
        </p:nvSpPr>
        <p:spPr>
          <a:xfrm>
            <a:off x="723900" y="3409950"/>
            <a:ext cx="57150" cy="57150"/>
          </a:xfrm>
          <a:prstGeom prst="roundRect">
            <a:avLst>
              <a:gd name="adj" fmla="val 50000"/>
            </a:avLst>
          </a:prstGeom>
          <a:solidFill>
            <a:srgbClr val="1769AA"/>
          </a:solidFill>
          <a:ln w="0">
            <a:noFill/>
            <a:prstDash val="solid"/>
          </a:ln>
        </p:spPr>
        <p:txBody>
          <a:bodyPr/>
          <a:lstStyle/>
          <a:p>
            <a:endParaRPr lang="en-IN"/>
          </a:p>
        </p:txBody>
      </p:sp>
      <p:sp>
        <p:nvSpPr>
          <p:cNvPr id="17" name="Rectangle 16">
            <a:extLst>
              <a:ext uri="{FF2B5EF4-FFF2-40B4-BE49-F238E27FC236}">
                <a16:creationId xmlns:a16="http://schemas.microsoft.com/office/drawing/2014/main" id="{600FFCFA-7700-431F-9B6B-B53BB6FBE3F2}"/>
              </a:ext>
            </a:extLst>
          </p:cNvPr>
          <p:cNvSpPr>
            <a:spLocks noGrp="1"/>
          </p:cNvSpPr>
          <p:nvPr/>
        </p:nvSpPr>
        <p:spPr>
          <a:xfrm>
            <a:off x="895350" y="3333750"/>
            <a:ext cx="2933700" cy="552450"/>
          </a:xfrm>
          <a:prstGeom prst="rect">
            <a:avLst/>
          </a:prstGeom>
          <a:noFill/>
          <a:ln w="0">
            <a:noFill/>
            <a:prstDash val="solid"/>
          </a:ln>
        </p:spPr>
        <p:txBody>
          <a:bodyPr/>
          <a:lstStyle/>
          <a:p>
            <a:pPr algn="l">
              <a:defRPr sz="1275" b="0">
                <a:solidFill>
                  <a:srgbClr val="35445B"/>
                </a:solidFill>
              </a:defRPr>
            </a:pPr>
            <a:r>
              <a:rPr sz="1275" b="0">
                <a:solidFill>
                  <a:srgbClr val="35445B"/>
                </a:solidFill>
              </a:rPr>
              <a:t>Contract-state and evidence workflow operational</a:t>
            </a:r>
          </a:p>
        </p:txBody>
      </p:sp>
      <p:sp>
        <p:nvSpPr>
          <p:cNvPr id="18" name="Rectangle: Rounded Corners 17">
            <a:extLst>
              <a:ext uri="{FF2B5EF4-FFF2-40B4-BE49-F238E27FC236}">
                <a16:creationId xmlns:a16="http://schemas.microsoft.com/office/drawing/2014/main" id="{5E46C5DE-51BA-46B0-9BF3-9AA084E92839}"/>
              </a:ext>
            </a:extLst>
          </p:cNvPr>
          <p:cNvSpPr>
            <a:spLocks noGrp="1"/>
          </p:cNvSpPr>
          <p:nvPr/>
        </p:nvSpPr>
        <p:spPr>
          <a:xfrm>
            <a:off x="723900" y="3981450"/>
            <a:ext cx="57150" cy="57150"/>
          </a:xfrm>
          <a:prstGeom prst="roundRect">
            <a:avLst>
              <a:gd name="adj" fmla="val 50000"/>
            </a:avLst>
          </a:prstGeom>
          <a:solidFill>
            <a:srgbClr val="1769AA"/>
          </a:solidFill>
          <a:ln w="0">
            <a:noFill/>
            <a:prstDash val="solid"/>
          </a:ln>
        </p:spPr>
        <p:txBody>
          <a:bodyPr/>
          <a:lstStyle/>
          <a:p>
            <a:endParaRPr lang="en-IN"/>
          </a:p>
        </p:txBody>
      </p:sp>
      <p:sp>
        <p:nvSpPr>
          <p:cNvPr id="19" name="Rectangle 18">
            <a:extLst>
              <a:ext uri="{FF2B5EF4-FFF2-40B4-BE49-F238E27FC236}">
                <a16:creationId xmlns:a16="http://schemas.microsoft.com/office/drawing/2014/main" id="{D2C0FC26-3BAB-46D2-ABC5-0B2B718EE086}"/>
              </a:ext>
            </a:extLst>
          </p:cNvPr>
          <p:cNvSpPr>
            <a:spLocks noGrp="1"/>
          </p:cNvSpPr>
          <p:nvPr/>
        </p:nvSpPr>
        <p:spPr>
          <a:xfrm>
            <a:off x="895350" y="3905250"/>
            <a:ext cx="2933700" cy="552450"/>
          </a:xfrm>
          <a:prstGeom prst="rect">
            <a:avLst/>
          </a:prstGeom>
          <a:noFill/>
          <a:ln w="0">
            <a:noFill/>
            <a:prstDash val="solid"/>
          </a:ln>
        </p:spPr>
        <p:txBody>
          <a:bodyPr/>
          <a:lstStyle/>
          <a:p>
            <a:pPr algn="l">
              <a:defRPr sz="1275" b="0">
                <a:solidFill>
                  <a:srgbClr val="35445B"/>
                </a:solidFill>
              </a:defRPr>
            </a:pPr>
            <a:r>
              <a:rPr sz="1275" b="0">
                <a:solidFill>
                  <a:srgbClr val="35445B"/>
                </a:solidFill>
              </a:rPr>
              <a:t>Ready for controlled deployment</a:t>
            </a:r>
          </a:p>
        </p:txBody>
      </p:sp>
      <p:sp>
        <p:nvSpPr>
          <p:cNvPr id="20" name="Rectangle 19">
            <a:extLst>
              <a:ext uri="{FF2B5EF4-FFF2-40B4-BE49-F238E27FC236}">
                <a16:creationId xmlns:a16="http://schemas.microsoft.com/office/drawing/2014/main" id="{72133F80-55FE-40A8-9ADB-CF18F230F362}"/>
              </a:ext>
            </a:extLst>
          </p:cNvPr>
          <p:cNvSpPr>
            <a:spLocks noGrp="1"/>
          </p:cNvSpPr>
          <p:nvPr/>
        </p:nvSpPr>
        <p:spPr>
          <a:xfrm>
            <a:off x="4514850" y="2124075"/>
            <a:ext cx="3105150" cy="476250"/>
          </a:xfrm>
          <a:prstGeom prst="rect">
            <a:avLst/>
          </a:prstGeom>
          <a:noFill/>
          <a:ln w="0">
            <a:noFill/>
            <a:prstDash val="solid"/>
          </a:ln>
        </p:spPr>
        <p:txBody>
          <a:bodyPr/>
          <a:lstStyle/>
          <a:p>
            <a:pPr algn="ctr">
              <a:defRPr sz="2400" b="1">
                <a:solidFill>
                  <a:srgbClr val="132033"/>
                </a:solidFill>
              </a:defRPr>
            </a:pPr>
            <a:r>
              <a:rPr sz="2400" b="1">
                <a:solidFill>
                  <a:srgbClr val="132033"/>
                </a:solidFill>
              </a:rPr>
              <a:t>$690K–$1.04M</a:t>
            </a:r>
          </a:p>
        </p:txBody>
      </p:sp>
      <p:sp>
        <p:nvSpPr>
          <p:cNvPr id="21" name="Rectangle 20">
            <a:extLst>
              <a:ext uri="{FF2B5EF4-FFF2-40B4-BE49-F238E27FC236}">
                <a16:creationId xmlns:a16="http://schemas.microsoft.com/office/drawing/2014/main" id="{82C6F952-9365-4E27-B05A-F5FDBDF3F9E6}"/>
              </a:ext>
            </a:extLst>
          </p:cNvPr>
          <p:cNvSpPr>
            <a:spLocks noGrp="1"/>
          </p:cNvSpPr>
          <p:nvPr/>
        </p:nvSpPr>
        <p:spPr>
          <a:xfrm>
            <a:off x="4514850" y="2619375"/>
            <a:ext cx="3105150" cy="209550"/>
          </a:xfrm>
          <a:prstGeom prst="rect">
            <a:avLst/>
          </a:prstGeom>
          <a:noFill/>
          <a:ln w="0">
            <a:noFill/>
            <a:prstDash val="solid"/>
          </a:ln>
        </p:spPr>
        <p:txBody>
          <a:bodyPr/>
          <a:lstStyle/>
          <a:p>
            <a:pPr algn="ctr">
              <a:defRPr sz="1050" b="1">
                <a:solidFill>
                  <a:srgbClr val="C98A16"/>
                </a:solidFill>
              </a:defRPr>
            </a:pPr>
            <a:r>
              <a:rPr sz="1050" b="1">
                <a:solidFill>
                  <a:srgbClr val="C98A16"/>
                </a:solidFill>
              </a:rPr>
              <a:t>client-recognized annual opportunity</a:t>
            </a:r>
          </a:p>
        </p:txBody>
      </p:sp>
      <p:sp>
        <p:nvSpPr>
          <p:cNvPr id="22" name="Rectangle 21">
            <a:extLst>
              <a:ext uri="{FF2B5EF4-FFF2-40B4-BE49-F238E27FC236}">
                <a16:creationId xmlns:a16="http://schemas.microsoft.com/office/drawing/2014/main" id="{0A8B6160-5B24-45B2-9079-F4833AFB5F35}"/>
              </a:ext>
            </a:extLst>
          </p:cNvPr>
          <p:cNvSpPr>
            <a:spLocks noGrp="1"/>
          </p:cNvSpPr>
          <p:nvPr/>
        </p:nvSpPr>
        <p:spPr>
          <a:xfrm>
            <a:off x="4572000" y="3095625"/>
            <a:ext cx="1809750" cy="438150"/>
          </a:xfrm>
          <a:prstGeom prst="rect">
            <a:avLst/>
          </a:prstGeom>
          <a:solidFill>
            <a:srgbClr val="0B2D50"/>
          </a:solidFill>
          <a:ln w="9525">
            <a:solidFill>
              <a:srgbClr val="D8DEE8"/>
            </a:solidFill>
            <a:prstDash val="solid"/>
          </a:ln>
        </p:spPr>
        <p:txBody>
          <a:bodyPr/>
          <a:lstStyle/>
          <a:p>
            <a:endParaRPr lang="en-IN"/>
          </a:p>
        </p:txBody>
      </p:sp>
      <p:sp>
        <p:nvSpPr>
          <p:cNvPr id="23" name="Rectangle 22">
            <a:extLst>
              <a:ext uri="{FF2B5EF4-FFF2-40B4-BE49-F238E27FC236}">
                <a16:creationId xmlns:a16="http://schemas.microsoft.com/office/drawing/2014/main" id="{9473542C-93BC-43E5-844A-27F1F706B0E6}"/>
              </a:ext>
            </a:extLst>
          </p:cNvPr>
          <p:cNvSpPr>
            <a:spLocks noGrp="1"/>
          </p:cNvSpPr>
          <p:nvPr/>
        </p:nvSpPr>
        <p:spPr>
          <a:xfrm>
            <a:off x="4667250" y="3162300"/>
            <a:ext cx="1619250" cy="342900"/>
          </a:xfrm>
          <a:prstGeom prst="rect">
            <a:avLst/>
          </a:prstGeom>
          <a:noFill/>
          <a:ln w="0">
            <a:noFill/>
            <a:prstDash val="solid"/>
          </a:ln>
        </p:spPr>
        <p:txBody>
          <a:bodyPr/>
          <a:lstStyle/>
          <a:p>
            <a:pPr algn="l">
              <a:defRPr sz="1275" b="1">
                <a:solidFill>
                  <a:srgbClr val="FFFFFF"/>
                </a:solidFill>
              </a:defRPr>
            </a:pPr>
            <a:r>
              <a:rPr sz="1275" b="1">
                <a:solidFill>
                  <a:srgbClr val="FFFFFF"/>
                </a:solidFill>
              </a:rPr>
              <a:t>Research</a:t>
            </a:r>
          </a:p>
        </p:txBody>
      </p:sp>
      <p:sp>
        <p:nvSpPr>
          <p:cNvPr id="24" name="Rectangle 23">
            <a:extLst>
              <a:ext uri="{FF2B5EF4-FFF2-40B4-BE49-F238E27FC236}">
                <a16:creationId xmlns:a16="http://schemas.microsoft.com/office/drawing/2014/main" id="{E9F48C04-D2C9-4A55-ADF8-F80DA50F6B7C}"/>
              </a:ext>
            </a:extLst>
          </p:cNvPr>
          <p:cNvSpPr>
            <a:spLocks noGrp="1"/>
          </p:cNvSpPr>
          <p:nvPr/>
        </p:nvSpPr>
        <p:spPr>
          <a:xfrm>
            <a:off x="6381750" y="3095625"/>
            <a:ext cx="1238250" cy="438150"/>
          </a:xfrm>
          <a:prstGeom prst="rect">
            <a:avLst/>
          </a:prstGeom>
          <a:solidFill>
            <a:srgbClr val="0B2D50"/>
          </a:solidFill>
          <a:ln w="9525">
            <a:solidFill>
              <a:srgbClr val="D8DEE8"/>
            </a:solidFill>
            <a:prstDash val="solid"/>
          </a:ln>
        </p:spPr>
        <p:txBody>
          <a:bodyPr/>
          <a:lstStyle/>
          <a:p>
            <a:endParaRPr lang="en-IN"/>
          </a:p>
        </p:txBody>
      </p:sp>
      <p:sp>
        <p:nvSpPr>
          <p:cNvPr id="25" name="Rectangle 24">
            <a:extLst>
              <a:ext uri="{FF2B5EF4-FFF2-40B4-BE49-F238E27FC236}">
                <a16:creationId xmlns:a16="http://schemas.microsoft.com/office/drawing/2014/main" id="{A1856C6E-D5B0-4BDC-A5D1-D4BC5A45B772}"/>
              </a:ext>
            </a:extLst>
          </p:cNvPr>
          <p:cNvSpPr>
            <a:spLocks noGrp="1"/>
          </p:cNvSpPr>
          <p:nvPr/>
        </p:nvSpPr>
        <p:spPr>
          <a:xfrm>
            <a:off x="6477000" y="3162300"/>
            <a:ext cx="1047750" cy="342900"/>
          </a:xfrm>
          <a:prstGeom prst="rect">
            <a:avLst/>
          </a:prstGeom>
          <a:noFill/>
          <a:ln w="0">
            <a:noFill/>
            <a:prstDash val="solid"/>
          </a:ln>
        </p:spPr>
        <p:txBody>
          <a:bodyPr/>
          <a:lstStyle/>
          <a:p>
            <a:pPr algn="l">
              <a:defRPr sz="1275" b="1">
                <a:solidFill>
                  <a:srgbClr val="FFFFFF"/>
                </a:solidFill>
              </a:defRPr>
            </a:pPr>
            <a:r>
              <a:rPr sz="1275" b="1">
                <a:solidFill>
                  <a:srgbClr val="FFFFFF"/>
                </a:solidFill>
              </a:rPr>
              <a:t>$308K</a:t>
            </a:r>
          </a:p>
        </p:txBody>
      </p:sp>
      <p:sp>
        <p:nvSpPr>
          <p:cNvPr id="26" name="Rectangle 25">
            <a:extLst>
              <a:ext uri="{FF2B5EF4-FFF2-40B4-BE49-F238E27FC236}">
                <a16:creationId xmlns:a16="http://schemas.microsoft.com/office/drawing/2014/main" id="{93990A94-FEBC-4113-ABD5-1360AA669DD8}"/>
              </a:ext>
            </a:extLst>
          </p:cNvPr>
          <p:cNvSpPr>
            <a:spLocks noGrp="1"/>
          </p:cNvSpPr>
          <p:nvPr/>
        </p:nvSpPr>
        <p:spPr>
          <a:xfrm>
            <a:off x="4572000" y="3533775"/>
            <a:ext cx="1809750" cy="438150"/>
          </a:xfrm>
          <a:prstGeom prst="rect">
            <a:avLst/>
          </a:prstGeom>
          <a:solidFill>
            <a:srgbClr val="FFFFFF"/>
          </a:solidFill>
          <a:ln w="9525">
            <a:solidFill>
              <a:srgbClr val="D8DEE8"/>
            </a:solidFill>
            <a:prstDash val="solid"/>
          </a:ln>
        </p:spPr>
        <p:txBody>
          <a:bodyPr/>
          <a:lstStyle/>
          <a:p>
            <a:endParaRPr lang="en-IN"/>
          </a:p>
        </p:txBody>
      </p:sp>
      <p:sp>
        <p:nvSpPr>
          <p:cNvPr id="27" name="Rectangle 26">
            <a:extLst>
              <a:ext uri="{FF2B5EF4-FFF2-40B4-BE49-F238E27FC236}">
                <a16:creationId xmlns:a16="http://schemas.microsoft.com/office/drawing/2014/main" id="{A57770E8-44CB-44FE-9D4E-2730FF9CC7BD}"/>
              </a:ext>
            </a:extLst>
          </p:cNvPr>
          <p:cNvSpPr>
            <a:spLocks noGrp="1"/>
          </p:cNvSpPr>
          <p:nvPr/>
        </p:nvSpPr>
        <p:spPr>
          <a:xfrm>
            <a:off x="4667250" y="3600450"/>
            <a:ext cx="1619250" cy="342900"/>
          </a:xfrm>
          <a:prstGeom prst="rect">
            <a:avLst/>
          </a:prstGeom>
          <a:noFill/>
          <a:ln w="0">
            <a:noFill/>
            <a:prstDash val="solid"/>
          </a:ln>
        </p:spPr>
        <p:txBody>
          <a:bodyPr/>
          <a:lstStyle/>
          <a:p>
            <a:pPr algn="l">
              <a:defRPr sz="1200" b="1">
                <a:solidFill>
                  <a:srgbClr val="132033"/>
                </a:solidFill>
              </a:defRPr>
            </a:pPr>
            <a:r>
              <a:rPr sz="1200" b="1">
                <a:solidFill>
                  <a:srgbClr val="132033"/>
                </a:solidFill>
              </a:rPr>
              <a:t>Onboarding</a:t>
            </a:r>
          </a:p>
        </p:txBody>
      </p:sp>
      <p:sp>
        <p:nvSpPr>
          <p:cNvPr id="28" name="Rectangle 27">
            <a:extLst>
              <a:ext uri="{FF2B5EF4-FFF2-40B4-BE49-F238E27FC236}">
                <a16:creationId xmlns:a16="http://schemas.microsoft.com/office/drawing/2014/main" id="{B7FD856E-9DD1-4E18-8617-2E2C23ABDB96}"/>
              </a:ext>
            </a:extLst>
          </p:cNvPr>
          <p:cNvSpPr>
            <a:spLocks noGrp="1"/>
          </p:cNvSpPr>
          <p:nvPr/>
        </p:nvSpPr>
        <p:spPr>
          <a:xfrm>
            <a:off x="6381750" y="3533775"/>
            <a:ext cx="1238250" cy="438150"/>
          </a:xfrm>
          <a:prstGeom prst="rect">
            <a:avLst/>
          </a:prstGeom>
          <a:solidFill>
            <a:srgbClr val="FFFFFF"/>
          </a:solidFill>
          <a:ln w="9525">
            <a:solidFill>
              <a:srgbClr val="D8DEE8"/>
            </a:solidFill>
            <a:prstDash val="solid"/>
          </a:ln>
        </p:spPr>
        <p:txBody>
          <a:bodyPr/>
          <a:lstStyle/>
          <a:p>
            <a:endParaRPr lang="en-IN"/>
          </a:p>
        </p:txBody>
      </p:sp>
      <p:sp>
        <p:nvSpPr>
          <p:cNvPr id="29" name="Rectangle 28">
            <a:extLst>
              <a:ext uri="{FF2B5EF4-FFF2-40B4-BE49-F238E27FC236}">
                <a16:creationId xmlns:a16="http://schemas.microsoft.com/office/drawing/2014/main" id="{3B208D67-57D5-48F4-B5EB-584A57CA8DD9}"/>
              </a:ext>
            </a:extLst>
          </p:cNvPr>
          <p:cNvSpPr>
            <a:spLocks noGrp="1"/>
          </p:cNvSpPr>
          <p:nvPr/>
        </p:nvSpPr>
        <p:spPr>
          <a:xfrm>
            <a:off x="6477000" y="3600450"/>
            <a:ext cx="1047750" cy="342900"/>
          </a:xfrm>
          <a:prstGeom prst="rect">
            <a:avLst/>
          </a:prstGeom>
          <a:noFill/>
          <a:ln w="0">
            <a:noFill/>
            <a:prstDash val="solid"/>
          </a:ln>
        </p:spPr>
        <p:txBody>
          <a:bodyPr/>
          <a:lstStyle/>
          <a:p>
            <a:pPr algn="l">
              <a:defRPr sz="1200" b="0">
                <a:solidFill>
                  <a:srgbClr val="35445B"/>
                </a:solidFill>
              </a:defRPr>
            </a:pPr>
            <a:r>
              <a:rPr sz="1200" b="0">
                <a:solidFill>
                  <a:srgbClr val="35445B"/>
                </a:solidFill>
              </a:rPr>
              <a:t>$54K</a:t>
            </a:r>
          </a:p>
        </p:txBody>
      </p:sp>
      <p:sp>
        <p:nvSpPr>
          <p:cNvPr id="30" name="Rectangle 29">
            <a:extLst>
              <a:ext uri="{FF2B5EF4-FFF2-40B4-BE49-F238E27FC236}">
                <a16:creationId xmlns:a16="http://schemas.microsoft.com/office/drawing/2014/main" id="{7053A0C7-F6C9-41E6-B9E7-82DBA280A4CB}"/>
              </a:ext>
            </a:extLst>
          </p:cNvPr>
          <p:cNvSpPr>
            <a:spLocks noGrp="1"/>
          </p:cNvSpPr>
          <p:nvPr/>
        </p:nvSpPr>
        <p:spPr>
          <a:xfrm>
            <a:off x="4572000" y="3971925"/>
            <a:ext cx="1809750" cy="438150"/>
          </a:xfrm>
          <a:prstGeom prst="rect">
            <a:avLst/>
          </a:prstGeom>
          <a:solidFill>
            <a:srgbClr val="F4F6F9"/>
          </a:solidFill>
          <a:ln w="9525">
            <a:solidFill>
              <a:srgbClr val="D8DEE8"/>
            </a:solidFill>
            <a:prstDash val="solid"/>
          </a:ln>
        </p:spPr>
        <p:txBody>
          <a:bodyPr/>
          <a:lstStyle/>
          <a:p>
            <a:endParaRPr lang="en-IN"/>
          </a:p>
        </p:txBody>
      </p:sp>
      <p:sp>
        <p:nvSpPr>
          <p:cNvPr id="31" name="Rectangle 30">
            <a:extLst>
              <a:ext uri="{FF2B5EF4-FFF2-40B4-BE49-F238E27FC236}">
                <a16:creationId xmlns:a16="http://schemas.microsoft.com/office/drawing/2014/main" id="{692147F3-8622-411B-8EC5-8C64FEB3677B}"/>
              </a:ext>
            </a:extLst>
          </p:cNvPr>
          <p:cNvSpPr>
            <a:spLocks noGrp="1"/>
          </p:cNvSpPr>
          <p:nvPr/>
        </p:nvSpPr>
        <p:spPr>
          <a:xfrm>
            <a:off x="4667250" y="4038600"/>
            <a:ext cx="1619250" cy="342900"/>
          </a:xfrm>
          <a:prstGeom prst="rect">
            <a:avLst/>
          </a:prstGeom>
          <a:noFill/>
          <a:ln w="0">
            <a:noFill/>
            <a:prstDash val="solid"/>
          </a:ln>
        </p:spPr>
        <p:txBody>
          <a:bodyPr/>
          <a:lstStyle/>
          <a:p>
            <a:pPr algn="l">
              <a:defRPr sz="1200" b="1">
                <a:solidFill>
                  <a:srgbClr val="132033"/>
                </a:solidFill>
              </a:defRPr>
            </a:pPr>
            <a:r>
              <a:rPr sz="1200" b="1">
                <a:solidFill>
                  <a:srgbClr val="132033"/>
                </a:solidFill>
              </a:rPr>
              <a:t>Renewals</a:t>
            </a:r>
          </a:p>
        </p:txBody>
      </p:sp>
      <p:sp>
        <p:nvSpPr>
          <p:cNvPr id="32" name="Rectangle 31">
            <a:extLst>
              <a:ext uri="{FF2B5EF4-FFF2-40B4-BE49-F238E27FC236}">
                <a16:creationId xmlns:a16="http://schemas.microsoft.com/office/drawing/2014/main" id="{1ABBD713-CD7E-4E49-8765-FB1BEF9842E5}"/>
              </a:ext>
            </a:extLst>
          </p:cNvPr>
          <p:cNvSpPr>
            <a:spLocks noGrp="1"/>
          </p:cNvSpPr>
          <p:nvPr/>
        </p:nvSpPr>
        <p:spPr>
          <a:xfrm>
            <a:off x="6381750" y="3971925"/>
            <a:ext cx="1238250" cy="438150"/>
          </a:xfrm>
          <a:prstGeom prst="rect">
            <a:avLst/>
          </a:prstGeom>
          <a:solidFill>
            <a:srgbClr val="F4F6F9"/>
          </a:solidFill>
          <a:ln w="9525">
            <a:solidFill>
              <a:srgbClr val="D8DEE8"/>
            </a:solidFill>
            <a:prstDash val="solid"/>
          </a:ln>
        </p:spPr>
        <p:txBody>
          <a:bodyPr/>
          <a:lstStyle/>
          <a:p>
            <a:endParaRPr lang="en-IN"/>
          </a:p>
        </p:txBody>
      </p:sp>
      <p:sp>
        <p:nvSpPr>
          <p:cNvPr id="33" name="Rectangle 32">
            <a:extLst>
              <a:ext uri="{FF2B5EF4-FFF2-40B4-BE49-F238E27FC236}">
                <a16:creationId xmlns:a16="http://schemas.microsoft.com/office/drawing/2014/main" id="{D5329C8B-C6E7-49D7-A376-52DE0A988C01}"/>
              </a:ext>
            </a:extLst>
          </p:cNvPr>
          <p:cNvSpPr>
            <a:spLocks noGrp="1"/>
          </p:cNvSpPr>
          <p:nvPr/>
        </p:nvSpPr>
        <p:spPr>
          <a:xfrm>
            <a:off x="6477000" y="4038600"/>
            <a:ext cx="1047750" cy="342900"/>
          </a:xfrm>
          <a:prstGeom prst="rect">
            <a:avLst/>
          </a:prstGeom>
          <a:noFill/>
          <a:ln w="0">
            <a:noFill/>
            <a:prstDash val="solid"/>
          </a:ln>
        </p:spPr>
        <p:txBody>
          <a:bodyPr/>
          <a:lstStyle/>
          <a:p>
            <a:pPr algn="l">
              <a:defRPr sz="1200" b="0">
                <a:solidFill>
                  <a:srgbClr val="35445B"/>
                </a:solidFill>
              </a:defRPr>
            </a:pPr>
            <a:r>
              <a:rPr sz="1200" b="0">
                <a:solidFill>
                  <a:srgbClr val="35445B"/>
                </a:solidFill>
              </a:rPr>
              <a:t>$179K</a:t>
            </a:r>
          </a:p>
        </p:txBody>
      </p:sp>
      <p:sp>
        <p:nvSpPr>
          <p:cNvPr id="34" name="Rectangle 33">
            <a:extLst>
              <a:ext uri="{FF2B5EF4-FFF2-40B4-BE49-F238E27FC236}">
                <a16:creationId xmlns:a16="http://schemas.microsoft.com/office/drawing/2014/main" id="{F1DB5845-191C-4334-82B4-63BF0E591F13}"/>
              </a:ext>
            </a:extLst>
          </p:cNvPr>
          <p:cNvSpPr>
            <a:spLocks noGrp="1"/>
          </p:cNvSpPr>
          <p:nvPr/>
        </p:nvSpPr>
        <p:spPr>
          <a:xfrm>
            <a:off x="4572000" y="4410075"/>
            <a:ext cx="1809750" cy="438150"/>
          </a:xfrm>
          <a:prstGeom prst="rect">
            <a:avLst/>
          </a:prstGeom>
          <a:solidFill>
            <a:srgbClr val="FFFFFF"/>
          </a:solidFill>
          <a:ln w="9525">
            <a:solidFill>
              <a:srgbClr val="D8DEE8"/>
            </a:solidFill>
            <a:prstDash val="solid"/>
          </a:ln>
        </p:spPr>
        <p:txBody>
          <a:bodyPr/>
          <a:lstStyle/>
          <a:p>
            <a:endParaRPr lang="en-IN"/>
          </a:p>
        </p:txBody>
      </p:sp>
      <p:sp>
        <p:nvSpPr>
          <p:cNvPr id="35" name="Rectangle 34">
            <a:extLst>
              <a:ext uri="{FF2B5EF4-FFF2-40B4-BE49-F238E27FC236}">
                <a16:creationId xmlns:a16="http://schemas.microsoft.com/office/drawing/2014/main" id="{59FF268B-B624-47C7-A1FF-3B6D820D7A83}"/>
              </a:ext>
            </a:extLst>
          </p:cNvPr>
          <p:cNvSpPr>
            <a:spLocks noGrp="1"/>
          </p:cNvSpPr>
          <p:nvPr/>
        </p:nvSpPr>
        <p:spPr>
          <a:xfrm>
            <a:off x="4667250" y="4476750"/>
            <a:ext cx="1619250" cy="342900"/>
          </a:xfrm>
          <a:prstGeom prst="rect">
            <a:avLst/>
          </a:prstGeom>
          <a:noFill/>
          <a:ln w="0">
            <a:noFill/>
            <a:prstDash val="solid"/>
          </a:ln>
        </p:spPr>
        <p:txBody>
          <a:bodyPr/>
          <a:lstStyle/>
          <a:p>
            <a:pPr algn="l">
              <a:defRPr sz="1200" b="1">
                <a:solidFill>
                  <a:srgbClr val="132033"/>
                </a:solidFill>
              </a:defRPr>
            </a:pPr>
            <a:r>
              <a:rPr sz="1200" b="1">
                <a:solidFill>
                  <a:srgbClr val="132033"/>
                </a:solidFill>
              </a:rPr>
              <a:t>Vendor avoidance</a:t>
            </a:r>
          </a:p>
        </p:txBody>
      </p:sp>
      <p:sp>
        <p:nvSpPr>
          <p:cNvPr id="36" name="Rectangle 35">
            <a:extLst>
              <a:ext uri="{FF2B5EF4-FFF2-40B4-BE49-F238E27FC236}">
                <a16:creationId xmlns:a16="http://schemas.microsoft.com/office/drawing/2014/main" id="{90694D51-E92B-4ABB-9B40-0A61A816125C}"/>
              </a:ext>
            </a:extLst>
          </p:cNvPr>
          <p:cNvSpPr>
            <a:spLocks noGrp="1"/>
          </p:cNvSpPr>
          <p:nvPr/>
        </p:nvSpPr>
        <p:spPr>
          <a:xfrm>
            <a:off x="6381750" y="4410075"/>
            <a:ext cx="1238250" cy="438150"/>
          </a:xfrm>
          <a:prstGeom prst="rect">
            <a:avLst/>
          </a:prstGeom>
          <a:solidFill>
            <a:srgbClr val="FFFFFF"/>
          </a:solidFill>
          <a:ln w="9525">
            <a:solidFill>
              <a:srgbClr val="D8DEE8"/>
            </a:solidFill>
            <a:prstDash val="solid"/>
          </a:ln>
        </p:spPr>
        <p:txBody>
          <a:bodyPr/>
          <a:lstStyle/>
          <a:p>
            <a:endParaRPr lang="en-IN"/>
          </a:p>
        </p:txBody>
      </p:sp>
      <p:sp>
        <p:nvSpPr>
          <p:cNvPr id="37" name="Rectangle 36">
            <a:extLst>
              <a:ext uri="{FF2B5EF4-FFF2-40B4-BE49-F238E27FC236}">
                <a16:creationId xmlns:a16="http://schemas.microsoft.com/office/drawing/2014/main" id="{A803659A-BDAA-48F5-95B8-84A7B7DEA611}"/>
              </a:ext>
            </a:extLst>
          </p:cNvPr>
          <p:cNvSpPr>
            <a:spLocks noGrp="1"/>
          </p:cNvSpPr>
          <p:nvPr/>
        </p:nvSpPr>
        <p:spPr>
          <a:xfrm>
            <a:off x="6477000" y="4476750"/>
            <a:ext cx="1047750" cy="342900"/>
          </a:xfrm>
          <a:prstGeom prst="rect">
            <a:avLst/>
          </a:prstGeom>
          <a:noFill/>
          <a:ln w="0">
            <a:noFill/>
            <a:prstDash val="solid"/>
          </a:ln>
        </p:spPr>
        <p:txBody>
          <a:bodyPr/>
          <a:lstStyle/>
          <a:p>
            <a:pPr algn="l">
              <a:defRPr sz="1200" b="0">
                <a:solidFill>
                  <a:srgbClr val="35445B"/>
                </a:solidFill>
              </a:defRPr>
            </a:pPr>
            <a:r>
              <a:rPr sz="1200" b="0">
                <a:solidFill>
                  <a:srgbClr val="35445B"/>
                </a:solidFill>
              </a:rPr>
              <a:t>$150K–$500K</a:t>
            </a:r>
          </a:p>
        </p:txBody>
      </p:sp>
      <p:sp>
        <p:nvSpPr>
          <p:cNvPr id="38" name="Rectangle: Rounded Corners 37">
            <a:extLst>
              <a:ext uri="{FF2B5EF4-FFF2-40B4-BE49-F238E27FC236}">
                <a16:creationId xmlns:a16="http://schemas.microsoft.com/office/drawing/2014/main" id="{B78F9802-A2C5-46A7-870F-7DA581C11E85}"/>
              </a:ext>
            </a:extLst>
          </p:cNvPr>
          <p:cNvSpPr>
            <a:spLocks noGrp="1"/>
          </p:cNvSpPr>
          <p:nvPr/>
        </p:nvSpPr>
        <p:spPr>
          <a:xfrm>
            <a:off x="8382000" y="2266950"/>
            <a:ext cx="57150" cy="57150"/>
          </a:xfrm>
          <a:prstGeom prst="roundRect">
            <a:avLst>
              <a:gd name="adj" fmla="val 50000"/>
            </a:avLst>
          </a:prstGeom>
          <a:solidFill>
            <a:srgbClr val="007A78"/>
          </a:solidFill>
          <a:ln w="0">
            <a:noFill/>
            <a:prstDash val="solid"/>
          </a:ln>
        </p:spPr>
        <p:txBody>
          <a:bodyPr/>
          <a:lstStyle/>
          <a:p>
            <a:endParaRPr lang="en-IN"/>
          </a:p>
        </p:txBody>
      </p:sp>
      <p:sp>
        <p:nvSpPr>
          <p:cNvPr id="39" name="Rectangle 38">
            <a:extLst>
              <a:ext uri="{FF2B5EF4-FFF2-40B4-BE49-F238E27FC236}">
                <a16:creationId xmlns:a16="http://schemas.microsoft.com/office/drawing/2014/main" id="{253AA0C7-ACC4-45A2-AA7D-4BD393334CEE}"/>
              </a:ext>
            </a:extLst>
          </p:cNvPr>
          <p:cNvSpPr>
            <a:spLocks noGrp="1"/>
          </p:cNvSpPr>
          <p:nvPr/>
        </p:nvSpPr>
        <p:spPr>
          <a:xfrm>
            <a:off x="8553450" y="2190750"/>
            <a:ext cx="2933700" cy="704850"/>
          </a:xfrm>
          <a:prstGeom prst="rect">
            <a:avLst/>
          </a:prstGeom>
          <a:noFill/>
          <a:ln w="0">
            <a:noFill/>
            <a:prstDash val="solid"/>
          </a:ln>
        </p:spPr>
        <p:txBody>
          <a:bodyPr/>
          <a:lstStyle/>
          <a:p>
            <a:pPr algn="l">
              <a:defRPr sz="1275" b="0">
                <a:solidFill>
                  <a:srgbClr val="35445B"/>
                </a:solidFill>
              </a:defRPr>
            </a:pPr>
            <a:r>
              <a:rPr sz="1275" b="0">
                <a:solidFill>
                  <a:srgbClr val="35445B"/>
                </a:solidFill>
              </a:rPr>
              <a:t>Controlled adoption and benefits measurement</a:t>
            </a:r>
          </a:p>
        </p:txBody>
      </p:sp>
      <p:sp>
        <p:nvSpPr>
          <p:cNvPr id="40" name="Rectangle: Rounded Corners 39">
            <a:extLst>
              <a:ext uri="{FF2B5EF4-FFF2-40B4-BE49-F238E27FC236}">
                <a16:creationId xmlns:a16="http://schemas.microsoft.com/office/drawing/2014/main" id="{D4CD55AD-77C5-4B53-B220-BF323C059330}"/>
              </a:ext>
            </a:extLst>
          </p:cNvPr>
          <p:cNvSpPr>
            <a:spLocks noGrp="1"/>
          </p:cNvSpPr>
          <p:nvPr/>
        </p:nvSpPr>
        <p:spPr>
          <a:xfrm>
            <a:off x="8382000" y="2990850"/>
            <a:ext cx="57150" cy="57150"/>
          </a:xfrm>
          <a:prstGeom prst="roundRect">
            <a:avLst>
              <a:gd name="adj" fmla="val 50000"/>
            </a:avLst>
          </a:prstGeom>
          <a:solidFill>
            <a:srgbClr val="007A78"/>
          </a:solidFill>
          <a:ln w="0">
            <a:noFill/>
            <a:prstDash val="solid"/>
          </a:ln>
        </p:spPr>
        <p:txBody>
          <a:bodyPr/>
          <a:lstStyle/>
          <a:p>
            <a:endParaRPr lang="en-IN"/>
          </a:p>
        </p:txBody>
      </p:sp>
      <p:sp>
        <p:nvSpPr>
          <p:cNvPr id="41" name="Rectangle 40">
            <a:extLst>
              <a:ext uri="{FF2B5EF4-FFF2-40B4-BE49-F238E27FC236}">
                <a16:creationId xmlns:a16="http://schemas.microsoft.com/office/drawing/2014/main" id="{8F78938D-A5E6-4684-93AA-2F4E1C5C5145}"/>
              </a:ext>
            </a:extLst>
          </p:cNvPr>
          <p:cNvSpPr>
            <a:spLocks noGrp="1"/>
          </p:cNvSpPr>
          <p:nvPr/>
        </p:nvSpPr>
        <p:spPr>
          <a:xfrm>
            <a:off x="8553450" y="2914650"/>
            <a:ext cx="2933700" cy="704850"/>
          </a:xfrm>
          <a:prstGeom prst="rect">
            <a:avLst/>
          </a:prstGeom>
          <a:noFill/>
          <a:ln w="0">
            <a:noFill/>
            <a:prstDash val="solid"/>
          </a:ln>
        </p:spPr>
        <p:txBody>
          <a:bodyPr/>
          <a:lstStyle/>
          <a:p>
            <a:pPr algn="l">
              <a:defRPr sz="1275" b="0">
                <a:solidFill>
                  <a:srgbClr val="35445B"/>
                </a:solidFill>
              </a:defRPr>
            </a:pPr>
            <a:r>
              <a:rPr sz="1275" b="0">
                <a:solidFill>
                  <a:srgbClr val="35445B"/>
                </a:solidFill>
              </a:rPr>
              <a:t>Incremental expansion toward 30,000+ documents</a:t>
            </a:r>
          </a:p>
        </p:txBody>
      </p:sp>
      <p:sp>
        <p:nvSpPr>
          <p:cNvPr id="42" name="Rectangle: Rounded Corners 41">
            <a:extLst>
              <a:ext uri="{FF2B5EF4-FFF2-40B4-BE49-F238E27FC236}">
                <a16:creationId xmlns:a16="http://schemas.microsoft.com/office/drawing/2014/main" id="{219E90E4-4398-4CBF-9D5B-1844748B2B47}"/>
              </a:ext>
            </a:extLst>
          </p:cNvPr>
          <p:cNvSpPr>
            <a:spLocks noGrp="1"/>
          </p:cNvSpPr>
          <p:nvPr/>
        </p:nvSpPr>
        <p:spPr>
          <a:xfrm>
            <a:off x="8382000" y="3714750"/>
            <a:ext cx="57150" cy="57150"/>
          </a:xfrm>
          <a:prstGeom prst="roundRect">
            <a:avLst>
              <a:gd name="adj" fmla="val 50000"/>
            </a:avLst>
          </a:prstGeom>
          <a:solidFill>
            <a:srgbClr val="007A78"/>
          </a:solidFill>
          <a:ln w="0">
            <a:noFill/>
            <a:prstDash val="solid"/>
          </a:ln>
        </p:spPr>
        <p:txBody>
          <a:bodyPr/>
          <a:lstStyle/>
          <a:p>
            <a:endParaRPr lang="en-IN"/>
          </a:p>
        </p:txBody>
      </p:sp>
      <p:sp>
        <p:nvSpPr>
          <p:cNvPr id="43" name="Rectangle 42">
            <a:extLst>
              <a:ext uri="{FF2B5EF4-FFF2-40B4-BE49-F238E27FC236}">
                <a16:creationId xmlns:a16="http://schemas.microsoft.com/office/drawing/2014/main" id="{94142338-DE08-4846-AB83-FBA4CF0FD550}"/>
              </a:ext>
            </a:extLst>
          </p:cNvPr>
          <p:cNvSpPr>
            <a:spLocks noGrp="1"/>
          </p:cNvSpPr>
          <p:nvPr/>
        </p:nvSpPr>
        <p:spPr>
          <a:xfrm>
            <a:off x="8553450" y="3638550"/>
            <a:ext cx="2933700" cy="704850"/>
          </a:xfrm>
          <a:prstGeom prst="rect">
            <a:avLst/>
          </a:prstGeom>
          <a:noFill/>
          <a:ln w="0">
            <a:noFill/>
            <a:prstDash val="solid"/>
          </a:ln>
        </p:spPr>
        <p:txBody>
          <a:bodyPr/>
          <a:lstStyle/>
          <a:p>
            <a:pPr algn="l">
              <a:defRPr sz="1275" b="0">
                <a:solidFill>
                  <a:srgbClr val="35445B"/>
                </a:solidFill>
              </a:defRPr>
            </a:pPr>
            <a:r>
              <a:rPr sz="1275" b="0">
                <a:solidFill>
                  <a:srgbClr val="35445B"/>
                </a:solidFill>
              </a:rPr>
              <a:t>Stellarus-led multi-plan productization route</a:t>
            </a:r>
          </a:p>
        </p:txBody>
      </p:sp>
      <p:sp>
        <p:nvSpPr>
          <p:cNvPr id="44" name="Rectangle: Rounded Corners 43">
            <a:extLst>
              <a:ext uri="{FF2B5EF4-FFF2-40B4-BE49-F238E27FC236}">
                <a16:creationId xmlns:a16="http://schemas.microsoft.com/office/drawing/2014/main" id="{9202EF4D-4A66-4BCC-B028-0C5B40A3D22D}"/>
              </a:ext>
            </a:extLst>
          </p:cNvPr>
          <p:cNvSpPr>
            <a:spLocks noGrp="1"/>
          </p:cNvSpPr>
          <p:nvPr/>
        </p:nvSpPr>
        <p:spPr>
          <a:xfrm>
            <a:off x="1257300" y="5810250"/>
            <a:ext cx="9677400" cy="457200"/>
          </a:xfrm>
          <a:prstGeom prst="roundRect">
            <a:avLst>
              <a:gd name="adj" fmla="val 8333"/>
            </a:avLst>
          </a:prstGeom>
          <a:solidFill>
            <a:srgbClr val="FBF3E1"/>
          </a:solidFill>
          <a:ln w="9525">
            <a:solidFill>
              <a:srgbClr val="C98A16"/>
            </a:solidFill>
            <a:prstDash val="solid"/>
          </a:ln>
        </p:spPr>
        <p:txBody>
          <a:bodyPr/>
          <a:lstStyle/>
          <a:p>
            <a:endParaRPr lang="en-IN"/>
          </a:p>
        </p:txBody>
      </p:sp>
      <p:sp>
        <p:nvSpPr>
          <p:cNvPr id="45" name="Rectangle 44">
            <a:extLst>
              <a:ext uri="{FF2B5EF4-FFF2-40B4-BE49-F238E27FC236}">
                <a16:creationId xmlns:a16="http://schemas.microsoft.com/office/drawing/2014/main" id="{FF263420-322E-463D-8F6E-BD734FEFD494}"/>
              </a:ext>
            </a:extLst>
          </p:cNvPr>
          <p:cNvSpPr>
            <a:spLocks noGrp="1"/>
          </p:cNvSpPr>
          <p:nvPr/>
        </p:nvSpPr>
        <p:spPr>
          <a:xfrm>
            <a:off x="1257300" y="5810250"/>
            <a:ext cx="57150" cy="457200"/>
          </a:xfrm>
          <a:prstGeom prst="rect">
            <a:avLst/>
          </a:prstGeom>
          <a:solidFill>
            <a:srgbClr val="C98A16"/>
          </a:solidFill>
          <a:ln w="0">
            <a:noFill/>
            <a:prstDash val="solid"/>
          </a:ln>
        </p:spPr>
        <p:txBody>
          <a:bodyPr/>
          <a:lstStyle/>
          <a:p>
            <a:endParaRPr lang="en-IN"/>
          </a:p>
        </p:txBody>
      </p:sp>
      <p:sp>
        <p:nvSpPr>
          <p:cNvPr id="46" name="Rectangle 45">
            <a:extLst>
              <a:ext uri="{FF2B5EF4-FFF2-40B4-BE49-F238E27FC236}">
                <a16:creationId xmlns:a16="http://schemas.microsoft.com/office/drawing/2014/main" id="{28FD6BBF-11BA-45B7-802B-4C343C9F68DD}"/>
              </a:ext>
            </a:extLst>
          </p:cNvPr>
          <p:cNvSpPr>
            <a:spLocks noGrp="1"/>
          </p:cNvSpPr>
          <p:nvPr/>
        </p:nvSpPr>
        <p:spPr>
          <a:xfrm>
            <a:off x="1466850" y="5934075"/>
            <a:ext cx="9315450" cy="285750"/>
          </a:xfrm>
          <a:prstGeom prst="rect">
            <a:avLst/>
          </a:prstGeom>
          <a:noFill/>
          <a:ln w="0">
            <a:noFill/>
            <a:prstDash val="solid"/>
          </a:ln>
        </p:spPr>
        <p:txBody>
          <a:bodyPr/>
          <a:lstStyle/>
          <a:p>
            <a:pPr algn="l">
              <a:defRPr sz="1200" b="1">
                <a:solidFill>
                  <a:srgbClr val="132033"/>
                </a:solidFill>
              </a:defRPr>
            </a:pPr>
            <a:r>
              <a:rPr sz="1200" b="1">
                <a:solidFill>
                  <a:srgbClr val="132033"/>
                </a:solidFill>
              </a:rPr>
              <a:t>Estimated opportunity—not yet realized; no external license or pilot is represented as committed.</a:t>
            </a:r>
          </a:p>
        </p:txBody>
      </p:sp>
    </p:spTree>
    <p:extLst>
      <p:ext uri="{BB962C8B-B14F-4D97-AF65-F5344CB8AC3E}">
        <p14:creationId xmlns:p14="http://schemas.microsoft.com/office/powerpoint/2010/main" val="8677394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9" name="section">
            <a:extLst>
              <a:ext uri="{FF2B5EF4-FFF2-40B4-BE49-F238E27FC236}">
                <a16:creationId xmlns:a16="http://schemas.microsoft.com/office/drawing/2014/main" id="{193A4A9B-4E7B-470B-B23C-ECA8C1F680A2}"/>
              </a:ext>
            </a:extLst>
          </p:cNvPr>
          <p:cNvSpPr>
            <a:spLocks noGrp="1"/>
          </p:cNvSpPr>
          <p:nvPr/>
        </p:nvSpPr>
        <p:spPr>
          <a:xfrm>
            <a:off x="457200" y="209550"/>
            <a:ext cx="6858000" cy="190500"/>
          </a:xfrm>
          <a:prstGeom prst="rect">
            <a:avLst/>
          </a:prstGeom>
          <a:noFill/>
          <a:ln w="0">
            <a:noFill/>
            <a:prstDash val="solid"/>
          </a:ln>
        </p:spPr>
        <p:txBody>
          <a:bodyPr/>
          <a:lstStyle/>
          <a:p>
            <a:pPr algn="l">
              <a:defRPr sz="825" b="1">
                <a:solidFill>
                  <a:srgbClr val="C74343"/>
                </a:solidFill>
              </a:defRPr>
            </a:pPr>
            <a:r>
              <a:rPr sz="825" b="1">
                <a:solidFill>
                  <a:srgbClr val="C74343"/>
                </a:solidFill>
              </a:rPr>
              <a:t>FINALIST COMPARISON</a:t>
            </a:r>
          </a:p>
        </p:txBody>
      </p:sp>
      <p:sp>
        <p:nvSpPr>
          <p:cNvPr id="2" name="slide-title">
            <a:extLst>
              <a:ext uri="{FF2B5EF4-FFF2-40B4-BE49-F238E27FC236}">
                <a16:creationId xmlns:a16="http://schemas.microsoft.com/office/drawing/2014/main" id="{2352194B-6B3B-4F71-B5F3-8573CDF4D5B8}"/>
              </a:ext>
            </a:extLst>
          </p:cNvPr>
          <p:cNvSpPr>
            <a:spLocks noGrp="1"/>
          </p:cNvSpPr>
          <p:nvPr/>
        </p:nvSpPr>
        <p:spPr>
          <a:xfrm>
            <a:off x="457200" y="457200"/>
            <a:ext cx="11220450" cy="457200"/>
          </a:xfrm>
          <a:prstGeom prst="rect">
            <a:avLst/>
          </a:prstGeom>
          <a:noFill/>
          <a:ln w="0">
            <a:noFill/>
            <a:prstDash val="solid"/>
          </a:ln>
        </p:spPr>
        <p:txBody>
          <a:bodyPr/>
          <a:lstStyle/>
          <a:p>
            <a:pPr algn="l">
              <a:defRPr sz="2625" b="1">
                <a:solidFill>
                  <a:srgbClr val="132033"/>
                </a:solidFill>
              </a:defRPr>
            </a:pPr>
            <a:r>
              <a:rPr sz="2625" b="1">
                <a:solidFill>
                  <a:srgbClr val="132033"/>
                </a:solidFill>
              </a:rPr>
              <a:t>CIP spans more engineering layers than other finalists</a:t>
            </a:r>
          </a:p>
        </p:txBody>
      </p:sp>
      <p:sp>
        <p:nvSpPr>
          <p:cNvPr id="3" name="Rectangle 2">
            <a:extLst>
              <a:ext uri="{FF2B5EF4-FFF2-40B4-BE49-F238E27FC236}">
                <a16:creationId xmlns:a16="http://schemas.microsoft.com/office/drawing/2014/main" id="{167F42D6-8088-47CD-AF06-B0279E8332A6}"/>
              </a:ext>
            </a:extLst>
          </p:cNvPr>
          <p:cNvSpPr>
            <a:spLocks noGrp="1"/>
          </p:cNvSpPr>
          <p:nvPr/>
        </p:nvSpPr>
        <p:spPr>
          <a:xfrm>
            <a:off x="457200" y="990600"/>
            <a:ext cx="11277600" cy="9525"/>
          </a:xfrm>
          <a:prstGeom prst="rect">
            <a:avLst/>
          </a:prstGeom>
          <a:solidFill>
            <a:srgbClr val="D8DEE8"/>
          </a:solidFill>
          <a:ln w="0">
            <a:noFill/>
            <a:prstDash val="solid"/>
          </a:ln>
        </p:spPr>
        <p:txBody>
          <a:bodyPr/>
          <a:lstStyle/>
          <a:p>
            <a:endParaRPr lang="en-IN"/>
          </a:p>
        </p:txBody>
      </p:sp>
      <p:sp>
        <p:nvSpPr>
          <p:cNvPr id="4" name="visible-source">
            <a:extLst>
              <a:ext uri="{FF2B5EF4-FFF2-40B4-BE49-F238E27FC236}">
                <a16:creationId xmlns:a16="http://schemas.microsoft.com/office/drawing/2014/main" id="{EB3FE606-FC03-44E1-81DB-D246B9B48AE2}"/>
              </a:ext>
            </a:extLst>
          </p:cNvPr>
          <p:cNvSpPr>
            <a:spLocks noGrp="1"/>
          </p:cNvSpPr>
          <p:nvPr/>
        </p:nvSpPr>
        <p:spPr>
          <a:xfrm>
            <a:off x="457200" y="6524625"/>
            <a:ext cx="9334500" cy="142875"/>
          </a:xfrm>
          <a:prstGeom prst="rect">
            <a:avLst/>
          </a:prstGeom>
          <a:noFill/>
          <a:ln w="0">
            <a:noFill/>
            <a:prstDash val="solid"/>
          </a:ln>
        </p:spPr>
        <p:txBody>
          <a:bodyPr/>
          <a:lstStyle/>
          <a:p>
            <a:pPr algn="l">
              <a:defRPr sz="675" b="0">
                <a:solidFill>
                  <a:srgbClr val="667389"/>
                </a:solidFill>
              </a:defRPr>
            </a:pPr>
            <a:r>
              <a:rPr sz="675" b="0">
                <a:solidFill>
                  <a:srgbClr val="667389"/>
                </a:solidFill>
              </a:rPr>
              <a:t>Source: Submitted finalist documentation</a:t>
            </a:r>
          </a:p>
        </p:txBody>
      </p:sp>
      <p:sp>
        <p:nvSpPr>
          <p:cNvPr id="5" name="page">
            <a:extLst>
              <a:ext uri="{FF2B5EF4-FFF2-40B4-BE49-F238E27FC236}">
                <a16:creationId xmlns:a16="http://schemas.microsoft.com/office/drawing/2014/main" id="{D378E4E2-FE7A-4EFF-B176-F1D4D8B53B09}"/>
              </a:ext>
            </a:extLst>
          </p:cNvPr>
          <p:cNvSpPr>
            <a:spLocks noGrp="1"/>
          </p:cNvSpPr>
          <p:nvPr/>
        </p:nvSpPr>
        <p:spPr>
          <a:xfrm>
            <a:off x="11220450" y="6496050"/>
            <a:ext cx="514350" cy="171450"/>
          </a:xfrm>
          <a:prstGeom prst="rect">
            <a:avLst/>
          </a:prstGeom>
          <a:noFill/>
          <a:ln w="0">
            <a:noFill/>
            <a:prstDash val="solid"/>
          </a:ln>
        </p:spPr>
        <p:txBody>
          <a:bodyPr/>
          <a:lstStyle/>
          <a:p>
            <a:pPr algn="r">
              <a:defRPr sz="750" b="1">
                <a:solidFill>
                  <a:srgbClr val="667389"/>
                </a:solidFill>
              </a:defRPr>
            </a:pPr>
            <a:r>
              <a:rPr sz="750" b="1">
                <a:solidFill>
                  <a:srgbClr val="667389"/>
                </a:solidFill>
              </a:rPr>
              <a:t>13</a:t>
            </a:r>
          </a:p>
        </p:txBody>
      </p:sp>
      <p:sp>
        <p:nvSpPr>
          <p:cNvPr id="6" name="Rectangle 5">
            <a:extLst>
              <a:ext uri="{FF2B5EF4-FFF2-40B4-BE49-F238E27FC236}">
                <a16:creationId xmlns:a16="http://schemas.microsoft.com/office/drawing/2014/main" id="{9CF481DE-7D96-40A8-8A8D-B682FA4C5306}"/>
              </a:ext>
            </a:extLst>
          </p:cNvPr>
          <p:cNvSpPr>
            <a:spLocks noGrp="1"/>
          </p:cNvSpPr>
          <p:nvPr/>
        </p:nvSpPr>
        <p:spPr>
          <a:xfrm>
            <a:off x="381000" y="1238250"/>
            <a:ext cx="1619250" cy="723900"/>
          </a:xfrm>
          <a:prstGeom prst="rect">
            <a:avLst/>
          </a:prstGeom>
          <a:solidFill>
            <a:srgbClr val="0B2D50"/>
          </a:solidFill>
          <a:ln w="9525">
            <a:solidFill>
              <a:srgbClr val="D8DEE8"/>
            </a:solidFill>
            <a:prstDash val="solid"/>
          </a:ln>
        </p:spPr>
        <p:txBody>
          <a:bodyPr/>
          <a:lstStyle/>
          <a:p>
            <a:endParaRPr lang="en-IN"/>
          </a:p>
        </p:txBody>
      </p:sp>
      <p:sp>
        <p:nvSpPr>
          <p:cNvPr id="7" name="Rectangle 6">
            <a:extLst>
              <a:ext uri="{FF2B5EF4-FFF2-40B4-BE49-F238E27FC236}">
                <a16:creationId xmlns:a16="http://schemas.microsoft.com/office/drawing/2014/main" id="{B78BC12A-B1D7-4F41-B518-C97B3AE25B5D}"/>
              </a:ext>
            </a:extLst>
          </p:cNvPr>
          <p:cNvSpPr>
            <a:spLocks noGrp="1"/>
          </p:cNvSpPr>
          <p:nvPr/>
        </p:nvSpPr>
        <p:spPr>
          <a:xfrm>
            <a:off x="476250" y="1304925"/>
            <a:ext cx="1428750" cy="628650"/>
          </a:xfrm>
          <a:prstGeom prst="rect">
            <a:avLst/>
          </a:prstGeom>
          <a:noFill/>
          <a:ln w="0">
            <a:noFill/>
            <a:prstDash val="solid"/>
          </a:ln>
        </p:spPr>
        <p:txBody>
          <a:bodyPr/>
          <a:lstStyle/>
          <a:p>
            <a:pPr algn="l">
              <a:defRPr sz="1275" b="1">
                <a:solidFill>
                  <a:srgbClr val="FFFFFF"/>
                </a:solidFill>
              </a:defRPr>
            </a:pPr>
            <a:r>
              <a:rPr sz="1275" b="1">
                <a:solidFill>
                  <a:srgbClr val="FFFFFF"/>
                </a:solidFill>
              </a:rPr>
              <a:t>Dimension</a:t>
            </a:r>
          </a:p>
        </p:txBody>
      </p:sp>
      <p:sp>
        <p:nvSpPr>
          <p:cNvPr id="8" name="Rectangle 7">
            <a:extLst>
              <a:ext uri="{FF2B5EF4-FFF2-40B4-BE49-F238E27FC236}">
                <a16:creationId xmlns:a16="http://schemas.microsoft.com/office/drawing/2014/main" id="{746FD3E7-1904-441D-8F4E-65FBBF5D9150}"/>
              </a:ext>
            </a:extLst>
          </p:cNvPr>
          <p:cNvSpPr>
            <a:spLocks noGrp="1"/>
          </p:cNvSpPr>
          <p:nvPr/>
        </p:nvSpPr>
        <p:spPr>
          <a:xfrm>
            <a:off x="2000250" y="1238250"/>
            <a:ext cx="3048000" cy="723900"/>
          </a:xfrm>
          <a:prstGeom prst="rect">
            <a:avLst/>
          </a:prstGeom>
          <a:solidFill>
            <a:srgbClr val="0B2D50"/>
          </a:solidFill>
          <a:ln w="9525">
            <a:solidFill>
              <a:srgbClr val="D8DEE8"/>
            </a:solidFill>
            <a:prstDash val="solid"/>
          </a:ln>
        </p:spPr>
        <p:txBody>
          <a:bodyPr/>
          <a:lstStyle/>
          <a:p>
            <a:endParaRPr lang="en-IN"/>
          </a:p>
        </p:txBody>
      </p:sp>
      <p:sp>
        <p:nvSpPr>
          <p:cNvPr id="9" name="Rectangle 8">
            <a:extLst>
              <a:ext uri="{FF2B5EF4-FFF2-40B4-BE49-F238E27FC236}">
                <a16:creationId xmlns:a16="http://schemas.microsoft.com/office/drawing/2014/main" id="{D8F0ECC7-4E33-4BDF-A6E7-5CEC52001B93}"/>
              </a:ext>
            </a:extLst>
          </p:cNvPr>
          <p:cNvSpPr>
            <a:spLocks noGrp="1"/>
          </p:cNvSpPr>
          <p:nvPr/>
        </p:nvSpPr>
        <p:spPr>
          <a:xfrm>
            <a:off x="2095500" y="1304925"/>
            <a:ext cx="2857500" cy="628650"/>
          </a:xfrm>
          <a:prstGeom prst="rect">
            <a:avLst/>
          </a:prstGeom>
          <a:noFill/>
          <a:ln w="0">
            <a:noFill/>
            <a:prstDash val="solid"/>
          </a:ln>
        </p:spPr>
        <p:txBody>
          <a:bodyPr/>
          <a:lstStyle/>
          <a:p>
            <a:pPr algn="l">
              <a:defRPr sz="1275" b="1">
                <a:solidFill>
                  <a:srgbClr val="FFFFFF"/>
                </a:solidFill>
              </a:defRPr>
            </a:pPr>
            <a:r>
              <a:rPr sz="1275" b="1">
                <a:solidFill>
                  <a:srgbClr val="FFFFFF"/>
                </a:solidFill>
              </a:rPr>
              <a:t>CIP</a:t>
            </a:r>
          </a:p>
        </p:txBody>
      </p:sp>
      <p:sp>
        <p:nvSpPr>
          <p:cNvPr id="10" name="Rectangle 9">
            <a:extLst>
              <a:ext uri="{FF2B5EF4-FFF2-40B4-BE49-F238E27FC236}">
                <a16:creationId xmlns:a16="http://schemas.microsoft.com/office/drawing/2014/main" id="{CDEC1583-6BA6-4AB3-AECA-97BB8DC130C2}"/>
              </a:ext>
            </a:extLst>
          </p:cNvPr>
          <p:cNvSpPr>
            <a:spLocks noGrp="1"/>
          </p:cNvSpPr>
          <p:nvPr/>
        </p:nvSpPr>
        <p:spPr>
          <a:xfrm>
            <a:off x="5048250" y="1238250"/>
            <a:ext cx="2238375" cy="723900"/>
          </a:xfrm>
          <a:prstGeom prst="rect">
            <a:avLst/>
          </a:prstGeom>
          <a:solidFill>
            <a:srgbClr val="0B2D50"/>
          </a:solidFill>
          <a:ln w="9525">
            <a:solidFill>
              <a:srgbClr val="D8DEE8"/>
            </a:solidFill>
            <a:prstDash val="solid"/>
          </a:ln>
        </p:spPr>
        <p:txBody>
          <a:bodyPr/>
          <a:lstStyle/>
          <a:p>
            <a:endParaRPr lang="en-IN"/>
          </a:p>
        </p:txBody>
      </p:sp>
      <p:sp>
        <p:nvSpPr>
          <p:cNvPr id="11" name="Rectangle 10">
            <a:extLst>
              <a:ext uri="{FF2B5EF4-FFF2-40B4-BE49-F238E27FC236}">
                <a16:creationId xmlns:a16="http://schemas.microsoft.com/office/drawing/2014/main" id="{E89452CE-9C91-4650-BEFE-D5BFEA42BD7F}"/>
              </a:ext>
            </a:extLst>
          </p:cNvPr>
          <p:cNvSpPr>
            <a:spLocks noGrp="1"/>
          </p:cNvSpPr>
          <p:nvPr/>
        </p:nvSpPr>
        <p:spPr>
          <a:xfrm>
            <a:off x="5143500" y="1304925"/>
            <a:ext cx="2047875" cy="628650"/>
          </a:xfrm>
          <a:prstGeom prst="rect">
            <a:avLst/>
          </a:prstGeom>
          <a:noFill/>
          <a:ln w="0">
            <a:noFill/>
            <a:prstDash val="solid"/>
          </a:ln>
        </p:spPr>
        <p:txBody>
          <a:bodyPr/>
          <a:lstStyle/>
          <a:p>
            <a:pPr algn="l">
              <a:defRPr sz="1275" b="1">
                <a:solidFill>
                  <a:srgbClr val="FFFFFF"/>
                </a:solidFill>
              </a:defRPr>
            </a:pPr>
            <a:r>
              <a:rPr sz="1275" b="1">
                <a:solidFill>
                  <a:srgbClr val="FFFFFF"/>
                </a:solidFill>
              </a:rPr>
              <a:t>Cloud Pulse</a:t>
            </a:r>
          </a:p>
        </p:txBody>
      </p:sp>
      <p:sp>
        <p:nvSpPr>
          <p:cNvPr id="12" name="Rectangle 11">
            <a:extLst>
              <a:ext uri="{FF2B5EF4-FFF2-40B4-BE49-F238E27FC236}">
                <a16:creationId xmlns:a16="http://schemas.microsoft.com/office/drawing/2014/main" id="{85D89913-627F-4EF6-8BC9-5E80B7DFA3C1}"/>
              </a:ext>
            </a:extLst>
          </p:cNvPr>
          <p:cNvSpPr>
            <a:spLocks noGrp="1"/>
          </p:cNvSpPr>
          <p:nvPr/>
        </p:nvSpPr>
        <p:spPr>
          <a:xfrm>
            <a:off x="7286625" y="1238250"/>
            <a:ext cx="2238375" cy="723900"/>
          </a:xfrm>
          <a:prstGeom prst="rect">
            <a:avLst/>
          </a:prstGeom>
          <a:solidFill>
            <a:srgbClr val="0B2D50"/>
          </a:solidFill>
          <a:ln w="9525">
            <a:solidFill>
              <a:srgbClr val="D8DEE8"/>
            </a:solidFill>
            <a:prstDash val="solid"/>
          </a:ln>
        </p:spPr>
        <p:txBody>
          <a:bodyPr/>
          <a:lstStyle/>
          <a:p>
            <a:endParaRPr lang="en-IN"/>
          </a:p>
        </p:txBody>
      </p:sp>
      <p:sp>
        <p:nvSpPr>
          <p:cNvPr id="13" name="Rectangle 12">
            <a:extLst>
              <a:ext uri="{FF2B5EF4-FFF2-40B4-BE49-F238E27FC236}">
                <a16:creationId xmlns:a16="http://schemas.microsoft.com/office/drawing/2014/main" id="{555EFAEA-E25C-40C1-865C-703A1B5A082F}"/>
              </a:ext>
            </a:extLst>
          </p:cNvPr>
          <p:cNvSpPr>
            <a:spLocks noGrp="1"/>
          </p:cNvSpPr>
          <p:nvPr/>
        </p:nvSpPr>
        <p:spPr>
          <a:xfrm>
            <a:off x="7381875" y="1304925"/>
            <a:ext cx="2047875" cy="628650"/>
          </a:xfrm>
          <a:prstGeom prst="rect">
            <a:avLst/>
          </a:prstGeom>
          <a:noFill/>
          <a:ln w="0">
            <a:noFill/>
            <a:prstDash val="solid"/>
          </a:ln>
        </p:spPr>
        <p:txBody>
          <a:bodyPr/>
          <a:lstStyle/>
          <a:p>
            <a:pPr algn="l">
              <a:defRPr sz="1275" b="1">
                <a:solidFill>
                  <a:srgbClr val="FFFFFF"/>
                </a:solidFill>
              </a:defRPr>
            </a:pPr>
            <a:r>
              <a:rPr sz="1275" b="1">
                <a:solidFill>
                  <a:srgbClr val="FFFFFF"/>
                </a:solidFill>
              </a:rPr>
              <a:t>CRMA</a:t>
            </a:r>
          </a:p>
        </p:txBody>
      </p:sp>
      <p:sp>
        <p:nvSpPr>
          <p:cNvPr id="14" name="Rectangle 13">
            <a:extLst>
              <a:ext uri="{FF2B5EF4-FFF2-40B4-BE49-F238E27FC236}">
                <a16:creationId xmlns:a16="http://schemas.microsoft.com/office/drawing/2014/main" id="{C88C7426-BA11-4A10-AE03-AC33BFC0D9FC}"/>
              </a:ext>
            </a:extLst>
          </p:cNvPr>
          <p:cNvSpPr>
            <a:spLocks noGrp="1"/>
          </p:cNvSpPr>
          <p:nvPr/>
        </p:nvSpPr>
        <p:spPr>
          <a:xfrm>
            <a:off x="9525000" y="1238250"/>
            <a:ext cx="2286000" cy="723900"/>
          </a:xfrm>
          <a:prstGeom prst="rect">
            <a:avLst/>
          </a:prstGeom>
          <a:solidFill>
            <a:srgbClr val="0B2D50"/>
          </a:solidFill>
          <a:ln w="9525">
            <a:solidFill>
              <a:srgbClr val="D8DEE8"/>
            </a:solidFill>
            <a:prstDash val="solid"/>
          </a:ln>
        </p:spPr>
        <p:txBody>
          <a:bodyPr/>
          <a:lstStyle/>
          <a:p>
            <a:endParaRPr lang="en-IN"/>
          </a:p>
        </p:txBody>
      </p:sp>
      <p:sp>
        <p:nvSpPr>
          <p:cNvPr id="15" name="Rectangle 14">
            <a:extLst>
              <a:ext uri="{FF2B5EF4-FFF2-40B4-BE49-F238E27FC236}">
                <a16:creationId xmlns:a16="http://schemas.microsoft.com/office/drawing/2014/main" id="{62F0DCC1-0C5B-4BE5-A869-F634A0961BCC}"/>
              </a:ext>
            </a:extLst>
          </p:cNvPr>
          <p:cNvSpPr>
            <a:spLocks noGrp="1"/>
          </p:cNvSpPr>
          <p:nvPr/>
        </p:nvSpPr>
        <p:spPr>
          <a:xfrm>
            <a:off x="9620250" y="1304925"/>
            <a:ext cx="2095500" cy="628650"/>
          </a:xfrm>
          <a:prstGeom prst="rect">
            <a:avLst/>
          </a:prstGeom>
          <a:noFill/>
          <a:ln w="0">
            <a:noFill/>
            <a:prstDash val="solid"/>
          </a:ln>
        </p:spPr>
        <p:txBody>
          <a:bodyPr/>
          <a:lstStyle/>
          <a:p>
            <a:pPr algn="l">
              <a:defRPr sz="1275" b="1">
                <a:solidFill>
                  <a:srgbClr val="FFFFFF"/>
                </a:solidFill>
              </a:defRPr>
            </a:pPr>
            <a:r>
              <a:rPr sz="1275" b="1">
                <a:solidFill>
                  <a:srgbClr val="FFFFFF"/>
                </a:solidFill>
              </a:rPr>
              <a:t>Delphi</a:t>
            </a:r>
          </a:p>
        </p:txBody>
      </p:sp>
      <p:sp>
        <p:nvSpPr>
          <p:cNvPr id="16" name="Rectangle 15">
            <a:extLst>
              <a:ext uri="{FF2B5EF4-FFF2-40B4-BE49-F238E27FC236}">
                <a16:creationId xmlns:a16="http://schemas.microsoft.com/office/drawing/2014/main" id="{ABDBF36C-9A44-4B26-9D4C-0CE3F7E5F9EA}"/>
              </a:ext>
            </a:extLst>
          </p:cNvPr>
          <p:cNvSpPr>
            <a:spLocks noGrp="1"/>
          </p:cNvSpPr>
          <p:nvPr/>
        </p:nvSpPr>
        <p:spPr>
          <a:xfrm>
            <a:off x="381000" y="1962150"/>
            <a:ext cx="1619250" cy="723900"/>
          </a:xfrm>
          <a:prstGeom prst="rect">
            <a:avLst/>
          </a:prstGeom>
          <a:solidFill>
            <a:srgbClr val="FFFFFF"/>
          </a:solidFill>
          <a:ln w="9525">
            <a:solidFill>
              <a:srgbClr val="D8DEE8"/>
            </a:solidFill>
            <a:prstDash val="solid"/>
          </a:ln>
        </p:spPr>
        <p:txBody>
          <a:bodyPr/>
          <a:lstStyle/>
          <a:p>
            <a:endParaRPr lang="en-IN"/>
          </a:p>
        </p:txBody>
      </p:sp>
      <p:sp>
        <p:nvSpPr>
          <p:cNvPr id="17" name="Rectangle 16">
            <a:extLst>
              <a:ext uri="{FF2B5EF4-FFF2-40B4-BE49-F238E27FC236}">
                <a16:creationId xmlns:a16="http://schemas.microsoft.com/office/drawing/2014/main" id="{A82A5936-4AE0-4CC8-BB32-F3EFA9D6880F}"/>
              </a:ext>
            </a:extLst>
          </p:cNvPr>
          <p:cNvSpPr>
            <a:spLocks noGrp="1"/>
          </p:cNvSpPr>
          <p:nvPr/>
        </p:nvSpPr>
        <p:spPr>
          <a:xfrm>
            <a:off x="476250" y="2028825"/>
            <a:ext cx="1428750" cy="628650"/>
          </a:xfrm>
          <a:prstGeom prst="rect">
            <a:avLst/>
          </a:prstGeom>
          <a:noFill/>
          <a:ln w="0">
            <a:noFill/>
            <a:prstDash val="solid"/>
          </a:ln>
        </p:spPr>
        <p:txBody>
          <a:bodyPr/>
          <a:lstStyle/>
          <a:p>
            <a:pPr algn="l">
              <a:defRPr sz="1200" b="1">
                <a:solidFill>
                  <a:srgbClr val="132033"/>
                </a:solidFill>
              </a:defRPr>
            </a:pPr>
            <a:r>
              <a:rPr sz="1200" b="1">
                <a:solidFill>
                  <a:srgbClr val="132033"/>
                </a:solidFill>
              </a:rPr>
              <a:t>Core problem</a:t>
            </a:r>
          </a:p>
        </p:txBody>
      </p:sp>
      <p:sp>
        <p:nvSpPr>
          <p:cNvPr id="18" name="Rectangle 17">
            <a:extLst>
              <a:ext uri="{FF2B5EF4-FFF2-40B4-BE49-F238E27FC236}">
                <a16:creationId xmlns:a16="http://schemas.microsoft.com/office/drawing/2014/main" id="{BB3B590F-9150-4DA9-AFD6-5041D2C0AB96}"/>
              </a:ext>
            </a:extLst>
          </p:cNvPr>
          <p:cNvSpPr>
            <a:spLocks noGrp="1"/>
          </p:cNvSpPr>
          <p:nvPr/>
        </p:nvSpPr>
        <p:spPr>
          <a:xfrm>
            <a:off x="2000250" y="1962150"/>
            <a:ext cx="3048000" cy="723900"/>
          </a:xfrm>
          <a:prstGeom prst="rect">
            <a:avLst/>
          </a:prstGeom>
          <a:solidFill>
            <a:srgbClr val="E8F2F9"/>
          </a:solidFill>
          <a:ln w="9525">
            <a:solidFill>
              <a:srgbClr val="D8DEE8"/>
            </a:solidFill>
            <a:prstDash val="solid"/>
          </a:ln>
        </p:spPr>
        <p:txBody>
          <a:bodyPr/>
          <a:lstStyle/>
          <a:p>
            <a:endParaRPr lang="en-IN"/>
          </a:p>
        </p:txBody>
      </p:sp>
      <p:sp>
        <p:nvSpPr>
          <p:cNvPr id="19" name="Rectangle 18">
            <a:extLst>
              <a:ext uri="{FF2B5EF4-FFF2-40B4-BE49-F238E27FC236}">
                <a16:creationId xmlns:a16="http://schemas.microsoft.com/office/drawing/2014/main" id="{9E35C5F3-1E4E-40DB-B96B-CED78BFF54D0}"/>
              </a:ext>
            </a:extLst>
          </p:cNvPr>
          <p:cNvSpPr>
            <a:spLocks noGrp="1"/>
          </p:cNvSpPr>
          <p:nvPr/>
        </p:nvSpPr>
        <p:spPr>
          <a:xfrm>
            <a:off x="2095500" y="2028825"/>
            <a:ext cx="2857500" cy="628650"/>
          </a:xfrm>
          <a:prstGeom prst="rect">
            <a:avLst/>
          </a:prstGeom>
          <a:noFill/>
          <a:ln w="0">
            <a:noFill/>
            <a:prstDash val="solid"/>
          </a:ln>
        </p:spPr>
        <p:txBody>
          <a:bodyPr/>
          <a:lstStyle/>
          <a:p>
            <a:pPr algn="l">
              <a:defRPr sz="1200" b="1">
                <a:solidFill>
                  <a:srgbClr val="35445B"/>
                </a:solidFill>
              </a:defRPr>
            </a:pPr>
            <a:r>
              <a:rPr sz="1200" b="1">
                <a:solidFill>
                  <a:srgbClr val="35445B"/>
                </a:solidFill>
              </a:rPr>
              <a:t>Legal + financial + temporal precedence</a:t>
            </a:r>
          </a:p>
        </p:txBody>
      </p:sp>
      <p:sp>
        <p:nvSpPr>
          <p:cNvPr id="20" name="Rectangle 19">
            <a:extLst>
              <a:ext uri="{FF2B5EF4-FFF2-40B4-BE49-F238E27FC236}">
                <a16:creationId xmlns:a16="http://schemas.microsoft.com/office/drawing/2014/main" id="{86959D05-2759-4A3A-8DCC-288DFD166D58}"/>
              </a:ext>
            </a:extLst>
          </p:cNvPr>
          <p:cNvSpPr>
            <a:spLocks noGrp="1"/>
          </p:cNvSpPr>
          <p:nvPr/>
        </p:nvSpPr>
        <p:spPr>
          <a:xfrm>
            <a:off x="5048250" y="1962150"/>
            <a:ext cx="2238375" cy="723900"/>
          </a:xfrm>
          <a:prstGeom prst="rect">
            <a:avLst/>
          </a:prstGeom>
          <a:solidFill>
            <a:srgbClr val="FFFFFF"/>
          </a:solidFill>
          <a:ln w="9525">
            <a:solidFill>
              <a:srgbClr val="D8DEE8"/>
            </a:solidFill>
            <a:prstDash val="solid"/>
          </a:ln>
        </p:spPr>
        <p:txBody>
          <a:bodyPr/>
          <a:lstStyle/>
          <a:p>
            <a:endParaRPr lang="en-IN"/>
          </a:p>
        </p:txBody>
      </p:sp>
      <p:sp>
        <p:nvSpPr>
          <p:cNvPr id="21" name="Rectangle 20">
            <a:extLst>
              <a:ext uri="{FF2B5EF4-FFF2-40B4-BE49-F238E27FC236}">
                <a16:creationId xmlns:a16="http://schemas.microsoft.com/office/drawing/2014/main" id="{56E11A0E-F039-4224-8ACC-4828D3A6DA5C}"/>
              </a:ext>
            </a:extLst>
          </p:cNvPr>
          <p:cNvSpPr>
            <a:spLocks noGrp="1"/>
          </p:cNvSpPr>
          <p:nvPr/>
        </p:nvSpPr>
        <p:spPr>
          <a:xfrm>
            <a:off x="5143500" y="2028825"/>
            <a:ext cx="2047875" cy="628650"/>
          </a:xfrm>
          <a:prstGeom prst="rect">
            <a:avLst/>
          </a:prstGeom>
          <a:noFill/>
          <a:ln w="0">
            <a:noFill/>
            <a:prstDash val="solid"/>
          </a:ln>
        </p:spPr>
        <p:txBody>
          <a:bodyPr/>
          <a:lstStyle/>
          <a:p>
            <a:pPr algn="l">
              <a:defRPr sz="1200" b="0">
                <a:solidFill>
                  <a:srgbClr val="35445B"/>
                </a:solidFill>
              </a:defRPr>
            </a:pPr>
            <a:r>
              <a:rPr sz="1200" b="0">
                <a:solidFill>
                  <a:srgbClr val="35445B"/>
                </a:solidFill>
              </a:rPr>
              <a:t>Cloud cost optimization</a:t>
            </a:r>
          </a:p>
        </p:txBody>
      </p:sp>
      <p:sp>
        <p:nvSpPr>
          <p:cNvPr id="22" name="Rectangle 21">
            <a:extLst>
              <a:ext uri="{FF2B5EF4-FFF2-40B4-BE49-F238E27FC236}">
                <a16:creationId xmlns:a16="http://schemas.microsoft.com/office/drawing/2014/main" id="{2FC6A98B-3A65-4DBD-AA68-524F8F9E0597}"/>
              </a:ext>
            </a:extLst>
          </p:cNvPr>
          <p:cNvSpPr>
            <a:spLocks noGrp="1"/>
          </p:cNvSpPr>
          <p:nvPr/>
        </p:nvSpPr>
        <p:spPr>
          <a:xfrm>
            <a:off x="7286625" y="1962150"/>
            <a:ext cx="2238375" cy="723900"/>
          </a:xfrm>
          <a:prstGeom prst="rect">
            <a:avLst/>
          </a:prstGeom>
          <a:solidFill>
            <a:srgbClr val="FFFFFF"/>
          </a:solidFill>
          <a:ln w="9525">
            <a:solidFill>
              <a:srgbClr val="D8DEE8"/>
            </a:solidFill>
            <a:prstDash val="solid"/>
          </a:ln>
        </p:spPr>
        <p:txBody>
          <a:bodyPr/>
          <a:lstStyle/>
          <a:p>
            <a:endParaRPr lang="en-IN"/>
          </a:p>
        </p:txBody>
      </p:sp>
      <p:sp>
        <p:nvSpPr>
          <p:cNvPr id="23" name="Rectangle 22">
            <a:extLst>
              <a:ext uri="{FF2B5EF4-FFF2-40B4-BE49-F238E27FC236}">
                <a16:creationId xmlns:a16="http://schemas.microsoft.com/office/drawing/2014/main" id="{24BB8147-7C09-4967-9933-6110CA358428}"/>
              </a:ext>
            </a:extLst>
          </p:cNvPr>
          <p:cNvSpPr>
            <a:spLocks noGrp="1"/>
          </p:cNvSpPr>
          <p:nvPr/>
        </p:nvSpPr>
        <p:spPr>
          <a:xfrm>
            <a:off x="7381875" y="2028825"/>
            <a:ext cx="2047875" cy="628650"/>
          </a:xfrm>
          <a:prstGeom prst="rect">
            <a:avLst/>
          </a:prstGeom>
          <a:noFill/>
          <a:ln w="0">
            <a:noFill/>
            <a:prstDash val="solid"/>
          </a:ln>
        </p:spPr>
        <p:txBody>
          <a:bodyPr/>
          <a:lstStyle/>
          <a:p>
            <a:pPr algn="l">
              <a:defRPr sz="1200" b="0">
                <a:solidFill>
                  <a:srgbClr val="35445B"/>
                </a:solidFill>
              </a:defRPr>
            </a:pPr>
            <a:r>
              <a:rPr sz="1200" b="0">
                <a:solidFill>
                  <a:srgbClr val="35445B"/>
                </a:solidFill>
              </a:rPr>
              <a:t>Experiment intelligence</a:t>
            </a:r>
          </a:p>
        </p:txBody>
      </p:sp>
      <p:sp>
        <p:nvSpPr>
          <p:cNvPr id="24" name="Rectangle 23">
            <a:extLst>
              <a:ext uri="{FF2B5EF4-FFF2-40B4-BE49-F238E27FC236}">
                <a16:creationId xmlns:a16="http://schemas.microsoft.com/office/drawing/2014/main" id="{9949038D-541C-452A-A063-F8207D6315D7}"/>
              </a:ext>
            </a:extLst>
          </p:cNvPr>
          <p:cNvSpPr>
            <a:spLocks noGrp="1"/>
          </p:cNvSpPr>
          <p:nvPr/>
        </p:nvSpPr>
        <p:spPr>
          <a:xfrm>
            <a:off x="9525000" y="1962150"/>
            <a:ext cx="2286000" cy="723900"/>
          </a:xfrm>
          <a:prstGeom prst="rect">
            <a:avLst/>
          </a:prstGeom>
          <a:solidFill>
            <a:srgbClr val="FFFFFF"/>
          </a:solidFill>
          <a:ln w="9525">
            <a:solidFill>
              <a:srgbClr val="D8DEE8"/>
            </a:solidFill>
            <a:prstDash val="solid"/>
          </a:ln>
        </p:spPr>
        <p:txBody>
          <a:bodyPr/>
          <a:lstStyle/>
          <a:p>
            <a:endParaRPr lang="en-IN"/>
          </a:p>
        </p:txBody>
      </p:sp>
      <p:sp>
        <p:nvSpPr>
          <p:cNvPr id="25" name="Rectangle 24">
            <a:extLst>
              <a:ext uri="{FF2B5EF4-FFF2-40B4-BE49-F238E27FC236}">
                <a16:creationId xmlns:a16="http://schemas.microsoft.com/office/drawing/2014/main" id="{0BF0E4AF-DC92-4B55-A52C-63DBB1BA105E}"/>
              </a:ext>
            </a:extLst>
          </p:cNvPr>
          <p:cNvSpPr>
            <a:spLocks noGrp="1"/>
          </p:cNvSpPr>
          <p:nvPr/>
        </p:nvSpPr>
        <p:spPr>
          <a:xfrm>
            <a:off x="9620250" y="2028825"/>
            <a:ext cx="2095500" cy="628650"/>
          </a:xfrm>
          <a:prstGeom prst="rect">
            <a:avLst/>
          </a:prstGeom>
          <a:noFill/>
          <a:ln w="0">
            <a:noFill/>
            <a:prstDash val="solid"/>
          </a:ln>
        </p:spPr>
        <p:txBody>
          <a:bodyPr/>
          <a:lstStyle/>
          <a:p>
            <a:pPr algn="l">
              <a:defRPr sz="1200" b="0">
                <a:solidFill>
                  <a:srgbClr val="35445B"/>
                </a:solidFill>
              </a:defRPr>
            </a:pPr>
            <a:r>
              <a:rPr sz="1200" b="0">
                <a:solidFill>
                  <a:srgbClr val="35445B"/>
                </a:solidFill>
              </a:rPr>
              <a:t>General Q&amp;A</a:t>
            </a:r>
          </a:p>
        </p:txBody>
      </p:sp>
      <p:sp>
        <p:nvSpPr>
          <p:cNvPr id="26" name="Rectangle 25">
            <a:extLst>
              <a:ext uri="{FF2B5EF4-FFF2-40B4-BE49-F238E27FC236}">
                <a16:creationId xmlns:a16="http://schemas.microsoft.com/office/drawing/2014/main" id="{08F5552E-AAB4-4337-948D-55E69BF95552}"/>
              </a:ext>
            </a:extLst>
          </p:cNvPr>
          <p:cNvSpPr>
            <a:spLocks noGrp="1"/>
          </p:cNvSpPr>
          <p:nvPr/>
        </p:nvSpPr>
        <p:spPr>
          <a:xfrm>
            <a:off x="381000" y="2686050"/>
            <a:ext cx="1619250" cy="723900"/>
          </a:xfrm>
          <a:prstGeom prst="rect">
            <a:avLst/>
          </a:prstGeom>
          <a:solidFill>
            <a:srgbClr val="F4F6F9"/>
          </a:solidFill>
          <a:ln w="9525">
            <a:solidFill>
              <a:srgbClr val="D8DEE8"/>
            </a:solidFill>
            <a:prstDash val="solid"/>
          </a:ln>
        </p:spPr>
        <p:txBody>
          <a:bodyPr/>
          <a:lstStyle/>
          <a:p>
            <a:endParaRPr lang="en-IN"/>
          </a:p>
        </p:txBody>
      </p:sp>
      <p:sp>
        <p:nvSpPr>
          <p:cNvPr id="27" name="Rectangle 26">
            <a:extLst>
              <a:ext uri="{FF2B5EF4-FFF2-40B4-BE49-F238E27FC236}">
                <a16:creationId xmlns:a16="http://schemas.microsoft.com/office/drawing/2014/main" id="{0134CFDA-801E-4013-8621-2738A8287F0A}"/>
              </a:ext>
            </a:extLst>
          </p:cNvPr>
          <p:cNvSpPr>
            <a:spLocks noGrp="1"/>
          </p:cNvSpPr>
          <p:nvPr/>
        </p:nvSpPr>
        <p:spPr>
          <a:xfrm>
            <a:off x="476250" y="2752725"/>
            <a:ext cx="1428750" cy="628650"/>
          </a:xfrm>
          <a:prstGeom prst="rect">
            <a:avLst/>
          </a:prstGeom>
          <a:noFill/>
          <a:ln w="0">
            <a:noFill/>
            <a:prstDash val="solid"/>
          </a:ln>
        </p:spPr>
        <p:txBody>
          <a:bodyPr/>
          <a:lstStyle/>
          <a:p>
            <a:pPr algn="l">
              <a:defRPr sz="1200" b="1">
                <a:solidFill>
                  <a:srgbClr val="132033"/>
                </a:solidFill>
              </a:defRPr>
            </a:pPr>
            <a:r>
              <a:rPr sz="1200" b="1">
                <a:solidFill>
                  <a:srgbClr val="132033"/>
                </a:solidFill>
              </a:rPr>
              <a:t>Implemented scope</a:t>
            </a:r>
          </a:p>
        </p:txBody>
      </p:sp>
      <p:sp>
        <p:nvSpPr>
          <p:cNvPr id="28" name="Rectangle 27">
            <a:extLst>
              <a:ext uri="{FF2B5EF4-FFF2-40B4-BE49-F238E27FC236}">
                <a16:creationId xmlns:a16="http://schemas.microsoft.com/office/drawing/2014/main" id="{0C8F670F-92FC-40D9-AAE6-A44089276ECD}"/>
              </a:ext>
            </a:extLst>
          </p:cNvPr>
          <p:cNvSpPr>
            <a:spLocks noGrp="1"/>
          </p:cNvSpPr>
          <p:nvPr/>
        </p:nvSpPr>
        <p:spPr>
          <a:xfrm>
            <a:off x="2000250" y="2686050"/>
            <a:ext cx="3048000" cy="723900"/>
          </a:xfrm>
          <a:prstGeom prst="rect">
            <a:avLst/>
          </a:prstGeom>
          <a:solidFill>
            <a:srgbClr val="E8F2F9"/>
          </a:solidFill>
          <a:ln w="9525">
            <a:solidFill>
              <a:srgbClr val="D8DEE8"/>
            </a:solidFill>
            <a:prstDash val="solid"/>
          </a:ln>
        </p:spPr>
        <p:txBody>
          <a:bodyPr/>
          <a:lstStyle/>
          <a:p>
            <a:endParaRPr lang="en-IN"/>
          </a:p>
        </p:txBody>
      </p:sp>
      <p:sp>
        <p:nvSpPr>
          <p:cNvPr id="29" name="Rectangle 28">
            <a:extLst>
              <a:ext uri="{FF2B5EF4-FFF2-40B4-BE49-F238E27FC236}">
                <a16:creationId xmlns:a16="http://schemas.microsoft.com/office/drawing/2014/main" id="{92730A68-DAB4-4A89-8742-E0D47F92FE9D}"/>
              </a:ext>
            </a:extLst>
          </p:cNvPr>
          <p:cNvSpPr>
            <a:spLocks noGrp="1"/>
          </p:cNvSpPr>
          <p:nvPr/>
        </p:nvSpPr>
        <p:spPr>
          <a:xfrm>
            <a:off x="2095500" y="2752725"/>
            <a:ext cx="2857500" cy="628650"/>
          </a:xfrm>
          <a:prstGeom prst="rect">
            <a:avLst/>
          </a:prstGeom>
          <a:noFill/>
          <a:ln w="0">
            <a:noFill/>
            <a:prstDash val="solid"/>
          </a:ln>
        </p:spPr>
        <p:txBody>
          <a:bodyPr/>
          <a:lstStyle/>
          <a:p>
            <a:pPr algn="l">
              <a:defRPr sz="1200" b="1">
                <a:solidFill>
                  <a:srgbClr val="35445B"/>
                </a:solidFill>
              </a:defRPr>
            </a:pPr>
            <a:r>
              <a:rPr sz="1200" b="1">
                <a:solidFill>
                  <a:srgbClr val="35445B"/>
                </a:solidFill>
              </a:rPr>
              <a:t>10,500 docs / 408K pages</a:t>
            </a:r>
          </a:p>
        </p:txBody>
      </p:sp>
      <p:sp>
        <p:nvSpPr>
          <p:cNvPr id="30" name="Rectangle 29">
            <a:extLst>
              <a:ext uri="{FF2B5EF4-FFF2-40B4-BE49-F238E27FC236}">
                <a16:creationId xmlns:a16="http://schemas.microsoft.com/office/drawing/2014/main" id="{DE98D6A1-3325-484D-B9F6-D4207C1155F4}"/>
              </a:ext>
            </a:extLst>
          </p:cNvPr>
          <p:cNvSpPr>
            <a:spLocks noGrp="1"/>
          </p:cNvSpPr>
          <p:nvPr/>
        </p:nvSpPr>
        <p:spPr>
          <a:xfrm>
            <a:off x="5048250" y="2686050"/>
            <a:ext cx="2238375" cy="723900"/>
          </a:xfrm>
          <a:prstGeom prst="rect">
            <a:avLst/>
          </a:prstGeom>
          <a:solidFill>
            <a:srgbClr val="F4F6F9"/>
          </a:solidFill>
          <a:ln w="9525">
            <a:solidFill>
              <a:srgbClr val="D8DEE8"/>
            </a:solidFill>
            <a:prstDash val="solid"/>
          </a:ln>
        </p:spPr>
        <p:txBody>
          <a:bodyPr/>
          <a:lstStyle/>
          <a:p>
            <a:endParaRPr lang="en-IN"/>
          </a:p>
        </p:txBody>
      </p:sp>
      <p:sp>
        <p:nvSpPr>
          <p:cNvPr id="31" name="Rectangle 30">
            <a:extLst>
              <a:ext uri="{FF2B5EF4-FFF2-40B4-BE49-F238E27FC236}">
                <a16:creationId xmlns:a16="http://schemas.microsoft.com/office/drawing/2014/main" id="{E941B59E-9861-44C8-8B14-A95E26E09497}"/>
              </a:ext>
            </a:extLst>
          </p:cNvPr>
          <p:cNvSpPr>
            <a:spLocks noGrp="1"/>
          </p:cNvSpPr>
          <p:nvPr/>
        </p:nvSpPr>
        <p:spPr>
          <a:xfrm>
            <a:off x="5143500" y="2752725"/>
            <a:ext cx="2047875" cy="628650"/>
          </a:xfrm>
          <a:prstGeom prst="rect">
            <a:avLst/>
          </a:prstGeom>
          <a:noFill/>
          <a:ln w="0">
            <a:noFill/>
            <a:prstDash val="solid"/>
          </a:ln>
        </p:spPr>
        <p:txBody>
          <a:bodyPr/>
          <a:lstStyle/>
          <a:p>
            <a:pPr algn="l">
              <a:defRPr sz="1200" b="0">
                <a:solidFill>
                  <a:srgbClr val="35445B"/>
                </a:solidFill>
              </a:defRPr>
            </a:pPr>
            <a:r>
              <a:rPr sz="1200" b="0">
                <a:solidFill>
                  <a:srgbClr val="35445B"/>
                </a:solidFill>
              </a:rPr>
              <a:t>328 jobs</a:t>
            </a:r>
          </a:p>
        </p:txBody>
      </p:sp>
      <p:sp>
        <p:nvSpPr>
          <p:cNvPr id="32" name="Rectangle 31">
            <a:extLst>
              <a:ext uri="{FF2B5EF4-FFF2-40B4-BE49-F238E27FC236}">
                <a16:creationId xmlns:a16="http://schemas.microsoft.com/office/drawing/2014/main" id="{AA713190-EFC1-462F-B6B4-759786267510}"/>
              </a:ext>
            </a:extLst>
          </p:cNvPr>
          <p:cNvSpPr>
            <a:spLocks noGrp="1"/>
          </p:cNvSpPr>
          <p:nvPr/>
        </p:nvSpPr>
        <p:spPr>
          <a:xfrm>
            <a:off x="7286625" y="2686050"/>
            <a:ext cx="2238375" cy="723900"/>
          </a:xfrm>
          <a:prstGeom prst="rect">
            <a:avLst/>
          </a:prstGeom>
          <a:solidFill>
            <a:srgbClr val="F4F6F9"/>
          </a:solidFill>
          <a:ln w="9525">
            <a:solidFill>
              <a:srgbClr val="D8DEE8"/>
            </a:solidFill>
            <a:prstDash val="solid"/>
          </a:ln>
        </p:spPr>
        <p:txBody>
          <a:bodyPr/>
          <a:lstStyle/>
          <a:p>
            <a:endParaRPr lang="en-IN"/>
          </a:p>
        </p:txBody>
      </p:sp>
      <p:sp>
        <p:nvSpPr>
          <p:cNvPr id="33" name="Rectangle 32">
            <a:extLst>
              <a:ext uri="{FF2B5EF4-FFF2-40B4-BE49-F238E27FC236}">
                <a16:creationId xmlns:a16="http://schemas.microsoft.com/office/drawing/2014/main" id="{CCD23708-B9BA-4D9B-B9D4-9C1C500451C9}"/>
              </a:ext>
            </a:extLst>
          </p:cNvPr>
          <p:cNvSpPr>
            <a:spLocks noGrp="1"/>
          </p:cNvSpPr>
          <p:nvPr/>
        </p:nvSpPr>
        <p:spPr>
          <a:xfrm>
            <a:off x="7381875" y="2752725"/>
            <a:ext cx="2047875" cy="628650"/>
          </a:xfrm>
          <a:prstGeom prst="rect">
            <a:avLst/>
          </a:prstGeom>
          <a:noFill/>
          <a:ln w="0">
            <a:noFill/>
            <a:prstDash val="solid"/>
          </a:ln>
        </p:spPr>
        <p:txBody>
          <a:bodyPr/>
          <a:lstStyle/>
          <a:p>
            <a:pPr algn="l">
              <a:defRPr sz="1200" b="0">
                <a:solidFill>
                  <a:srgbClr val="35445B"/>
                </a:solidFill>
              </a:defRPr>
            </a:pPr>
            <a:r>
              <a:rPr sz="1200" b="0">
                <a:solidFill>
                  <a:srgbClr val="35445B"/>
                </a:solidFill>
              </a:rPr>
              <a:t>109 experiments</a:t>
            </a:r>
          </a:p>
        </p:txBody>
      </p:sp>
      <p:sp>
        <p:nvSpPr>
          <p:cNvPr id="34" name="Rectangle 33">
            <a:extLst>
              <a:ext uri="{FF2B5EF4-FFF2-40B4-BE49-F238E27FC236}">
                <a16:creationId xmlns:a16="http://schemas.microsoft.com/office/drawing/2014/main" id="{EC3A99B4-9DC4-455D-8FD3-035EA102F8A1}"/>
              </a:ext>
            </a:extLst>
          </p:cNvPr>
          <p:cNvSpPr>
            <a:spLocks noGrp="1"/>
          </p:cNvSpPr>
          <p:nvPr/>
        </p:nvSpPr>
        <p:spPr>
          <a:xfrm>
            <a:off x="9525000" y="2686050"/>
            <a:ext cx="2286000" cy="723900"/>
          </a:xfrm>
          <a:prstGeom prst="rect">
            <a:avLst/>
          </a:prstGeom>
          <a:solidFill>
            <a:srgbClr val="F4F6F9"/>
          </a:solidFill>
          <a:ln w="9525">
            <a:solidFill>
              <a:srgbClr val="D8DEE8"/>
            </a:solidFill>
            <a:prstDash val="solid"/>
          </a:ln>
        </p:spPr>
        <p:txBody>
          <a:bodyPr/>
          <a:lstStyle/>
          <a:p>
            <a:endParaRPr lang="en-IN"/>
          </a:p>
        </p:txBody>
      </p:sp>
      <p:sp>
        <p:nvSpPr>
          <p:cNvPr id="35" name="Rectangle 34">
            <a:extLst>
              <a:ext uri="{FF2B5EF4-FFF2-40B4-BE49-F238E27FC236}">
                <a16:creationId xmlns:a16="http://schemas.microsoft.com/office/drawing/2014/main" id="{4F209065-A2B7-449C-A43A-B8CEAC633C67}"/>
              </a:ext>
            </a:extLst>
          </p:cNvPr>
          <p:cNvSpPr>
            <a:spLocks noGrp="1"/>
          </p:cNvSpPr>
          <p:nvPr/>
        </p:nvSpPr>
        <p:spPr>
          <a:xfrm>
            <a:off x="9620250" y="2752725"/>
            <a:ext cx="2095500" cy="628650"/>
          </a:xfrm>
          <a:prstGeom prst="rect">
            <a:avLst/>
          </a:prstGeom>
          <a:noFill/>
          <a:ln w="0">
            <a:noFill/>
            <a:prstDash val="solid"/>
          </a:ln>
        </p:spPr>
        <p:txBody>
          <a:bodyPr/>
          <a:lstStyle/>
          <a:p>
            <a:pPr algn="l">
              <a:defRPr sz="1200" b="0">
                <a:solidFill>
                  <a:srgbClr val="35445B"/>
                </a:solidFill>
              </a:defRPr>
            </a:pPr>
            <a:r>
              <a:rPr sz="1200" b="0">
                <a:solidFill>
                  <a:srgbClr val="35445B"/>
                </a:solidFill>
              </a:rPr>
              <a:t>Session inputs</a:t>
            </a:r>
          </a:p>
        </p:txBody>
      </p:sp>
      <p:sp>
        <p:nvSpPr>
          <p:cNvPr id="36" name="Rectangle 35">
            <a:extLst>
              <a:ext uri="{FF2B5EF4-FFF2-40B4-BE49-F238E27FC236}">
                <a16:creationId xmlns:a16="http://schemas.microsoft.com/office/drawing/2014/main" id="{F7DFE42B-6A1A-476A-959E-71EC7A894AFD}"/>
              </a:ext>
            </a:extLst>
          </p:cNvPr>
          <p:cNvSpPr>
            <a:spLocks noGrp="1"/>
          </p:cNvSpPr>
          <p:nvPr/>
        </p:nvSpPr>
        <p:spPr>
          <a:xfrm>
            <a:off x="381000" y="3409950"/>
            <a:ext cx="1619250" cy="723900"/>
          </a:xfrm>
          <a:prstGeom prst="rect">
            <a:avLst/>
          </a:prstGeom>
          <a:solidFill>
            <a:srgbClr val="FFFFFF"/>
          </a:solidFill>
          <a:ln w="9525">
            <a:solidFill>
              <a:srgbClr val="D8DEE8"/>
            </a:solidFill>
            <a:prstDash val="solid"/>
          </a:ln>
        </p:spPr>
        <p:txBody>
          <a:bodyPr/>
          <a:lstStyle/>
          <a:p>
            <a:endParaRPr lang="en-IN"/>
          </a:p>
        </p:txBody>
      </p:sp>
      <p:sp>
        <p:nvSpPr>
          <p:cNvPr id="37" name="Rectangle 36">
            <a:extLst>
              <a:ext uri="{FF2B5EF4-FFF2-40B4-BE49-F238E27FC236}">
                <a16:creationId xmlns:a16="http://schemas.microsoft.com/office/drawing/2014/main" id="{2AB48188-79A6-4A65-80C3-0E04110D9F65}"/>
              </a:ext>
            </a:extLst>
          </p:cNvPr>
          <p:cNvSpPr>
            <a:spLocks noGrp="1"/>
          </p:cNvSpPr>
          <p:nvPr/>
        </p:nvSpPr>
        <p:spPr>
          <a:xfrm>
            <a:off x="476250" y="3476625"/>
            <a:ext cx="1428750" cy="628650"/>
          </a:xfrm>
          <a:prstGeom prst="rect">
            <a:avLst/>
          </a:prstGeom>
          <a:noFill/>
          <a:ln w="0">
            <a:noFill/>
            <a:prstDash val="solid"/>
          </a:ln>
        </p:spPr>
        <p:txBody>
          <a:bodyPr/>
          <a:lstStyle/>
          <a:p>
            <a:pPr algn="l">
              <a:defRPr sz="1200" b="1">
                <a:solidFill>
                  <a:srgbClr val="132033"/>
                </a:solidFill>
              </a:defRPr>
            </a:pPr>
            <a:r>
              <a:rPr sz="1200" b="1">
                <a:solidFill>
                  <a:srgbClr val="132033"/>
                </a:solidFill>
              </a:rPr>
              <a:t>State complexity</a:t>
            </a:r>
          </a:p>
        </p:txBody>
      </p:sp>
      <p:sp>
        <p:nvSpPr>
          <p:cNvPr id="38" name="Rectangle 37">
            <a:extLst>
              <a:ext uri="{FF2B5EF4-FFF2-40B4-BE49-F238E27FC236}">
                <a16:creationId xmlns:a16="http://schemas.microsoft.com/office/drawing/2014/main" id="{2A2373C3-F390-40BA-87EC-E3DA774F993D}"/>
              </a:ext>
            </a:extLst>
          </p:cNvPr>
          <p:cNvSpPr>
            <a:spLocks noGrp="1"/>
          </p:cNvSpPr>
          <p:nvPr/>
        </p:nvSpPr>
        <p:spPr>
          <a:xfrm>
            <a:off x="2000250" y="3409950"/>
            <a:ext cx="3048000" cy="723900"/>
          </a:xfrm>
          <a:prstGeom prst="rect">
            <a:avLst/>
          </a:prstGeom>
          <a:solidFill>
            <a:srgbClr val="E8F2F9"/>
          </a:solidFill>
          <a:ln w="9525">
            <a:solidFill>
              <a:srgbClr val="D8DEE8"/>
            </a:solidFill>
            <a:prstDash val="solid"/>
          </a:ln>
        </p:spPr>
        <p:txBody>
          <a:bodyPr/>
          <a:lstStyle/>
          <a:p>
            <a:endParaRPr lang="en-IN"/>
          </a:p>
        </p:txBody>
      </p:sp>
      <p:sp>
        <p:nvSpPr>
          <p:cNvPr id="39" name="Rectangle 38">
            <a:extLst>
              <a:ext uri="{FF2B5EF4-FFF2-40B4-BE49-F238E27FC236}">
                <a16:creationId xmlns:a16="http://schemas.microsoft.com/office/drawing/2014/main" id="{51A39F24-7B9A-4E68-A591-4EDFC65803D0}"/>
              </a:ext>
            </a:extLst>
          </p:cNvPr>
          <p:cNvSpPr>
            <a:spLocks noGrp="1"/>
          </p:cNvSpPr>
          <p:nvPr/>
        </p:nvSpPr>
        <p:spPr>
          <a:xfrm>
            <a:off x="2095500" y="3476625"/>
            <a:ext cx="2857500" cy="628650"/>
          </a:xfrm>
          <a:prstGeom prst="rect">
            <a:avLst/>
          </a:prstGeom>
          <a:noFill/>
          <a:ln w="0">
            <a:noFill/>
            <a:prstDash val="solid"/>
          </a:ln>
        </p:spPr>
        <p:txBody>
          <a:bodyPr/>
          <a:lstStyle/>
          <a:p>
            <a:pPr algn="l">
              <a:defRPr sz="1200" b="1">
                <a:solidFill>
                  <a:srgbClr val="35445B"/>
                </a:solidFill>
              </a:defRPr>
            </a:pPr>
            <a:r>
              <a:rPr sz="1200" b="1">
                <a:solidFill>
                  <a:srgbClr val="35445B"/>
                </a:solidFill>
              </a:rPr>
              <a:t>Supersession graph + parallel chains</a:t>
            </a:r>
          </a:p>
        </p:txBody>
      </p:sp>
      <p:sp>
        <p:nvSpPr>
          <p:cNvPr id="40" name="Rectangle 39">
            <a:extLst>
              <a:ext uri="{FF2B5EF4-FFF2-40B4-BE49-F238E27FC236}">
                <a16:creationId xmlns:a16="http://schemas.microsoft.com/office/drawing/2014/main" id="{FDBF1BF1-ECBE-40F4-B90A-38815B852CA9}"/>
              </a:ext>
            </a:extLst>
          </p:cNvPr>
          <p:cNvSpPr>
            <a:spLocks noGrp="1"/>
          </p:cNvSpPr>
          <p:nvPr/>
        </p:nvSpPr>
        <p:spPr>
          <a:xfrm>
            <a:off x="5048250" y="3409950"/>
            <a:ext cx="2238375" cy="723900"/>
          </a:xfrm>
          <a:prstGeom prst="rect">
            <a:avLst/>
          </a:prstGeom>
          <a:solidFill>
            <a:srgbClr val="FFFFFF"/>
          </a:solidFill>
          <a:ln w="9525">
            <a:solidFill>
              <a:srgbClr val="D8DEE8"/>
            </a:solidFill>
            <a:prstDash val="solid"/>
          </a:ln>
        </p:spPr>
        <p:txBody>
          <a:bodyPr/>
          <a:lstStyle/>
          <a:p>
            <a:endParaRPr lang="en-IN"/>
          </a:p>
        </p:txBody>
      </p:sp>
      <p:sp>
        <p:nvSpPr>
          <p:cNvPr id="41" name="Rectangle 40">
            <a:extLst>
              <a:ext uri="{FF2B5EF4-FFF2-40B4-BE49-F238E27FC236}">
                <a16:creationId xmlns:a16="http://schemas.microsoft.com/office/drawing/2014/main" id="{F469E789-C9DA-47CF-A9AE-0F232620A554}"/>
              </a:ext>
            </a:extLst>
          </p:cNvPr>
          <p:cNvSpPr>
            <a:spLocks noGrp="1"/>
          </p:cNvSpPr>
          <p:nvPr/>
        </p:nvSpPr>
        <p:spPr>
          <a:xfrm>
            <a:off x="5143500" y="3476625"/>
            <a:ext cx="2047875" cy="628650"/>
          </a:xfrm>
          <a:prstGeom prst="rect">
            <a:avLst/>
          </a:prstGeom>
          <a:noFill/>
          <a:ln w="0">
            <a:noFill/>
            <a:prstDash val="solid"/>
          </a:ln>
        </p:spPr>
        <p:txBody>
          <a:bodyPr/>
          <a:lstStyle/>
          <a:p>
            <a:pPr algn="l">
              <a:defRPr sz="1200" b="0">
                <a:solidFill>
                  <a:srgbClr val="35445B"/>
                </a:solidFill>
              </a:defRPr>
            </a:pPr>
            <a:r>
              <a:rPr sz="1200" b="0">
                <a:solidFill>
                  <a:srgbClr val="35445B"/>
                </a:solidFill>
              </a:rPr>
              <a:t>Structured metrics</a:t>
            </a:r>
          </a:p>
        </p:txBody>
      </p:sp>
      <p:sp>
        <p:nvSpPr>
          <p:cNvPr id="42" name="Rectangle 41">
            <a:extLst>
              <a:ext uri="{FF2B5EF4-FFF2-40B4-BE49-F238E27FC236}">
                <a16:creationId xmlns:a16="http://schemas.microsoft.com/office/drawing/2014/main" id="{06B993E9-C320-4FC1-B7BD-A9FA43614B5E}"/>
              </a:ext>
            </a:extLst>
          </p:cNvPr>
          <p:cNvSpPr>
            <a:spLocks noGrp="1"/>
          </p:cNvSpPr>
          <p:nvPr/>
        </p:nvSpPr>
        <p:spPr>
          <a:xfrm>
            <a:off x="7286625" y="3409950"/>
            <a:ext cx="2238375" cy="723900"/>
          </a:xfrm>
          <a:prstGeom prst="rect">
            <a:avLst/>
          </a:prstGeom>
          <a:solidFill>
            <a:srgbClr val="FFFFFF"/>
          </a:solidFill>
          <a:ln w="9525">
            <a:solidFill>
              <a:srgbClr val="D8DEE8"/>
            </a:solidFill>
            <a:prstDash val="solid"/>
          </a:ln>
        </p:spPr>
        <p:txBody>
          <a:bodyPr/>
          <a:lstStyle/>
          <a:p>
            <a:endParaRPr lang="en-IN"/>
          </a:p>
        </p:txBody>
      </p:sp>
      <p:sp>
        <p:nvSpPr>
          <p:cNvPr id="43" name="Rectangle 42">
            <a:extLst>
              <a:ext uri="{FF2B5EF4-FFF2-40B4-BE49-F238E27FC236}">
                <a16:creationId xmlns:a16="http://schemas.microsoft.com/office/drawing/2014/main" id="{C06C2109-2D17-46A1-B5ED-958908C48857}"/>
              </a:ext>
            </a:extLst>
          </p:cNvPr>
          <p:cNvSpPr>
            <a:spLocks noGrp="1"/>
          </p:cNvSpPr>
          <p:nvPr/>
        </p:nvSpPr>
        <p:spPr>
          <a:xfrm>
            <a:off x="7381875" y="3476625"/>
            <a:ext cx="2047875" cy="628650"/>
          </a:xfrm>
          <a:prstGeom prst="rect">
            <a:avLst/>
          </a:prstGeom>
          <a:noFill/>
          <a:ln w="0">
            <a:noFill/>
            <a:prstDash val="solid"/>
          </a:ln>
        </p:spPr>
        <p:txBody>
          <a:bodyPr/>
          <a:lstStyle/>
          <a:p>
            <a:pPr algn="l">
              <a:defRPr sz="1200" b="0">
                <a:solidFill>
                  <a:srgbClr val="35445B"/>
                </a:solidFill>
              </a:defRPr>
            </a:pPr>
            <a:r>
              <a:rPr sz="1200" b="0">
                <a:solidFill>
                  <a:srgbClr val="35445B"/>
                </a:solidFill>
              </a:rPr>
              <a:t>Experiment lifecycle</a:t>
            </a:r>
          </a:p>
        </p:txBody>
      </p:sp>
      <p:sp>
        <p:nvSpPr>
          <p:cNvPr id="44" name="Rectangle 43">
            <a:extLst>
              <a:ext uri="{FF2B5EF4-FFF2-40B4-BE49-F238E27FC236}">
                <a16:creationId xmlns:a16="http://schemas.microsoft.com/office/drawing/2014/main" id="{7033155F-52BC-4D47-A6E8-0D0780EC819B}"/>
              </a:ext>
            </a:extLst>
          </p:cNvPr>
          <p:cNvSpPr>
            <a:spLocks noGrp="1"/>
          </p:cNvSpPr>
          <p:nvPr/>
        </p:nvSpPr>
        <p:spPr>
          <a:xfrm>
            <a:off x="9525000" y="3409950"/>
            <a:ext cx="2286000" cy="723900"/>
          </a:xfrm>
          <a:prstGeom prst="rect">
            <a:avLst/>
          </a:prstGeom>
          <a:solidFill>
            <a:srgbClr val="FFFFFF"/>
          </a:solidFill>
          <a:ln w="9525">
            <a:solidFill>
              <a:srgbClr val="D8DEE8"/>
            </a:solidFill>
            <a:prstDash val="solid"/>
          </a:ln>
        </p:spPr>
        <p:txBody>
          <a:bodyPr/>
          <a:lstStyle/>
          <a:p>
            <a:endParaRPr lang="en-IN"/>
          </a:p>
        </p:txBody>
      </p:sp>
      <p:sp>
        <p:nvSpPr>
          <p:cNvPr id="45" name="Rectangle 44">
            <a:extLst>
              <a:ext uri="{FF2B5EF4-FFF2-40B4-BE49-F238E27FC236}">
                <a16:creationId xmlns:a16="http://schemas.microsoft.com/office/drawing/2014/main" id="{D06E3AA4-1464-4D1F-9935-19C7FEDA1573}"/>
              </a:ext>
            </a:extLst>
          </p:cNvPr>
          <p:cNvSpPr>
            <a:spLocks noGrp="1"/>
          </p:cNvSpPr>
          <p:nvPr/>
        </p:nvSpPr>
        <p:spPr>
          <a:xfrm>
            <a:off x="9620250" y="3476625"/>
            <a:ext cx="2095500" cy="628650"/>
          </a:xfrm>
          <a:prstGeom prst="rect">
            <a:avLst/>
          </a:prstGeom>
          <a:noFill/>
          <a:ln w="0">
            <a:noFill/>
            <a:prstDash val="solid"/>
          </a:ln>
        </p:spPr>
        <p:txBody>
          <a:bodyPr/>
          <a:lstStyle/>
          <a:p>
            <a:pPr algn="l">
              <a:defRPr sz="1200" b="0">
                <a:solidFill>
                  <a:srgbClr val="35445B"/>
                </a:solidFill>
              </a:defRPr>
            </a:pPr>
            <a:r>
              <a:rPr sz="1200" b="0">
                <a:solidFill>
                  <a:srgbClr val="35445B"/>
                </a:solidFill>
              </a:rPr>
              <a:t>Session retrieval</a:t>
            </a:r>
          </a:p>
        </p:txBody>
      </p:sp>
      <p:sp>
        <p:nvSpPr>
          <p:cNvPr id="46" name="Rectangle 45">
            <a:extLst>
              <a:ext uri="{FF2B5EF4-FFF2-40B4-BE49-F238E27FC236}">
                <a16:creationId xmlns:a16="http://schemas.microsoft.com/office/drawing/2014/main" id="{D9E29B67-47B8-4C04-8A4C-75C8E57A8C99}"/>
              </a:ext>
            </a:extLst>
          </p:cNvPr>
          <p:cNvSpPr>
            <a:spLocks noGrp="1"/>
          </p:cNvSpPr>
          <p:nvPr/>
        </p:nvSpPr>
        <p:spPr>
          <a:xfrm>
            <a:off x="381000" y="4133850"/>
            <a:ext cx="1619250" cy="723900"/>
          </a:xfrm>
          <a:prstGeom prst="rect">
            <a:avLst/>
          </a:prstGeom>
          <a:solidFill>
            <a:srgbClr val="F4F6F9"/>
          </a:solidFill>
          <a:ln w="9525">
            <a:solidFill>
              <a:srgbClr val="D8DEE8"/>
            </a:solidFill>
            <a:prstDash val="solid"/>
          </a:ln>
        </p:spPr>
        <p:txBody>
          <a:bodyPr/>
          <a:lstStyle/>
          <a:p>
            <a:endParaRPr lang="en-IN"/>
          </a:p>
        </p:txBody>
      </p:sp>
      <p:sp>
        <p:nvSpPr>
          <p:cNvPr id="47" name="Rectangle 46">
            <a:extLst>
              <a:ext uri="{FF2B5EF4-FFF2-40B4-BE49-F238E27FC236}">
                <a16:creationId xmlns:a16="http://schemas.microsoft.com/office/drawing/2014/main" id="{2531DDE1-D4EF-47FF-9C24-98155FC426E2}"/>
              </a:ext>
            </a:extLst>
          </p:cNvPr>
          <p:cNvSpPr>
            <a:spLocks noGrp="1"/>
          </p:cNvSpPr>
          <p:nvPr/>
        </p:nvSpPr>
        <p:spPr>
          <a:xfrm>
            <a:off x="476250" y="4200525"/>
            <a:ext cx="1428750" cy="628650"/>
          </a:xfrm>
          <a:prstGeom prst="rect">
            <a:avLst/>
          </a:prstGeom>
          <a:noFill/>
          <a:ln w="0">
            <a:noFill/>
            <a:prstDash val="solid"/>
          </a:ln>
        </p:spPr>
        <p:txBody>
          <a:bodyPr/>
          <a:lstStyle/>
          <a:p>
            <a:pPr algn="l">
              <a:defRPr sz="1200" b="1">
                <a:solidFill>
                  <a:srgbClr val="132033"/>
                </a:solidFill>
              </a:defRPr>
            </a:pPr>
            <a:r>
              <a:rPr sz="1200" b="1">
                <a:solidFill>
                  <a:srgbClr val="132033"/>
                </a:solidFill>
              </a:rPr>
              <a:t>Engineering span</a:t>
            </a:r>
          </a:p>
        </p:txBody>
      </p:sp>
      <p:sp>
        <p:nvSpPr>
          <p:cNvPr id="48" name="Rectangle 47">
            <a:extLst>
              <a:ext uri="{FF2B5EF4-FFF2-40B4-BE49-F238E27FC236}">
                <a16:creationId xmlns:a16="http://schemas.microsoft.com/office/drawing/2014/main" id="{88B36705-99E3-466F-BEA3-430C8D1ED1C7}"/>
              </a:ext>
            </a:extLst>
          </p:cNvPr>
          <p:cNvSpPr>
            <a:spLocks noGrp="1"/>
          </p:cNvSpPr>
          <p:nvPr/>
        </p:nvSpPr>
        <p:spPr>
          <a:xfrm>
            <a:off x="2000250" y="4133850"/>
            <a:ext cx="3048000" cy="723900"/>
          </a:xfrm>
          <a:prstGeom prst="rect">
            <a:avLst/>
          </a:prstGeom>
          <a:solidFill>
            <a:srgbClr val="E8F2F9"/>
          </a:solidFill>
          <a:ln w="9525">
            <a:solidFill>
              <a:srgbClr val="D8DEE8"/>
            </a:solidFill>
            <a:prstDash val="solid"/>
          </a:ln>
        </p:spPr>
        <p:txBody>
          <a:bodyPr/>
          <a:lstStyle/>
          <a:p>
            <a:endParaRPr lang="en-IN"/>
          </a:p>
        </p:txBody>
      </p:sp>
      <p:sp>
        <p:nvSpPr>
          <p:cNvPr id="49" name="Rectangle 48">
            <a:extLst>
              <a:ext uri="{FF2B5EF4-FFF2-40B4-BE49-F238E27FC236}">
                <a16:creationId xmlns:a16="http://schemas.microsoft.com/office/drawing/2014/main" id="{C0298668-A0FA-43BD-854A-F4893BAFE3A7}"/>
              </a:ext>
            </a:extLst>
          </p:cNvPr>
          <p:cNvSpPr>
            <a:spLocks noGrp="1"/>
          </p:cNvSpPr>
          <p:nvPr/>
        </p:nvSpPr>
        <p:spPr>
          <a:xfrm>
            <a:off x="2095500" y="4200525"/>
            <a:ext cx="2857500" cy="628650"/>
          </a:xfrm>
          <a:prstGeom prst="rect">
            <a:avLst/>
          </a:prstGeom>
          <a:noFill/>
          <a:ln w="0">
            <a:noFill/>
            <a:prstDash val="solid"/>
          </a:ln>
        </p:spPr>
        <p:txBody>
          <a:bodyPr/>
          <a:lstStyle/>
          <a:p>
            <a:pPr algn="l">
              <a:defRPr sz="1200" b="1">
                <a:solidFill>
                  <a:srgbClr val="35445B"/>
                </a:solidFill>
              </a:defRPr>
            </a:pPr>
            <a:r>
              <a:rPr sz="1200" b="1">
                <a:solidFill>
                  <a:srgbClr val="35445B"/>
                </a:solidFill>
              </a:rPr>
              <a:t>Ingestion → state → retrieval → tools → validation → app</a:t>
            </a:r>
          </a:p>
        </p:txBody>
      </p:sp>
      <p:sp>
        <p:nvSpPr>
          <p:cNvPr id="50" name="Rectangle 49">
            <a:extLst>
              <a:ext uri="{FF2B5EF4-FFF2-40B4-BE49-F238E27FC236}">
                <a16:creationId xmlns:a16="http://schemas.microsoft.com/office/drawing/2014/main" id="{B8F1EB1A-73FA-476C-B375-4FE697BEA455}"/>
              </a:ext>
            </a:extLst>
          </p:cNvPr>
          <p:cNvSpPr>
            <a:spLocks noGrp="1"/>
          </p:cNvSpPr>
          <p:nvPr/>
        </p:nvSpPr>
        <p:spPr>
          <a:xfrm>
            <a:off x="5048250" y="4133850"/>
            <a:ext cx="2238375" cy="723900"/>
          </a:xfrm>
          <a:prstGeom prst="rect">
            <a:avLst/>
          </a:prstGeom>
          <a:solidFill>
            <a:srgbClr val="F4F6F9"/>
          </a:solidFill>
          <a:ln w="9525">
            <a:solidFill>
              <a:srgbClr val="D8DEE8"/>
            </a:solidFill>
            <a:prstDash val="solid"/>
          </a:ln>
        </p:spPr>
        <p:txBody>
          <a:bodyPr/>
          <a:lstStyle/>
          <a:p>
            <a:endParaRPr lang="en-IN"/>
          </a:p>
        </p:txBody>
      </p:sp>
      <p:sp>
        <p:nvSpPr>
          <p:cNvPr id="51" name="Rectangle 50">
            <a:extLst>
              <a:ext uri="{FF2B5EF4-FFF2-40B4-BE49-F238E27FC236}">
                <a16:creationId xmlns:a16="http://schemas.microsoft.com/office/drawing/2014/main" id="{C17A0FF5-7695-46F6-8114-4E9A20BD5900}"/>
              </a:ext>
            </a:extLst>
          </p:cNvPr>
          <p:cNvSpPr>
            <a:spLocks noGrp="1"/>
          </p:cNvSpPr>
          <p:nvPr/>
        </p:nvSpPr>
        <p:spPr>
          <a:xfrm>
            <a:off x="5143500" y="4200525"/>
            <a:ext cx="2047875" cy="628650"/>
          </a:xfrm>
          <a:prstGeom prst="rect">
            <a:avLst/>
          </a:prstGeom>
          <a:noFill/>
          <a:ln w="0">
            <a:noFill/>
            <a:prstDash val="solid"/>
          </a:ln>
        </p:spPr>
        <p:txBody>
          <a:bodyPr/>
          <a:lstStyle/>
          <a:p>
            <a:pPr algn="l">
              <a:defRPr sz="1200" b="0">
                <a:solidFill>
                  <a:srgbClr val="35445B"/>
                </a:solidFill>
              </a:defRPr>
            </a:pPr>
            <a:r>
              <a:rPr sz="1200" b="0">
                <a:solidFill>
                  <a:srgbClr val="35445B"/>
                </a:solidFill>
              </a:rPr>
              <a:t>Metrics + recommendations</a:t>
            </a:r>
          </a:p>
        </p:txBody>
      </p:sp>
      <p:sp>
        <p:nvSpPr>
          <p:cNvPr id="52" name="Rectangle 51">
            <a:extLst>
              <a:ext uri="{FF2B5EF4-FFF2-40B4-BE49-F238E27FC236}">
                <a16:creationId xmlns:a16="http://schemas.microsoft.com/office/drawing/2014/main" id="{93C7E3FC-6B26-45A1-83A3-C6E4A725D9CD}"/>
              </a:ext>
            </a:extLst>
          </p:cNvPr>
          <p:cNvSpPr>
            <a:spLocks noGrp="1"/>
          </p:cNvSpPr>
          <p:nvPr/>
        </p:nvSpPr>
        <p:spPr>
          <a:xfrm>
            <a:off x="7286625" y="4133850"/>
            <a:ext cx="2238375" cy="723900"/>
          </a:xfrm>
          <a:prstGeom prst="rect">
            <a:avLst/>
          </a:prstGeom>
          <a:solidFill>
            <a:srgbClr val="F4F6F9"/>
          </a:solidFill>
          <a:ln w="9525">
            <a:solidFill>
              <a:srgbClr val="D8DEE8"/>
            </a:solidFill>
            <a:prstDash val="solid"/>
          </a:ln>
        </p:spPr>
        <p:txBody>
          <a:bodyPr/>
          <a:lstStyle/>
          <a:p>
            <a:endParaRPr lang="en-IN"/>
          </a:p>
        </p:txBody>
      </p:sp>
      <p:sp>
        <p:nvSpPr>
          <p:cNvPr id="53" name="Rectangle 52">
            <a:extLst>
              <a:ext uri="{FF2B5EF4-FFF2-40B4-BE49-F238E27FC236}">
                <a16:creationId xmlns:a16="http://schemas.microsoft.com/office/drawing/2014/main" id="{2BF98FB7-7E33-4FD8-8692-3C33F1F14D10}"/>
              </a:ext>
            </a:extLst>
          </p:cNvPr>
          <p:cNvSpPr>
            <a:spLocks noGrp="1"/>
          </p:cNvSpPr>
          <p:nvPr/>
        </p:nvSpPr>
        <p:spPr>
          <a:xfrm>
            <a:off x="7381875" y="4200525"/>
            <a:ext cx="2047875" cy="628650"/>
          </a:xfrm>
          <a:prstGeom prst="rect">
            <a:avLst/>
          </a:prstGeom>
          <a:noFill/>
          <a:ln w="0">
            <a:noFill/>
            <a:prstDash val="solid"/>
          </a:ln>
        </p:spPr>
        <p:txBody>
          <a:bodyPr/>
          <a:lstStyle/>
          <a:p>
            <a:pPr algn="l">
              <a:defRPr sz="1200" b="0">
                <a:solidFill>
                  <a:srgbClr val="35445B"/>
                </a:solidFill>
              </a:defRPr>
            </a:pPr>
            <a:r>
              <a:rPr sz="1200" b="0">
                <a:solidFill>
                  <a:srgbClr val="35445B"/>
                </a:solidFill>
              </a:rPr>
              <a:t>6 modules</a:t>
            </a:r>
          </a:p>
        </p:txBody>
      </p:sp>
      <p:sp>
        <p:nvSpPr>
          <p:cNvPr id="54" name="Rectangle 53">
            <a:extLst>
              <a:ext uri="{FF2B5EF4-FFF2-40B4-BE49-F238E27FC236}">
                <a16:creationId xmlns:a16="http://schemas.microsoft.com/office/drawing/2014/main" id="{5675144C-B66C-42BD-8522-7EE3218D4697}"/>
              </a:ext>
            </a:extLst>
          </p:cNvPr>
          <p:cNvSpPr>
            <a:spLocks noGrp="1"/>
          </p:cNvSpPr>
          <p:nvPr/>
        </p:nvSpPr>
        <p:spPr>
          <a:xfrm>
            <a:off x="9525000" y="4133850"/>
            <a:ext cx="2286000" cy="723900"/>
          </a:xfrm>
          <a:prstGeom prst="rect">
            <a:avLst/>
          </a:prstGeom>
          <a:solidFill>
            <a:srgbClr val="F4F6F9"/>
          </a:solidFill>
          <a:ln w="9525">
            <a:solidFill>
              <a:srgbClr val="D8DEE8"/>
            </a:solidFill>
            <a:prstDash val="solid"/>
          </a:ln>
        </p:spPr>
        <p:txBody>
          <a:bodyPr/>
          <a:lstStyle/>
          <a:p>
            <a:endParaRPr lang="en-IN"/>
          </a:p>
        </p:txBody>
      </p:sp>
      <p:sp>
        <p:nvSpPr>
          <p:cNvPr id="55" name="Rectangle 54">
            <a:extLst>
              <a:ext uri="{FF2B5EF4-FFF2-40B4-BE49-F238E27FC236}">
                <a16:creationId xmlns:a16="http://schemas.microsoft.com/office/drawing/2014/main" id="{FE844468-09AB-490B-8224-CE1FD63AB397}"/>
              </a:ext>
            </a:extLst>
          </p:cNvPr>
          <p:cNvSpPr>
            <a:spLocks noGrp="1"/>
          </p:cNvSpPr>
          <p:nvPr/>
        </p:nvSpPr>
        <p:spPr>
          <a:xfrm>
            <a:off x="9620250" y="4200525"/>
            <a:ext cx="2095500" cy="628650"/>
          </a:xfrm>
          <a:prstGeom prst="rect">
            <a:avLst/>
          </a:prstGeom>
          <a:noFill/>
          <a:ln w="0">
            <a:noFill/>
            <a:prstDash val="solid"/>
          </a:ln>
        </p:spPr>
        <p:txBody>
          <a:bodyPr/>
          <a:lstStyle/>
          <a:p>
            <a:pPr algn="l">
              <a:defRPr sz="1200" b="0">
                <a:solidFill>
                  <a:srgbClr val="35445B"/>
                </a:solidFill>
              </a:defRPr>
            </a:pPr>
            <a:r>
              <a:rPr sz="1200" b="0">
                <a:solidFill>
                  <a:srgbClr val="35445B"/>
                </a:solidFill>
              </a:rPr>
              <a:t>RAG/NL2SQL + 8 tools</a:t>
            </a:r>
          </a:p>
        </p:txBody>
      </p:sp>
      <p:sp>
        <p:nvSpPr>
          <p:cNvPr id="56" name="Rectangle 55">
            <a:extLst>
              <a:ext uri="{FF2B5EF4-FFF2-40B4-BE49-F238E27FC236}">
                <a16:creationId xmlns:a16="http://schemas.microsoft.com/office/drawing/2014/main" id="{13B66C16-32FC-4AAE-9595-36EDEE4FB739}"/>
              </a:ext>
            </a:extLst>
          </p:cNvPr>
          <p:cNvSpPr>
            <a:spLocks noGrp="1"/>
          </p:cNvSpPr>
          <p:nvPr/>
        </p:nvSpPr>
        <p:spPr>
          <a:xfrm>
            <a:off x="381000" y="4857750"/>
            <a:ext cx="1619250" cy="723900"/>
          </a:xfrm>
          <a:prstGeom prst="rect">
            <a:avLst/>
          </a:prstGeom>
          <a:solidFill>
            <a:srgbClr val="FFFFFF"/>
          </a:solidFill>
          <a:ln w="9525">
            <a:solidFill>
              <a:srgbClr val="D8DEE8"/>
            </a:solidFill>
            <a:prstDash val="solid"/>
          </a:ln>
        </p:spPr>
        <p:txBody>
          <a:bodyPr/>
          <a:lstStyle/>
          <a:p>
            <a:endParaRPr lang="en-IN"/>
          </a:p>
        </p:txBody>
      </p:sp>
      <p:sp>
        <p:nvSpPr>
          <p:cNvPr id="57" name="Rectangle 56">
            <a:extLst>
              <a:ext uri="{FF2B5EF4-FFF2-40B4-BE49-F238E27FC236}">
                <a16:creationId xmlns:a16="http://schemas.microsoft.com/office/drawing/2014/main" id="{572DEB19-14A5-4E13-A2D9-245CE3DA91AC}"/>
              </a:ext>
            </a:extLst>
          </p:cNvPr>
          <p:cNvSpPr>
            <a:spLocks noGrp="1"/>
          </p:cNvSpPr>
          <p:nvPr/>
        </p:nvSpPr>
        <p:spPr>
          <a:xfrm>
            <a:off x="476250" y="4924425"/>
            <a:ext cx="1428750" cy="628650"/>
          </a:xfrm>
          <a:prstGeom prst="rect">
            <a:avLst/>
          </a:prstGeom>
          <a:noFill/>
          <a:ln w="0">
            <a:noFill/>
            <a:prstDash val="solid"/>
          </a:ln>
        </p:spPr>
        <p:txBody>
          <a:bodyPr/>
          <a:lstStyle/>
          <a:p>
            <a:pPr algn="l">
              <a:defRPr sz="1200" b="1">
                <a:solidFill>
                  <a:srgbClr val="132033"/>
                </a:solidFill>
              </a:defRPr>
            </a:pPr>
            <a:r>
              <a:rPr sz="1200" b="1">
                <a:solidFill>
                  <a:srgbClr val="132033"/>
                </a:solidFill>
              </a:rPr>
              <a:t>Trust requirement</a:t>
            </a:r>
          </a:p>
        </p:txBody>
      </p:sp>
      <p:sp>
        <p:nvSpPr>
          <p:cNvPr id="58" name="Rectangle 57">
            <a:extLst>
              <a:ext uri="{FF2B5EF4-FFF2-40B4-BE49-F238E27FC236}">
                <a16:creationId xmlns:a16="http://schemas.microsoft.com/office/drawing/2014/main" id="{D6A3B855-5B54-4DB8-A1F0-949B7586ED5E}"/>
              </a:ext>
            </a:extLst>
          </p:cNvPr>
          <p:cNvSpPr>
            <a:spLocks noGrp="1"/>
          </p:cNvSpPr>
          <p:nvPr/>
        </p:nvSpPr>
        <p:spPr>
          <a:xfrm>
            <a:off x="2000250" y="4857750"/>
            <a:ext cx="3048000" cy="723900"/>
          </a:xfrm>
          <a:prstGeom prst="rect">
            <a:avLst/>
          </a:prstGeom>
          <a:solidFill>
            <a:srgbClr val="E8F2F9"/>
          </a:solidFill>
          <a:ln w="9525">
            <a:solidFill>
              <a:srgbClr val="D8DEE8"/>
            </a:solidFill>
            <a:prstDash val="solid"/>
          </a:ln>
        </p:spPr>
        <p:txBody>
          <a:bodyPr/>
          <a:lstStyle/>
          <a:p>
            <a:endParaRPr lang="en-IN"/>
          </a:p>
        </p:txBody>
      </p:sp>
      <p:sp>
        <p:nvSpPr>
          <p:cNvPr id="59" name="Rectangle 58">
            <a:extLst>
              <a:ext uri="{FF2B5EF4-FFF2-40B4-BE49-F238E27FC236}">
                <a16:creationId xmlns:a16="http://schemas.microsoft.com/office/drawing/2014/main" id="{4EE263E0-E0CB-4F5C-91E4-D5C789FC81C4}"/>
              </a:ext>
            </a:extLst>
          </p:cNvPr>
          <p:cNvSpPr>
            <a:spLocks noGrp="1"/>
          </p:cNvSpPr>
          <p:nvPr/>
        </p:nvSpPr>
        <p:spPr>
          <a:xfrm>
            <a:off x="2095500" y="4924425"/>
            <a:ext cx="2857500" cy="628650"/>
          </a:xfrm>
          <a:prstGeom prst="rect">
            <a:avLst/>
          </a:prstGeom>
          <a:noFill/>
          <a:ln w="0">
            <a:noFill/>
            <a:prstDash val="solid"/>
          </a:ln>
        </p:spPr>
        <p:txBody>
          <a:bodyPr/>
          <a:lstStyle/>
          <a:p>
            <a:pPr algn="l">
              <a:defRPr sz="1200" b="1">
                <a:solidFill>
                  <a:srgbClr val="35445B"/>
                </a:solidFill>
              </a:defRPr>
            </a:pPr>
            <a:r>
              <a:rPr sz="1200" b="1">
                <a:solidFill>
                  <a:srgbClr val="35445B"/>
                </a:solidFill>
              </a:rPr>
              <a:t>5 data gates + layered answer validation</a:t>
            </a:r>
          </a:p>
        </p:txBody>
      </p:sp>
      <p:sp>
        <p:nvSpPr>
          <p:cNvPr id="60" name="Rectangle 59">
            <a:extLst>
              <a:ext uri="{FF2B5EF4-FFF2-40B4-BE49-F238E27FC236}">
                <a16:creationId xmlns:a16="http://schemas.microsoft.com/office/drawing/2014/main" id="{FCAECBB0-ABF6-4DBA-B2E4-4EA545B3D0C5}"/>
              </a:ext>
            </a:extLst>
          </p:cNvPr>
          <p:cNvSpPr>
            <a:spLocks noGrp="1"/>
          </p:cNvSpPr>
          <p:nvPr/>
        </p:nvSpPr>
        <p:spPr>
          <a:xfrm>
            <a:off x="5048250" y="4857750"/>
            <a:ext cx="2238375" cy="723900"/>
          </a:xfrm>
          <a:prstGeom prst="rect">
            <a:avLst/>
          </a:prstGeom>
          <a:solidFill>
            <a:srgbClr val="FFFFFF"/>
          </a:solidFill>
          <a:ln w="9525">
            <a:solidFill>
              <a:srgbClr val="D8DEE8"/>
            </a:solidFill>
            <a:prstDash val="solid"/>
          </a:ln>
        </p:spPr>
        <p:txBody>
          <a:bodyPr/>
          <a:lstStyle/>
          <a:p>
            <a:endParaRPr lang="en-IN"/>
          </a:p>
        </p:txBody>
      </p:sp>
      <p:sp>
        <p:nvSpPr>
          <p:cNvPr id="61" name="Rectangle 60">
            <a:extLst>
              <a:ext uri="{FF2B5EF4-FFF2-40B4-BE49-F238E27FC236}">
                <a16:creationId xmlns:a16="http://schemas.microsoft.com/office/drawing/2014/main" id="{B149DF83-D9E6-43F7-9712-4F3D6C0E00CF}"/>
              </a:ext>
            </a:extLst>
          </p:cNvPr>
          <p:cNvSpPr>
            <a:spLocks noGrp="1"/>
          </p:cNvSpPr>
          <p:nvPr/>
        </p:nvSpPr>
        <p:spPr>
          <a:xfrm>
            <a:off x="5143500" y="4924425"/>
            <a:ext cx="2047875" cy="628650"/>
          </a:xfrm>
          <a:prstGeom prst="rect">
            <a:avLst/>
          </a:prstGeom>
          <a:noFill/>
          <a:ln w="0">
            <a:noFill/>
            <a:prstDash val="solid"/>
          </a:ln>
        </p:spPr>
        <p:txBody>
          <a:bodyPr/>
          <a:lstStyle/>
          <a:p>
            <a:pPr algn="l">
              <a:defRPr sz="1200" b="0">
                <a:solidFill>
                  <a:srgbClr val="35445B"/>
                </a:solidFill>
              </a:defRPr>
            </a:pPr>
            <a:r>
              <a:rPr sz="1200" b="0">
                <a:solidFill>
                  <a:srgbClr val="35445B"/>
                </a:solidFill>
              </a:rPr>
              <a:t>Operational validation</a:t>
            </a:r>
          </a:p>
        </p:txBody>
      </p:sp>
      <p:sp>
        <p:nvSpPr>
          <p:cNvPr id="62" name="Rectangle 61">
            <a:extLst>
              <a:ext uri="{FF2B5EF4-FFF2-40B4-BE49-F238E27FC236}">
                <a16:creationId xmlns:a16="http://schemas.microsoft.com/office/drawing/2014/main" id="{AE9B4A69-4A70-4003-A126-B38AD562E373}"/>
              </a:ext>
            </a:extLst>
          </p:cNvPr>
          <p:cNvSpPr>
            <a:spLocks noGrp="1"/>
          </p:cNvSpPr>
          <p:nvPr/>
        </p:nvSpPr>
        <p:spPr>
          <a:xfrm>
            <a:off x="7286625" y="4857750"/>
            <a:ext cx="2238375" cy="723900"/>
          </a:xfrm>
          <a:prstGeom prst="rect">
            <a:avLst/>
          </a:prstGeom>
          <a:solidFill>
            <a:srgbClr val="FFFFFF"/>
          </a:solidFill>
          <a:ln w="9525">
            <a:solidFill>
              <a:srgbClr val="D8DEE8"/>
            </a:solidFill>
            <a:prstDash val="solid"/>
          </a:ln>
        </p:spPr>
        <p:txBody>
          <a:bodyPr/>
          <a:lstStyle/>
          <a:p>
            <a:endParaRPr lang="en-IN"/>
          </a:p>
        </p:txBody>
      </p:sp>
      <p:sp>
        <p:nvSpPr>
          <p:cNvPr id="63" name="Rectangle 62">
            <a:extLst>
              <a:ext uri="{FF2B5EF4-FFF2-40B4-BE49-F238E27FC236}">
                <a16:creationId xmlns:a16="http://schemas.microsoft.com/office/drawing/2014/main" id="{BF4A65C7-6401-42BA-BB4D-92935BC2F00D}"/>
              </a:ext>
            </a:extLst>
          </p:cNvPr>
          <p:cNvSpPr>
            <a:spLocks noGrp="1"/>
          </p:cNvSpPr>
          <p:nvPr/>
        </p:nvSpPr>
        <p:spPr>
          <a:xfrm>
            <a:off x="7381875" y="4924425"/>
            <a:ext cx="2047875" cy="628650"/>
          </a:xfrm>
          <a:prstGeom prst="rect">
            <a:avLst/>
          </a:prstGeom>
          <a:noFill/>
          <a:ln w="0">
            <a:noFill/>
            <a:prstDash val="solid"/>
          </a:ln>
        </p:spPr>
        <p:txBody>
          <a:bodyPr/>
          <a:lstStyle/>
          <a:p>
            <a:pPr algn="l">
              <a:defRPr sz="1200" b="0">
                <a:solidFill>
                  <a:srgbClr val="35445B"/>
                </a:solidFill>
              </a:defRPr>
            </a:pPr>
            <a:r>
              <a:rPr sz="1200" b="0">
                <a:solidFill>
                  <a:srgbClr val="35445B"/>
                </a:solidFill>
              </a:rPr>
              <a:t>Reporting QC</a:t>
            </a:r>
          </a:p>
        </p:txBody>
      </p:sp>
      <p:sp>
        <p:nvSpPr>
          <p:cNvPr id="64" name="Rectangle 63">
            <a:extLst>
              <a:ext uri="{FF2B5EF4-FFF2-40B4-BE49-F238E27FC236}">
                <a16:creationId xmlns:a16="http://schemas.microsoft.com/office/drawing/2014/main" id="{3C178DD7-E417-4CA9-A9C7-41132E2C52CC}"/>
              </a:ext>
            </a:extLst>
          </p:cNvPr>
          <p:cNvSpPr>
            <a:spLocks noGrp="1"/>
          </p:cNvSpPr>
          <p:nvPr/>
        </p:nvSpPr>
        <p:spPr>
          <a:xfrm>
            <a:off x="9525000" y="4857750"/>
            <a:ext cx="2286000" cy="723900"/>
          </a:xfrm>
          <a:prstGeom prst="rect">
            <a:avLst/>
          </a:prstGeom>
          <a:solidFill>
            <a:srgbClr val="FFFFFF"/>
          </a:solidFill>
          <a:ln w="9525">
            <a:solidFill>
              <a:srgbClr val="D8DEE8"/>
            </a:solidFill>
            <a:prstDash val="solid"/>
          </a:ln>
        </p:spPr>
        <p:txBody>
          <a:bodyPr/>
          <a:lstStyle/>
          <a:p>
            <a:endParaRPr lang="en-IN"/>
          </a:p>
        </p:txBody>
      </p:sp>
      <p:sp>
        <p:nvSpPr>
          <p:cNvPr id="65" name="Rectangle 64">
            <a:extLst>
              <a:ext uri="{FF2B5EF4-FFF2-40B4-BE49-F238E27FC236}">
                <a16:creationId xmlns:a16="http://schemas.microsoft.com/office/drawing/2014/main" id="{AED831FC-4E86-4195-B2FE-4DC8DA1C3E1B}"/>
              </a:ext>
            </a:extLst>
          </p:cNvPr>
          <p:cNvSpPr>
            <a:spLocks noGrp="1"/>
          </p:cNvSpPr>
          <p:nvPr/>
        </p:nvSpPr>
        <p:spPr>
          <a:xfrm>
            <a:off x="9620250" y="4924425"/>
            <a:ext cx="2095500" cy="628650"/>
          </a:xfrm>
          <a:prstGeom prst="rect">
            <a:avLst/>
          </a:prstGeom>
          <a:noFill/>
          <a:ln w="0">
            <a:noFill/>
            <a:prstDash val="solid"/>
          </a:ln>
        </p:spPr>
        <p:txBody>
          <a:bodyPr/>
          <a:lstStyle/>
          <a:p>
            <a:pPr algn="l">
              <a:defRPr sz="1200" b="0">
                <a:solidFill>
                  <a:srgbClr val="35445B"/>
                </a:solidFill>
              </a:defRPr>
            </a:pPr>
            <a:r>
              <a:rPr sz="1200" b="0">
                <a:solidFill>
                  <a:srgbClr val="35445B"/>
                </a:solidFill>
              </a:rPr>
              <a:t>Conversational controls</a:t>
            </a:r>
          </a:p>
        </p:txBody>
      </p:sp>
      <p:sp>
        <p:nvSpPr>
          <p:cNvPr id="66" name="Rectangle: Rounded Corners 65">
            <a:extLst>
              <a:ext uri="{FF2B5EF4-FFF2-40B4-BE49-F238E27FC236}">
                <a16:creationId xmlns:a16="http://schemas.microsoft.com/office/drawing/2014/main" id="{A656ACC4-C53C-438B-A833-B49EC3DF8A01}"/>
              </a:ext>
            </a:extLst>
          </p:cNvPr>
          <p:cNvSpPr>
            <a:spLocks noGrp="1"/>
          </p:cNvSpPr>
          <p:nvPr/>
        </p:nvSpPr>
        <p:spPr>
          <a:xfrm>
            <a:off x="971550" y="5829300"/>
            <a:ext cx="10248900" cy="514350"/>
          </a:xfrm>
          <a:prstGeom prst="roundRect">
            <a:avLst>
              <a:gd name="adj" fmla="val 7407"/>
            </a:avLst>
          </a:prstGeom>
          <a:solidFill>
            <a:srgbClr val="FBEDED"/>
          </a:solidFill>
          <a:ln w="9525">
            <a:solidFill>
              <a:srgbClr val="C74343"/>
            </a:solidFill>
            <a:prstDash val="solid"/>
          </a:ln>
        </p:spPr>
        <p:txBody>
          <a:bodyPr/>
          <a:lstStyle/>
          <a:p>
            <a:endParaRPr lang="en-IN"/>
          </a:p>
        </p:txBody>
      </p:sp>
      <p:sp>
        <p:nvSpPr>
          <p:cNvPr id="67" name="Rectangle 66">
            <a:extLst>
              <a:ext uri="{FF2B5EF4-FFF2-40B4-BE49-F238E27FC236}">
                <a16:creationId xmlns:a16="http://schemas.microsoft.com/office/drawing/2014/main" id="{2822F14E-8C76-4FB3-B8AE-04F2E5AF94E3}"/>
              </a:ext>
            </a:extLst>
          </p:cNvPr>
          <p:cNvSpPr>
            <a:spLocks noGrp="1"/>
          </p:cNvSpPr>
          <p:nvPr/>
        </p:nvSpPr>
        <p:spPr>
          <a:xfrm>
            <a:off x="971550" y="5829300"/>
            <a:ext cx="57150" cy="514350"/>
          </a:xfrm>
          <a:prstGeom prst="rect">
            <a:avLst/>
          </a:prstGeom>
          <a:solidFill>
            <a:srgbClr val="C74343"/>
          </a:solidFill>
          <a:ln w="0">
            <a:noFill/>
            <a:prstDash val="solid"/>
          </a:ln>
        </p:spPr>
        <p:txBody>
          <a:bodyPr/>
          <a:lstStyle/>
          <a:p>
            <a:endParaRPr lang="en-IN"/>
          </a:p>
        </p:txBody>
      </p:sp>
      <p:sp>
        <p:nvSpPr>
          <p:cNvPr id="68" name="Rectangle 67">
            <a:extLst>
              <a:ext uri="{FF2B5EF4-FFF2-40B4-BE49-F238E27FC236}">
                <a16:creationId xmlns:a16="http://schemas.microsoft.com/office/drawing/2014/main" id="{B1CADA54-5106-4D98-9DA9-26861FBC2A08}"/>
              </a:ext>
            </a:extLst>
          </p:cNvPr>
          <p:cNvSpPr>
            <a:spLocks noGrp="1"/>
          </p:cNvSpPr>
          <p:nvPr/>
        </p:nvSpPr>
        <p:spPr>
          <a:xfrm>
            <a:off x="1181100" y="5953125"/>
            <a:ext cx="9886950" cy="342900"/>
          </a:xfrm>
          <a:prstGeom prst="rect">
            <a:avLst/>
          </a:prstGeom>
          <a:noFill/>
          <a:ln w="0">
            <a:noFill/>
            <a:prstDash val="solid"/>
          </a:ln>
        </p:spPr>
        <p:txBody>
          <a:bodyPr/>
          <a:lstStyle/>
          <a:p>
            <a:pPr algn="l">
              <a:defRPr sz="1275" b="1">
                <a:solidFill>
                  <a:srgbClr val="132033"/>
                </a:solidFill>
              </a:defRPr>
            </a:pPr>
            <a:r>
              <a:rPr sz="1275" b="1">
                <a:solidFill>
                  <a:srgbClr val="132033"/>
                </a:solidFill>
              </a:rPr>
              <a:t>Other finalists optimize valuable workflows; CIP builds the complete document-to-decision intelligence system.</a:t>
            </a:r>
          </a:p>
        </p:txBody>
      </p:sp>
    </p:spTree>
    <p:extLst>
      <p:ext uri="{BB962C8B-B14F-4D97-AF65-F5344CB8AC3E}">
        <p14:creationId xmlns:p14="http://schemas.microsoft.com/office/powerpoint/2010/main" val="12189895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 name="section">
            <a:extLst>
              <a:ext uri="{FF2B5EF4-FFF2-40B4-BE49-F238E27FC236}">
                <a16:creationId xmlns:a16="http://schemas.microsoft.com/office/drawing/2014/main" id="{A0FA34A8-3E5C-4D4A-AA7C-82E5ABEE103F}"/>
              </a:ext>
            </a:extLst>
          </p:cNvPr>
          <p:cNvSpPr>
            <a:spLocks noGrp="1"/>
          </p:cNvSpPr>
          <p:nvPr/>
        </p:nvSpPr>
        <p:spPr>
          <a:xfrm>
            <a:off x="457200" y="209550"/>
            <a:ext cx="6858000" cy="190500"/>
          </a:xfrm>
          <a:prstGeom prst="rect">
            <a:avLst/>
          </a:prstGeom>
          <a:noFill/>
          <a:ln w="0">
            <a:noFill/>
            <a:prstDash val="solid"/>
          </a:ln>
        </p:spPr>
        <p:txBody>
          <a:bodyPr/>
          <a:lstStyle/>
          <a:p>
            <a:pPr algn="l">
              <a:defRPr sz="825" b="1">
                <a:solidFill>
                  <a:srgbClr val="C74343"/>
                </a:solidFill>
              </a:defRPr>
            </a:pPr>
            <a:r>
              <a:rPr sz="825" b="1">
                <a:solidFill>
                  <a:srgbClr val="C74343"/>
                </a:solidFill>
              </a:rPr>
              <a:t>WHY THIS PROJECT STANDS OUT</a:t>
            </a:r>
          </a:p>
        </p:txBody>
      </p:sp>
      <p:sp>
        <p:nvSpPr>
          <p:cNvPr id="2" name="slide-title">
            <a:extLst>
              <a:ext uri="{FF2B5EF4-FFF2-40B4-BE49-F238E27FC236}">
                <a16:creationId xmlns:a16="http://schemas.microsoft.com/office/drawing/2014/main" id="{79B15CF7-9215-4F0C-ACB4-575712412684}"/>
              </a:ext>
            </a:extLst>
          </p:cNvPr>
          <p:cNvSpPr>
            <a:spLocks noGrp="1"/>
          </p:cNvSpPr>
          <p:nvPr/>
        </p:nvSpPr>
        <p:spPr>
          <a:xfrm>
            <a:off x="457200" y="457200"/>
            <a:ext cx="11220450" cy="457200"/>
          </a:xfrm>
          <a:prstGeom prst="rect">
            <a:avLst/>
          </a:prstGeom>
          <a:noFill/>
          <a:ln w="0">
            <a:noFill/>
            <a:prstDash val="solid"/>
          </a:ln>
        </p:spPr>
        <p:txBody>
          <a:bodyPr/>
          <a:lstStyle/>
          <a:p>
            <a:pPr algn="l">
              <a:defRPr sz="2625" b="1">
                <a:solidFill>
                  <a:srgbClr val="132033"/>
                </a:solidFill>
              </a:defRPr>
            </a:pPr>
            <a:r>
              <a:rPr sz="2625" b="1">
                <a:solidFill>
                  <a:srgbClr val="132033"/>
                </a:solidFill>
              </a:rPr>
              <a:t>Three breakthroughs put CIP in a different category</a:t>
            </a:r>
          </a:p>
        </p:txBody>
      </p:sp>
      <p:sp>
        <p:nvSpPr>
          <p:cNvPr id="3" name="Rectangle 2">
            <a:extLst>
              <a:ext uri="{FF2B5EF4-FFF2-40B4-BE49-F238E27FC236}">
                <a16:creationId xmlns:a16="http://schemas.microsoft.com/office/drawing/2014/main" id="{C709AA12-FA80-4A29-BFC4-AADF0B74C0DB}"/>
              </a:ext>
            </a:extLst>
          </p:cNvPr>
          <p:cNvSpPr>
            <a:spLocks noGrp="1"/>
          </p:cNvSpPr>
          <p:nvPr/>
        </p:nvSpPr>
        <p:spPr>
          <a:xfrm>
            <a:off x="457200" y="990600"/>
            <a:ext cx="11277600" cy="9525"/>
          </a:xfrm>
          <a:prstGeom prst="rect">
            <a:avLst/>
          </a:prstGeom>
          <a:solidFill>
            <a:srgbClr val="D8DEE8"/>
          </a:solidFill>
          <a:ln w="0">
            <a:noFill/>
            <a:prstDash val="solid"/>
          </a:ln>
        </p:spPr>
        <p:txBody>
          <a:bodyPr/>
          <a:lstStyle/>
          <a:p>
            <a:endParaRPr lang="en-IN"/>
          </a:p>
        </p:txBody>
      </p:sp>
      <p:sp>
        <p:nvSpPr>
          <p:cNvPr id="4" name="visible-source">
            <a:extLst>
              <a:ext uri="{FF2B5EF4-FFF2-40B4-BE49-F238E27FC236}">
                <a16:creationId xmlns:a16="http://schemas.microsoft.com/office/drawing/2014/main" id="{4456FB5C-8385-47E6-AD8F-109BE0C8B68B}"/>
              </a:ext>
            </a:extLst>
          </p:cNvPr>
          <p:cNvSpPr>
            <a:spLocks noGrp="1"/>
          </p:cNvSpPr>
          <p:nvPr/>
        </p:nvSpPr>
        <p:spPr>
          <a:xfrm>
            <a:off x="457200" y="6524625"/>
            <a:ext cx="9334500" cy="142875"/>
          </a:xfrm>
          <a:prstGeom prst="rect">
            <a:avLst/>
          </a:prstGeom>
          <a:noFill/>
          <a:ln w="0">
            <a:noFill/>
            <a:prstDash val="solid"/>
          </a:ln>
        </p:spPr>
        <p:txBody>
          <a:bodyPr/>
          <a:lstStyle/>
          <a:p>
            <a:pPr algn="l">
              <a:defRPr sz="675" b="0">
                <a:solidFill>
                  <a:srgbClr val="667389"/>
                </a:solidFill>
              </a:defRPr>
            </a:pPr>
            <a:r>
              <a:rPr sz="675" b="0">
                <a:solidFill>
                  <a:srgbClr val="667389"/>
                </a:solidFill>
              </a:rPr>
              <a:t>Source: Competition and technical documentation</a:t>
            </a:r>
          </a:p>
        </p:txBody>
      </p:sp>
      <p:sp>
        <p:nvSpPr>
          <p:cNvPr id="5" name="page">
            <a:extLst>
              <a:ext uri="{FF2B5EF4-FFF2-40B4-BE49-F238E27FC236}">
                <a16:creationId xmlns:a16="http://schemas.microsoft.com/office/drawing/2014/main" id="{9E5C5039-00C0-40E3-924C-7059B31D09CC}"/>
              </a:ext>
            </a:extLst>
          </p:cNvPr>
          <p:cNvSpPr>
            <a:spLocks noGrp="1"/>
          </p:cNvSpPr>
          <p:nvPr/>
        </p:nvSpPr>
        <p:spPr>
          <a:xfrm>
            <a:off x="11220450" y="6496050"/>
            <a:ext cx="514350" cy="171450"/>
          </a:xfrm>
          <a:prstGeom prst="rect">
            <a:avLst/>
          </a:prstGeom>
          <a:noFill/>
          <a:ln w="0">
            <a:noFill/>
            <a:prstDash val="solid"/>
          </a:ln>
        </p:spPr>
        <p:txBody>
          <a:bodyPr/>
          <a:lstStyle/>
          <a:p>
            <a:pPr algn="r">
              <a:defRPr sz="750" b="1">
                <a:solidFill>
                  <a:srgbClr val="667389"/>
                </a:solidFill>
              </a:defRPr>
            </a:pPr>
            <a:r>
              <a:rPr sz="750" b="1">
                <a:solidFill>
                  <a:srgbClr val="667389"/>
                </a:solidFill>
              </a:rPr>
              <a:t>14</a:t>
            </a:r>
          </a:p>
        </p:txBody>
      </p:sp>
      <p:sp>
        <p:nvSpPr>
          <p:cNvPr id="6" name="Rectangle: Rounded Corners 5">
            <a:extLst>
              <a:ext uri="{FF2B5EF4-FFF2-40B4-BE49-F238E27FC236}">
                <a16:creationId xmlns:a16="http://schemas.microsoft.com/office/drawing/2014/main" id="{C9A0B522-B85E-4554-BBF4-1A5684E78465}"/>
              </a:ext>
            </a:extLst>
          </p:cNvPr>
          <p:cNvSpPr>
            <a:spLocks noGrp="1"/>
          </p:cNvSpPr>
          <p:nvPr/>
        </p:nvSpPr>
        <p:spPr>
          <a:xfrm>
            <a:off x="457200" y="1381125"/>
            <a:ext cx="3619500" cy="3695700"/>
          </a:xfrm>
          <a:prstGeom prst="roundRect">
            <a:avLst>
              <a:gd name="adj" fmla="val 1053"/>
            </a:avLst>
          </a:prstGeom>
          <a:solidFill>
            <a:srgbClr val="FFFFFF"/>
          </a:solidFill>
          <a:ln w="9525">
            <a:solidFill>
              <a:srgbClr val="6B4E8C"/>
            </a:solidFill>
            <a:prstDash val="solid"/>
          </a:ln>
        </p:spPr>
        <p:txBody>
          <a:bodyPr/>
          <a:lstStyle/>
          <a:p>
            <a:endParaRPr lang="en-IN"/>
          </a:p>
        </p:txBody>
      </p:sp>
      <p:sp>
        <p:nvSpPr>
          <p:cNvPr id="7" name="Rectangle 6">
            <a:extLst>
              <a:ext uri="{FF2B5EF4-FFF2-40B4-BE49-F238E27FC236}">
                <a16:creationId xmlns:a16="http://schemas.microsoft.com/office/drawing/2014/main" id="{A96E5601-9FC3-49A9-A394-D834E3864D6D}"/>
              </a:ext>
            </a:extLst>
          </p:cNvPr>
          <p:cNvSpPr>
            <a:spLocks noGrp="1"/>
          </p:cNvSpPr>
          <p:nvPr/>
        </p:nvSpPr>
        <p:spPr>
          <a:xfrm>
            <a:off x="666750" y="1619250"/>
            <a:ext cx="476250" cy="247650"/>
          </a:xfrm>
          <a:prstGeom prst="rect">
            <a:avLst/>
          </a:prstGeom>
          <a:noFill/>
          <a:ln w="0">
            <a:noFill/>
            <a:prstDash val="solid"/>
          </a:ln>
        </p:spPr>
        <p:txBody>
          <a:bodyPr/>
          <a:lstStyle/>
          <a:p>
            <a:pPr algn="l">
              <a:defRPr sz="1350" b="1">
                <a:solidFill>
                  <a:srgbClr val="6B4E8C"/>
                </a:solidFill>
              </a:defRPr>
            </a:pPr>
            <a:r>
              <a:rPr sz="1350" b="1">
                <a:solidFill>
                  <a:srgbClr val="6B4E8C"/>
                </a:solidFill>
              </a:rPr>
              <a:t>01</a:t>
            </a:r>
          </a:p>
        </p:txBody>
      </p:sp>
      <p:sp>
        <p:nvSpPr>
          <p:cNvPr id="8" name="Rectangle 7">
            <a:extLst>
              <a:ext uri="{FF2B5EF4-FFF2-40B4-BE49-F238E27FC236}">
                <a16:creationId xmlns:a16="http://schemas.microsoft.com/office/drawing/2014/main" id="{CA01DECB-A383-4FA0-B7EF-948678F4E80F}"/>
              </a:ext>
            </a:extLst>
          </p:cNvPr>
          <p:cNvSpPr>
            <a:spLocks noGrp="1"/>
          </p:cNvSpPr>
          <p:nvPr/>
        </p:nvSpPr>
        <p:spPr>
          <a:xfrm>
            <a:off x="1200150" y="1619250"/>
            <a:ext cx="2590800" cy="419100"/>
          </a:xfrm>
          <a:prstGeom prst="rect">
            <a:avLst/>
          </a:prstGeom>
          <a:noFill/>
          <a:ln w="0">
            <a:noFill/>
            <a:prstDash val="solid"/>
          </a:ln>
        </p:spPr>
        <p:txBody>
          <a:bodyPr/>
          <a:lstStyle/>
          <a:p>
            <a:pPr algn="l">
              <a:defRPr sz="1275" b="1">
                <a:solidFill>
                  <a:srgbClr val="6B4E8C"/>
                </a:solidFill>
              </a:defRPr>
            </a:pPr>
            <a:r>
              <a:rPr sz="1275" b="1">
                <a:solidFill>
                  <a:srgbClr val="6B4E8C"/>
                </a:solidFill>
              </a:rPr>
              <a:t>SUPERSESSION-AWARE STATE</a:t>
            </a:r>
          </a:p>
        </p:txBody>
      </p:sp>
      <p:sp>
        <p:nvSpPr>
          <p:cNvPr id="9" name="Rectangle 8">
            <a:extLst>
              <a:ext uri="{FF2B5EF4-FFF2-40B4-BE49-F238E27FC236}">
                <a16:creationId xmlns:a16="http://schemas.microsoft.com/office/drawing/2014/main" id="{B76FDFEA-2441-4717-B598-D1C1192F0A55}"/>
              </a:ext>
            </a:extLst>
          </p:cNvPr>
          <p:cNvSpPr>
            <a:spLocks noGrp="1"/>
          </p:cNvSpPr>
          <p:nvPr/>
        </p:nvSpPr>
        <p:spPr>
          <a:xfrm>
            <a:off x="685800" y="2362200"/>
            <a:ext cx="952500" cy="171450"/>
          </a:xfrm>
          <a:prstGeom prst="rect">
            <a:avLst/>
          </a:prstGeom>
          <a:noFill/>
          <a:ln w="0">
            <a:noFill/>
            <a:prstDash val="solid"/>
          </a:ln>
        </p:spPr>
        <p:txBody>
          <a:bodyPr/>
          <a:lstStyle/>
          <a:p>
            <a:pPr algn="l">
              <a:defRPr sz="825" b="1">
                <a:solidFill>
                  <a:srgbClr val="667389"/>
                </a:solidFill>
              </a:defRPr>
            </a:pPr>
            <a:r>
              <a:rPr sz="825" b="1">
                <a:solidFill>
                  <a:srgbClr val="667389"/>
                </a:solidFill>
              </a:rPr>
              <a:t>PROBLEM</a:t>
            </a:r>
          </a:p>
        </p:txBody>
      </p:sp>
      <p:sp>
        <p:nvSpPr>
          <p:cNvPr id="10" name="Rectangle 9">
            <a:extLst>
              <a:ext uri="{FF2B5EF4-FFF2-40B4-BE49-F238E27FC236}">
                <a16:creationId xmlns:a16="http://schemas.microsoft.com/office/drawing/2014/main" id="{56B59947-BCF7-4D35-99A0-3EBBA52B3FB8}"/>
              </a:ext>
            </a:extLst>
          </p:cNvPr>
          <p:cNvSpPr>
            <a:spLocks noGrp="1"/>
          </p:cNvSpPr>
          <p:nvPr/>
        </p:nvSpPr>
        <p:spPr>
          <a:xfrm>
            <a:off x="685800" y="2609850"/>
            <a:ext cx="3124200" cy="647700"/>
          </a:xfrm>
          <a:prstGeom prst="rect">
            <a:avLst/>
          </a:prstGeom>
          <a:noFill/>
          <a:ln w="0">
            <a:noFill/>
            <a:prstDash val="solid"/>
          </a:ln>
        </p:spPr>
        <p:txBody>
          <a:bodyPr/>
          <a:lstStyle/>
          <a:p>
            <a:pPr algn="l">
              <a:defRPr sz="1275" b="0">
                <a:solidFill>
                  <a:srgbClr val="35445B"/>
                </a:solidFill>
              </a:defRPr>
            </a:pPr>
            <a:r>
              <a:rPr sz="1275" b="0">
                <a:solidFill>
                  <a:srgbClr val="35445B"/>
                </a:solidFill>
              </a:rPr>
              <a:t>Several files contain plausible answers</a:t>
            </a:r>
          </a:p>
        </p:txBody>
      </p:sp>
      <p:sp>
        <p:nvSpPr>
          <p:cNvPr id="11" name="Rectangle 10">
            <a:extLst>
              <a:ext uri="{FF2B5EF4-FFF2-40B4-BE49-F238E27FC236}">
                <a16:creationId xmlns:a16="http://schemas.microsoft.com/office/drawing/2014/main" id="{B648A145-A771-4755-8507-2EE4B7A5A684}"/>
              </a:ext>
            </a:extLst>
          </p:cNvPr>
          <p:cNvSpPr>
            <a:spLocks noGrp="1"/>
          </p:cNvSpPr>
          <p:nvPr/>
        </p:nvSpPr>
        <p:spPr>
          <a:xfrm>
            <a:off x="685800" y="3562350"/>
            <a:ext cx="1143000" cy="171450"/>
          </a:xfrm>
          <a:prstGeom prst="rect">
            <a:avLst/>
          </a:prstGeom>
          <a:noFill/>
          <a:ln w="0">
            <a:noFill/>
            <a:prstDash val="solid"/>
          </a:ln>
        </p:spPr>
        <p:txBody>
          <a:bodyPr/>
          <a:lstStyle/>
          <a:p>
            <a:pPr algn="l">
              <a:defRPr sz="825" b="1">
                <a:solidFill>
                  <a:srgbClr val="6B4E8C"/>
                </a:solidFill>
              </a:defRPr>
            </a:pPr>
            <a:r>
              <a:rPr sz="825" b="1">
                <a:solidFill>
                  <a:srgbClr val="6B4E8C"/>
                </a:solidFill>
              </a:rPr>
              <a:t>INNOVATION</a:t>
            </a:r>
          </a:p>
        </p:txBody>
      </p:sp>
      <p:sp>
        <p:nvSpPr>
          <p:cNvPr id="12" name="Rectangle 11">
            <a:extLst>
              <a:ext uri="{FF2B5EF4-FFF2-40B4-BE49-F238E27FC236}">
                <a16:creationId xmlns:a16="http://schemas.microsoft.com/office/drawing/2014/main" id="{368FA06F-F629-4BDE-849D-9CB39457BA8C}"/>
              </a:ext>
            </a:extLst>
          </p:cNvPr>
          <p:cNvSpPr>
            <a:spLocks noGrp="1"/>
          </p:cNvSpPr>
          <p:nvPr/>
        </p:nvSpPr>
        <p:spPr>
          <a:xfrm>
            <a:off x="685800" y="3810000"/>
            <a:ext cx="3124200" cy="781050"/>
          </a:xfrm>
          <a:prstGeom prst="rect">
            <a:avLst/>
          </a:prstGeom>
          <a:noFill/>
          <a:ln w="0">
            <a:noFill/>
            <a:prstDash val="solid"/>
          </a:ln>
        </p:spPr>
        <p:txBody>
          <a:bodyPr/>
          <a:lstStyle/>
          <a:p>
            <a:pPr algn="l">
              <a:defRPr sz="1275" b="1">
                <a:solidFill>
                  <a:srgbClr val="132033"/>
                </a:solidFill>
              </a:defRPr>
            </a:pPr>
            <a:r>
              <a:rPr sz="1275" b="1">
                <a:solidFill>
                  <a:srgbClr val="132033"/>
                </a:solidFill>
              </a:rPr>
              <a:t>Graph-based lineage computes what is current</a:t>
            </a:r>
          </a:p>
        </p:txBody>
      </p:sp>
      <p:sp>
        <p:nvSpPr>
          <p:cNvPr id="13" name="Rectangle: Rounded Corners 12">
            <a:extLst>
              <a:ext uri="{FF2B5EF4-FFF2-40B4-BE49-F238E27FC236}">
                <a16:creationId xmlns:a16="http://schemas.microsoft.com/office/drawing/2014/main" id="{A1059C3A-ADF7-4D9E-8894-B010AC50D668}"/>
              </a:ext>
            </a:extLst>
          </p:cNvPr>
          <p:cNvSpPr>
            <a:spLocks noGrp="1"/>
          </p:cNvSpPr>
          <p:nvPr/>
        </p:nvSpPr>
        <p:spPr>
          <a:xfrm>
            <a:off x="4286250" y="1381125"/>
            <a:ext cx="3619500" cy="3695700"/>
          </a:xfrm>
          <a:prstGeom prst="roundRect">
            <a:avLst>
              <a:gd name="adj" fmla="val 1053"/>
            </a:avLst>
          </a:prstGeom>
          <a:solidFill>
            <a:srgbClr val="FFFFFF"/>
          </a:solidFill>
          <a:ln w="9525">
            <a:solidFill>
              <a:srgbClr val="2D7D5B"/>
            </a:solidFill>
            <a:prstDash val="solid"/>
          </a:ln>
        </p:spPr>
        <p:txBody>
          <a:bodyPr/>
          <a:lstStyle/>
          <a:p>
            <a:endParaRPr lang="en-IN"/>
          </a:p>
        </p:txBody>
      </p:sp>
      <p:sp>
        <p:nvSpPr>
          <p:cNvPr id="14" name="Rectangle 13">
            <a:extLst>
              <a:ext uri="{FF2B5EF4-FFF2-40B4-BE49-F238E27FC236}">
                <a16:creationId xmlns:a16="http://schemas.microsoft.com/office/drawing/2014/main" id="{11BED59E-E1F6-4426-AA57-973B08752FA6}"/>
              </a:ext>
            </a:extLst>
          </p:cNvPr>
          <p:cNvSpPr>
            <a:spLocks noGrp="1"/>
          </p:cNvSpPr>
          <p:nvPr/>
        </p:nvSpPr>
        <p:spPr>
          <a:xfrm>
            <a:off x="4495800" y="1619250"/>
            <a:ext cx="476250" cy="247650"/>
          </a:xfrm>
          <a:prstGeom prst="rect">
            <a:avLst/>
          </a:prstGeom>
          <a:noFill/>
          <a:ln w="0">
            <a:noFill/>
            <a:prstDash val="solid"/>
          </a:ln>
        </p:spPr>
        <p:txBody>
          <a:bodyPr/>
          <a:lstStyle/>
          <a:p>
            <a:pPr algn="l">
              <a:defRPr sz="1350" b="1">
                <a:solidFill>
                  <a:srgbClr val="2D7D5B"/>
                </a:solidFill>
              </a:defRPr>
            </a:pPr>
            <a:r>
              <a:rPr sz="1350" b="1">
                <a:solidFill>
                  <a:srgbClr val="2D7D5B"/>
                </a:solidFill>
              </a:rPr>
              <a:t>02</a:t>
            </a:r>
          </a:p>
        </p:txBody>
      </p:sp>
      <p:sp>
        <p:nvSpPr>
          <p:cNvPr id="15" name="Rectangle 14">
            <a:extLst>
              <a:ext uri="{FF2B5EF4-FFF2-40B4-BE49-F238E27FC236}">
                <a16:creationId xmlns:a16="http://schemas.microsoft.com/office/drawing/2014/main" id="{0FC68380-2757-485F-8CF8-CDC8D85FEEF5}"/>
              </a:ext>
            </a:extLst>
          </p:cNvPr>
          <p:cNvSpPr>
            <a:spLocks noGrp="1"/>
          </p:cNvSpPr>
          <p:nvPr/>
        </p:nvSpPr>
        <p:spPr>
          <a:xfrm>
            <a:off x="5029200" y="1619250"/>
            <a:ext cx="2590800" cy="419100"/>
          </a:xfrm>
          <a:prstGeom prst="rect">
            <a:avLst/>
          </a:prstGeom>
          <a:noFill/>
          <a:ln w="0">
            <a:noFill/>
            <a:prstDash val="solid"/>
          </a:ln>
        </p:spPr>
        <p:txBody>
          <a:bodyPr/>
          <a:lstStyle/>
          <a:p>
            <a:pPr algn="l">
              <a:defRPr sz="1275" b="1">
                <a:solidFill>
                  <a:srgbClr val="2D7D5B"/>
                </a:solidFill>
              </a:defRPr>
            </a:pPr>
            <a:r>
              <a:rPr sz="1275" b="1">
                <a:solidFill>
                  <a:srgbClr val="2D7D5B"/>
                </a:solidFill>
              </a:rPr>
              <a:t>DETERMINISTIC-FIRST TRUST</a:t>
            </a:r>
          </a:p>
        </p:txBody>
      </p:sp>
      <p:sp>
        <p:nvSpPr>
          <p:cNvPr id="16" name="Rectangle 15">
            <a:extLst>
              <a:ext uri="{FF2B5EF4-FFF2-40B4-BE49-F238E27FC236}">
                <a16:creationId xmlns:a16="http://schemas.microsoft.com/office/drawing/2014/main" id="{C4837EE7-A361-41C2-B05E-2624DCDB4ED5}"/>
              </a:ext>
            </a:extLst>
          </p:cNvPr>
          <p:cNvSpPr>
            <a:spLocks noGrp="1"/>
          </p:cNvSpPr>
          <p:nvPr/>
        </p:nvSpPr>
        <p:spPr>
          <a:xfrm>
            <a:off x="4514850" y="2362200"/>
            <a:ext cx="952500" cy="171450"/>
          </a:xfrm>
          <a:prstGeom prst="rect">
            <a:avLst/>
          </a:prstGeom>
          <a:noFill/>
          <a:ln w="0">
            <a:noFill/>
            <a:prstDash val="solid"/>
          </a:ln>
        </p:spPr>
        <p:txBody>
          <a:bodyPr/>
          <a:lstStyle/>
          <a:p>
            <a:pPr algn="l">
              <a:defRPr sz="825" b="1">
                <a:solidFill>
                  <a:srgbClr val="667389"/>
                </a:solidFill>
              </a:defRPr>
            </a:pPr>
            <a:r>
              <a:rPr sz="825" b="1">
                <a:solidFill>
                  <a:srgbClr val="667389"/>
                </a:solidFill>
              </a:rPr>
              <a:t>PROBLEM</a:t>
            </a:r>
          </a:p>
        </p:txBody>
      </p:sp>
      <p:sp>
        <p:nvSpPr>
          <p:cNvPr id="17" name="Rectangle 16">
            <a:extLst>
              <a:ext uri="{FF2B5EF4-FFF2-40B4-BE49-F238E27FC236}">
                <a16:creationId xmlns:a16="http://schemas.microsoft.com/office/drawing/2014/main" id="{A9BB5611-1A5F-4399-BC64-495CC3318474}"/>
              </a:ext>
            </a:extLst>
          </p:cNvPr>
          <p:cNvSpPr>
            <a:spLocks noGrp="1"/>
          </p:cNvSpPr>
          <p:nvPr/>
        </p:nvSpPr>
        <p:spPr>
          <a:xfrm>
            <a:off x="4514850" y="2609850"/>
            <a:ext cx="3124200" cy="647700"/>
          </a:xfrm>
          <a:prstGeom prst="rect">
            <a:avLst/>
          </a:prstGeom>
          <a:noFill/>
          <a:ln w="0">
            <a:noFill/>
            <a:prstDash val="solid"/>
          </a:ln>
        </p:spPr>
        <p:txBody>
          <a:bodyPr/>
          <a:lstStyle/>
          <a:p>
            <a:pPr algn="l">
              <a:defRPr sz="1275" b="0">
                <a:solidFill>
                  <a:srgbClr val="35445B"/>
                </a:solidFill>
              </a:defRPr>
            </a:pPr>
            <a:r>
              <a:rPr sz="1275" b="0">
                <a:solidFill>
                  <a:srgbClr val="35445B"/>
                </a:solidFill>
              </a:rPr>
              <a:t>LLMs can produce fluent unsupported claims</a:t>
            </a:r>
          </a:p>
        </p:txBody>
      </p:sp>
      <p:sp>
        <p:nvSpPr>
          <p:cNvPr id="18" name="Rectangle 17">
            <a:extLst>
              <a:ext uri="{FF2B5EF4-FFF2-40B4-BE49-F238E27FC236}">
                <a16:creationId xmlns:a16="http://schemas.microsoft.com/office/drawing/2014/main" id="{FEC562F6-4CE3-4744-BCB9-1CEAB1D0CEC8}"/>
              </a:ext>
            </a:extLst>
          </p:cNvPr>
          <p:cNvSpPr>
            <a:spLocks noGrp="1"/>
          </p:cNvSpPr>
          <p:nvPr/>
        </p:nvSpPr>
        <p:spPr>
          <a:xfrm>
            <a:off x="4514850" y="3562350"/>
            <a:ext cx="1143000" cy="171450"/>
          </a:xfrm>
          <a:prstGeom prst="rect">
            <a:avLst/>
          </a:prstGeom>
          <a:noFill/>
          <a:ln w="0">
            <a:noFill/>
            <a:prstDash val="solid"/>
          </a:ln>
        </p:spPr>
        <p:txBody>
          <a:bodyPr/>
          <a:lstStyle/>
          <a:p>
            <a:pPr algn="l">
              <a:defRPr sz="825" b="1">
                <a:solidFill>
                  <a:srgbClr val="2D7D5B"/>
                </a:solidFill>
              </a:defRPr>
            </a:pPr>
            <a:r>
              <a:rPr sz="825" b="1">
                <a:solidFill>
                  <a:srgbClr val="2D7D5B"/>
                </a:solidFill>
              </a:rPr>
              <a:t>INNOVATION</a:t>
            </a:r>
          </a:p>
        </p:txBody>
      </p:sp>
      <p:sp>
        <p:nvSpPr>
          <p:cNvPr id="19" name="Rectangle 18">
            <a:extLst>
              <a:ext uri="{FF2B5EF4-FFF2-40B4-BE49-F238E27FC236}">
                <a16:creationId xmlns:a16="http://schemas.microsoft.com/office/drawing/2014/main" id="{A18E4275-29C5-47F9-85C4-C31385242B4D}"/>
              </a:ext>
            </a:extLst>
          </p:cNvPr>
          <p:cNvSpPr>
            <a:spLocks noGrp="1"/>
          </p:cNvSpPr>
          <p:nvPr/>
        </p:nvSpPr>
        <p:spPr>
          <a:xfrm>
            <a:off x="4514850" y="3810000"/>
            <a:ext cx="3124200" cy="781050"/>
          </a:xfrm>
          <a:prstGeom prst="rect">
            <a:avLst/>
          </a:prstGeom>
          <a:noFill/>
          <a:ln w="0">
            <a:noFill/>
            <a:prstDash val="solid"/>
          </a:ln>
        </p:spPr>
        <p:txBody>
          <a:bodyPr/>
          <a:lstStyle/>
          <a:p>
            <a:pPr algn="l">
              <a:defRPr sz="1275" b="1">
                <a:solidFill>
                  <a:srgbClr val="132033"/>
                </a:solidFill>
              </a:defRPr>
            </a:pPr>
            <a:r>
              <a:rPr sz="1275" b="1">
                <a:solidFill>
                  <a:srgbClr val="132033"/>
                </a:solidFill>
              </a:rPr>
              <a:t>Source data checks numbers, dates, identity and citations</a:t>
            </a:r>
          </a:p>
        </p:txBody>
      </p:sp>
      <p:sp>
        <p:nvSpPr>
          <p:cNvPr id="20" name="Rectangle: Rounded Corners 19">
            <a:extLst>
              <a:ext uri="{FF2B5EF4-FFF2-40B4-BE49-F238E27FC236}">
                <a16:creationId xmlns:a16="http://schemas.microsoft.com/office/drawing/2014/main" id="{4FC76FB9-7D7D-481C-B9D4-6F2A0C79C6C1}"/>
              </a:ext>
            </a:extLst>
          </p:cNvPr>
          <p:cNvSpPr>
            <a:spLocks noGrp="1"/>
          </p:cNvSpPr>
          <p:nvPr/>
        </p:nvSpPr>
        <p:spPr>
          <a:xfrm>
            <a:off x="8115300" y="1381125"/>
            <a:ext cx="3619500" cy="3695700"/>
          </a:xfrm>
          <a:prstGeom prst="roundRect">
            <a:avLst>
              <a:gd name="adj" fmla="val 1053"/>
            </a:avLst>
          </a:prstGeom>
          <a:solidFill>
            <a:srgbClr val="FFFFFF"/>
          </a:solidFill>
          <a:ln w="9525">
            <a:solidFill>
              <a:srgbClr val="007A78"/>
            </a:solidFill>
            <a:prstDash val="solid"/>
          </a:ln>
        </p:spPr>
        <p:txBody>
          <a:bodyPr/>
          <a:lstStyle/>
          <a:p>
            <a:endParaRPr lang="en-IN"/>
          </a:p>
        </p:txBody>
      </p:sp>
      <p:sp>
        <p:nvSpPr>
          <p:cNvPr id="21" name="Rectangle 20">
            <a:extLst>
              <a:ext uri="{FF2B5EF4-FFF2-40B4-BE49-F238E27FC236}">
                <a16:creationId xmlns:a16="http://schemas.microsoft.com/office/drawing/2014/main" id="{2557FA31-E8E0-4793-BB90-5639B65CE703}"/>
              </a:ext>
            </a:extLst>
          </p:cNvPr>
          <p:cNvSpPr>
            <a:spLocks noGrp="1"/>
          </p:cNvSpPr>
          <p:nvPr/>
        </p:nvSpPr>
        <p:spPr>
          <a:xfrm>
            <a:off x="8324850" y="1619250"/>
            <a:ext cx="476250" cy="247650"/>
          </a:xfrm>
          <a:prstGeom prst="rect">
            <a:avLst/>
          </a:prstGeom>
          <a:noFill/>
          <a:ln w="0">
            <a:noFill/>
            <a:prstDash val="solid"/>
          </a:ln>
        </p:spPr>
        <p:txBody>
          <a:bodyPr/>
          <a:lstStyle/>
          <a:p>
            <a:pPr algn="l">
              <a:defRPr sz="1350" b="1">
                <a:solidFill>
                  <a:srgbClr val="007A78"/>
                </a:solidFill>
              </a:defRPr>
            </a:pPr>
            <a:r>
              <a:rPr sz="1350" b="1">
                <a:solidFill>
                  <a:srgbClr val="007A78"/>
                </a:solidFill>
              </a:rPr>
              <a:t>03</a:t>
            </a:r>
          </a:p>
        </p:txBody>
      </p:sp>
      <p:sp>
        <p:nvSpPr>
          <p:cNvPr id="22" name="Rectangle 21">
            <a:extLst>
              <a:ext uri="{FF2B5EF4-FFF2-40B4-BE49-F238E27FC236}">
                <a16:creationId xmlns:a16="http://schemas.microsoft.com/office/drawing/2014/main" id="{86B486E8-6CE5-417B-9CAE-C6004B0EB39A}"/>
              </a:ext>
            </a:extLst>
          </p:cNvPr>
          <p:cNvSpPr>
            <a:spLocks noGrp="1"/>
          </p:cNvSpPr>
          <p:nvPr/>
        </p:nvSpPr>
        <p:spPr>
          <a:xfrm>
            <a:off x="8858250" y="1619250"/>
            <a:ext cx="2590800" cy="419100"/>
          </a:xfrm>
          <a:prstGeom prst="rect">
            <a:avLst/>
          </a:prstGeom>
          <a:noFill/>
          <a:ln w="0">
            <a:noFill/>
            <a:prstDash val="solid"/>
          </a:ln>
        </p:spPr>
        <p:txBody>
          <a:bodyPr/>
          <a:lstStyle/>
          <a:p>
            <a:pPr algn="l">
              <a:defRPr sz="1275" b="1">
                <a:solidFill>
                  <a:srgbClr val="007A78"/>
                </a:solidFill>
              </a:defRPr>
            </a:pPr>
            <a:r>
              <a:rPr sz="1275" b="1">
                <a:solidFill>
                  <a:srgbClr val="007A78"/>
                </a:solidFill>
              </a:rPr>
              <a:t>DOMAIN-SPECIFIC AGENT</a:t>
            </a:r>
          </a:p>
        </p:txBody>
      </p:sp>
      <p:sp>
        <p:nvSpPr>
          <p:cNvPr id="23" name="Rectangle 22">
            <a:extLst>
              <a:ext uri="{FF2B5EF4-FFF2-40B4-BE49-F238E27FC236}">
                <a16:creationId xmlns:a16="http://schemas.microsoft.com/office/drawing/2014/main" id="{B61430E9-5003-4ECB-A0C6-62120068D6D5}"/>
              </a:ext>
            </a:extLst>
          </p:cNvPr>
          <p:cNvSpPr>
            <a:spLocks noGrp="1"/>
          </p:cNvSpPr>
          <p:nvPr/>
        </p:nvSpPr>
        <p:spPr>
          <a:xfrm>
            <a:off x="8343900" y="2362200"/>
            <a:ext cx="952500" cy="171450"/>
          </a:xfrm>
          <a:prstGeom prst="rect">
            <a:avLst/>
          </a:prstGeom>
          <a:noFill/>
          <a:ln w="0">
            <a:noFill/>
            <a:prstDash val="solid"/>
          </a:ln>
        </p:spPr>
        <p:txBody>
          <a:bodyPr/>
          <a:lstStyle/>
          <a:p>
            <a:pPr algn="l">
              <a:defRPr sz="825" b="1">
                <a:solidFill>
                  <a:srgbClr val="667389"/>
                </a:solidFill>
              </a:defRPr>
            </a:pPr>
            <a:r>
              <a:rPr sz="825" b="1">
                <a:solidFill>
                  <a:srgbClr val="667389"/>
                </a:solidFill>
              </a:rPr>
              <a:t>PROBLEM</a:t>
            </a:r>
          </a:p>
        </p:txBody>
      </p:sp>
      <p:sp>
        <p:nvSpPr>
          <p:cNvPr id="24" name="Rectangle 23">
            <a:extLst>
              <a:ext uri="{FF2B5EF4-FFF2-40B4-BE49-F238E27FC236}">
                <a16:creationId xmlns:a16="http://schemas.microsoft.com/office/drawing/2014/main" id="{ECC4718F-3E5B-4246-8D9C-038BEF650A48}"/>
              </a:ext>
            </a:extLst>
          </p:cNvPr>
          <p:cNvSpPr>
            <a:spLocks noGrp="1"/>
          </p:cNvSpPr>
          <p:nvPr/>
        </p:nvSpPr>
        <p:spPr>
          <a:xfrm>
            <a:off x="8343900" y="2609850"/>
            <a:ext cx="3124200" cy="647700"/>
          </a:xfrm>
          <a:prstGeom prst="rect">
            <a:avLst/>
          </a:prstGeom>
          <a:noFill/>
          <a:ln w="0">
            <a:noFill/>
            <a:prstDash val="solid"/>
          </a:ln>
        </p:spPr>
        <p:txBody>
          <a:bodyPr/>
          <a:lstStyle/>
          <a:p>
            <a:pPr algn="l">
              <a:defRPr sz="1275" b="0">
                <a:solidFill>
                  <a:srgbClr val="35445B"/>
                </a:solidFill>
              </a:defRPr>
            </a:pPr>
            <a:r>
              <a:rPr sz="1275" b="0">
                <a:solidFill>
                  <a:srgbClr val="35445B"/>
                </a:solidFill>
              </a:rPr>
              <a:t>One question requires multiple kinds of reasoning</a:t>
            </a:r>
          </a:p>
        </p:txBody>
      </p:sp>
      <p:sp>
        <p:nvSpPr>
          <p:cNvPr id="25" name="Rectangle 24">
            <a:extLst>
              <a:ext uri="{FF2B5EF4-FFF2-40B4-BE49-F238E27FC236}">
                <a16:creationId xmlns:a16="http://schemas.microsoft.com/office/drawing/2014/main" id="{4DD52CA6-1779-4CC2-9245-77EEBFD01F7A}"/>
              </a:ext>
            </a:extLst>
          </p:cNvPr>
          <p:cNvSpPr>
            <a:spLocks noGrp="1"/>
          </p:cNvSpPr>
          <p:nvPr/>
        </p:nvSpPr>
        <p:spPr>
          <a:xfrm>
            <a:off x="8343900" y="3562350"/>
            <a:ext cx="1143000" cy="171450"/>
          </a:xfrm>
          <a:prstGeom prst="rect">
            <a:avLst/>
          </a:prstGeom>
          <a:noFill/>
          <a:ln w="0">
            <a:noFill/>
            <a:prstDash val="solid"/>
          </a:ln>
        </p:spPr>
        <p:txBody>
          <a:bodyPr/>
          <a:lstStyle/>
          <a:p>
            <a:pPr algn="l">
              <a:defRPr sz="825" b="1">
                <a:solidFill>
                  <a:srgbClr val="007A78"/>
                </a:solidFill>
              </a:defRPr>
            </a:pPr>
            <a:r>
              <a:rPr sz="825" b="1">
                <a:solidFill>
                  <a:srgbClr val="007A78"/>
                </a:solidFill>
              </a:rPr>
              <a:t>INNOVATION</a:t>
            </a:r>
          </a:p>
        </p:txBody>
      </p:sp>
      <p:sp>
        <p:nvSpPr>
          <p:cNvPr id="26" name="Rectangle 25">
            <a:extLst>
              <a:ext uri="{FF2B5EF4-FFF2-40B4-BE49-F238E27FC236}">
                <a16:creationId xmlns:a16="http://schemas.microsoft.com/office/drawing/2014/main" id="{51D953AD-5314-495E-B6B1-08B68B4948FD}"/>
              </a:ext>
            </a:extLst>
          </p:cNvPr>
          <p:cNvSpPr>
            <a:spLocks noGrp="1"/>
          </p:cNvSpPr>
          <p:nvPr/>
        </p:nvSpPr>
        <p:spPr>
          <a:xfrm>
            <a:off x="8343900" y="3810000"/>
            <a:ext cx="3124200" cy="781050"/>
          </a:xfrm>
          <a:prstGeom prst="rect">
            <a:avLst/>
          </a:prstGeom>
          <a:noFill/>
          <a:ln w="0">
            <a:noFill/>
            <a:prstDash val="solid"/>
          </a:ln>
        </p:spPr>
        <p:txBody>
          <a:bodyPr/>
          <a:lstStyle/>
          <a:p>
            <a:pPr algn="l">
              <a:defRPr sz="1275" b="1">
                <a:solidFill>
                  <a:srgbClr val="132033"/>
                </a:solidFill>
              </a:defRPr>
            </a:pPr>
            <a:r>
              <a:rPr sz="1275" b="1">
                <a:solidFill>
                  <a:srgbClr val="132033"/>
                </a:solidFill>
              </a:rPr>
              <a:t>Routing, decomposition and 30+ tools replace one generic call</a:t>
            </a:r>
          </a:p>
        </p:txBody>
      </p:sp>
      <p:sp>
        <p:nvSpPr>
          <p:cNvPr id="27" name="Rectangle 26">
            <a:extLst>
              <a:ext uri="{FF2B5EF4-FFF2-40B4-BE49-F238E27FC236}">
                <a16:creationId xmlns:a16="http://schemas.microsoft.com/office/drawing/2014/main" id="{B630DDBB-DBC7-416A-BB2C-32E8EEEC3448}"/>
              </a:ext>
            </a:extLst>
          </p:cNvPr>
          <p:cNvSpPr>
            <a:spLocks noGrp="1"/>
          </p:cNvSpPr>
          <p:nvPr/>
        </p:nvSpPr>
        <p:spPr>
          <a:xfrm>
            <a:off x="457200" y="5362575"/>
            <a:ext cx="1619250" cy="209550"/>
          </a:xfrm>
          <a:prstGeom prst="rect">
            <a:avLst/>
          </a:prstGeom>
          <a:noFill/>
          <a:ln w="0">
            <a:noFill/>
            <a:prstDash val="solid"/>
          </a:ln>
        </p:spPr>
        <p:txBody>
          <a:bodyPr/>
          <a:lstStyle/>
          <a:p>
            <a:pPr algn="l">
              <a:defRPr sz="1050" b="1">
                <a:solidFill>
                  <a:srgbClr val="132033"/>
                </a:solidFill>
              </a:defRPr>
            </a:pPr>
            <a:r>
              <a:rPr sz="1050" b="1">
                <a:solidFill>
                  <a:srgbClr val="132033"/>
                </a:solidFill>
              </a:rPr>
              <a:t>Delivery breadth</a:t>
            </a:r>
          </a:p>
        </p:txBody>
      </p:sp>
      <p:sp>
        <p:nvSpPr>
          <p:cNvPr id="28" name="Rectangle 27">
            <a:extLst>
              <a:ext uri="{FF2B5EF4-FFF2-40B4-BE49-F238E27FC236}">
                <a16:creationId xmlns:a16="http://schemas.microsoft.com/office/drawing/2014/main" id="{43604A87-D39A-44E1-B12D-15AC7925B2BA}"/>
              </a:ext>
            </a:extLst>
          </p:cNvPr>
          <p:cNvSpPr>
            <a:spLocks noGrp="1"/>
          </p:cNvSpPr>
          <p:nvPr/>
        </p:nvSpPr>
        <p:spPr>
          <a:xfrm>
            <a:off x="2095500" y="5362575"/>
            <a:ext cx="9639300" cy="228600"/>
          </a:xfrm>
          <a:prstGeom prst="rect">
            <a:avLst/>
          </a:prstGeom>
          <a:noFill/>
          <a:ln w="0">
            <a:noFill/>
            <a:prstDash val="solid"/>
          </a:ln>
        </p:spPr>
        <p:txBody>
          <a:bodyPr/>
          <a:lstStyle/>
          <a:p>
            <a:pPr algn="l">
              <a:defRPr sz="1050" b="1">
                <a:solidFill>
                  <a:srgbClr val="35445B"/>
                </a:solidFill>
              </a:defRPr>
            </a:pPr>
            <a:r>
              <a:rPr sz="1050" b="1">
                <a:solidFill>
                  <a:srgbClr val="35445B"/>
                </a:solidFill>
              </a:rPr>
              <a:t>Data engineering  •  Data modeling  •  NLP/LLM  •  Retrieval  •  Trust &amp; safety  •  Full-stack  •  DevOps  •  Contract-domain logic</a:t>
            </a:r>
          </a:p>
        </p:txBody>
      </p:sp>
      <p:sp>
        <p:nvSpPr>
          <p:cNvPr id="29" name="Rectangle: Rounded Corners 28">
            <a:extLst>
              <a:ext uri="{FF2B5EF4-FFF2-40B4-BE49-F238E27FC236}">
                <a16:creationId xmlns:a16="http://schemas.microsoft.com/office/drawing/2014/main" id="{C3160830-644F-4465-BE71-251F03E253E6}"/>
              </a:ext>
            </a:extLst>
          </p:cNvPr>
          <p:cNvSpPr>
            <a:spLocks noGrp="1"/>
          </p:cNvSpPr>
          <p:nvPr/>
        </p:nvSpPr>
        <p:spPr>
          <a:xfrm>
            <a:off x="2000250" y="5848350"/>
            <a:ext cx="8191500" cy="457200"/>
          </a:xfrm>
          <a:prstGeom prst="roundRect">
            <a:avLst>
              <a:gd name="adj" fmla="val 8333"/>
            </a:avLst>
          </a:prstGeom>
          <a:solidFill>
            <a:srgbClr val="FBEDED"/>
          </a:solidFill>
          <a:ln w="9525">
            <a:solidFill>
              <a:srgbClr val="C74343"/>
            </a:solidFill>
            <a:prstDash val="solid"/>
          </a:ln>
        </p:spPr>
        <p:txBody>
          <a:bodyPr/>
          <a:lstStyle/>
          <a:p>
            <a:endParaRPr lang="en-IN"/>
          </a:p>
        </p:txBody>
      </p:sp>
      <p:sp>
        <p:nvSpPr>
          <p:cNvPr id="30" name="Rectangle 29">
            <a:extLst>
              <a:ext uri="{FF2B5EF4-FFF2-40B4-BE49-F238E27FC236}">
                <a16:creationId xmlns:a16="http://schemas.microsoft.com/office/drawing/2014/main" id="{C7597190-3717-4CBC-B8FF-B4B5D5C22F29}"/>
              </a:ext>
            </a:extLst>
          </p:cNvPr>
          <p:cNvSpPr>
            <a:spLocks noGrp="1"/>
          </p:cNvSpPr>
          <p:nvPr/>
        </p:nvSpPr>
        <p:spPr>
          <a:xfrm>
            <a:off x="2000250" y="5848350"/>
            <a:ext cx="57150" cy="457200"/>
          </a:xfrm>
          <a:prstGeom prst="rect">
            <a:avLst/>
          </a:prstGeom>
          <a:solidFill>
            <a:srgbClr val="C74343"/>
          </a:solidFill>
          <a:ln w="0">
            <a:noFill/>
            <a:prstDash val="solid"/>
          </a:ln>
        </p:spPr>
        <p:txBody>
          <a:bodyPr/>
          <a:lstStyle/>
          <a:p>
            <a:endParaRPr lang="en-IN"/>
          </a:p>
        </p:txBody>
      </p:sp>
      <p:sp>
        <p:nvSpPr>
          <p:cNvPr id="31" name="Rectangle 30">
            <a:extLst>
              <a:ext uri="{FF2B5EF4-FFF2-40B4-BE49-F238E27FC236}">
                <a16:creationId xmlns:a16="http://schemas.microsoft.com/office/drawing/2014/main" id="{56C49243-CED4-4F54-BBD3-07BA2B214962}"/>
              </a:ext>
            </a:extLst>
          </p:cNvPr>
          <p:cNvSpPr>
            <a:spLocks noGrp="1"/>
          </p:cNvSpPr>
          <p:nvPr/>
        </p:nvSpPr>
        <p:spPr>
          <a:xfrm>
            <a:off x="2209800" y="5972175"/>
            <a:ext cx="7829550" cy="285750"/>
          </a:xfrm>
          <a:prstGeom prst="rect">
            <a:avLst/>
          </a:prstGeom>
          <a:noFill/>
          <a:ln w="0">
            <a:noFill/>
            <a:prstDash val="solid"/>
          </a:ln>
        </p:spPr>
        <p:txBody>
          <a:bodyPr/>
          <a:lstStyle/>
          <a:p>
            <a:pPr algn="l">
              <a:defRPr sz="1350" b="1">
                <a:solidFill>
                  <a:srgbClr val="132033"/>
                </a:solidFill>
              </a:defRPr>
            </a:pPr>
            <a:r>
              <a:rPr sz="1350" b="1">
                <a:solidFill>
                  <a:srgbClr val="132033"/>
                </a:solidFill>
              </a:rPr>
              <a:t>The innovation is not the model alone—it is the engineered system around the model.</a:t>
            </a:r>
          </a:p>
        </p:txBody>
      </p:sp>
    </p:spTree>
    <p:extLst>
      <p:ext uri="{BB962C8B-B14F-4D97-AF65-F5344CB8AC3E}">
        <p14:creationId xmlns:p14="http://schemas.microsoft.com/office/powerpoint/2010/main" val="3065970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71B2E"/>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F56D13DF-DE35-4331-B501-776DBDED0F2A}"/>
              </a:ext>
            </a:extLst>
          </p:cNvPr>
          <p:cNvSpPr>
            <a:spLocks noGrp="1"/>
          </p:cNvSpPr>
          <p:nvPr/>
        </p:nvSpPr>
        <p:spPr>
          <a:xfrm>
            <a:off x="0" y="0"/>
            <a:ext cx="12192000" cy="6858000"/>
          </a:xfrm>
          <a:prstGeom prst="rect">
            <a:avLst/>
          </a:prstGeom>
          <a:solidFill>
            <a:srgbClr val="071B2E"/>
          </a:solidFill>
          <a:ln w="0">
            <a:noFill/>
            <a:prstDash val="solid"/>
          </a:ln>
        </p:spPr>
        <p:txBody>
          <a:bodyPr/>
          <a:lstStyle/>
          <a:p>
            <a:endParaRPr lang="en-IN"/>
          </a:p>
        </p:txBody>
      </p:sp>
      <p:sp>
        <p:nvSpPr>
          <p:cNvPr id="2" name="Rectangle 1">
            <a:extLst>
              <a:ext uri="{FF2B5EF4-FFF2-40B4-BE49-F238E27FC236}">
                <a16:creationId xmlns:a16="http://schemas.microsoft.com/office/drawing/2014/main" id="{8A59B0A5-1114-4F9E-ADA3-98860D3D9824}"/>
              </a:ext>
            </a:extLst>
          </p:cNvPr>
          <p:cNvSpPr>
            <a:spLocks noGrp="1"/>
          </p:cNvSpPr>
          <p:nvPr/>
        </p:nvSpPr>
        <p:spPr>
          <a:xfrm>
            <a:off x="609600" y="457200"/>
            <a:ext cx="7620000" cy="190500"/>
          </a:xfrm>
          <a:prstGeom prst="rect">
            <a:avLst/>
          </a:prstGeom>
          <a:noFill/>
          <a:ln w="0">
            <a:noFill/>
            <a:prstDash val="solid"/>
          </a:ln>
        </p:spPr>
        <p:txBody>
          <a:bodyPr/>
          <a:lstStyle/>
          <a:p>
            <a:pPr algn="l">
              <a:defRPr sz="825" b="1">
                <a:solidFill>
                  <a:srgbClr val="78B6DE"/>
                </a:solidFill>
              </a:defRPr>
            </a:pPr>
            <a:r>
              <a:rPr sz="825" b="1">
                <a:solidFill>
                  <a:srgbClr val="78B6DE"/>
                </a:solidFill>
              </a:rPr>
              <a:t>THE ANSWER TO THE OPENING QUESTION</a:t>
            </a:r>
          </a:p>
        </p:txBody>
      </p:sp>
      <p:sp>
        <p:nvSpPr>
          <p:cNvPr id="3" name="Rectangle 2">
            <a:extLst>
              <a:ext uri="{FF2B5EF4-FFF2-40B4-BE49-F238E27FC236}">
                <a16:creationId xmlns:a16="http://schemas.microsoft.com/office/drawing/2014/main" id="{229BA777-39AA-478B-8351-0E0C0273C332}"/>
              </a:ext>
            </a:extLst>
          </p:cNvPr>
          <p:cNvSpPr>
            <a:spLocks noGrp="1"/>
          </p:cNvSpPr>
          <p:nvPr/>
        </p:nvSpPr>
        <p:spPr>
          <a:xfrm>
            <a:off x="609600" y="781050"/>
            <a:ext cx="10477500" cy="495300"/>
          </a:xfrm>
          <a:prstGeom prst="rect">
            <a:avLst/>
          </a:prstGeom>
          <a:noFill/>
          <a:ln w="0">
            <a:noFill/>
            <a:prstDash val="solid"/>
          </a:ln>
        </p:spPr>
        <p:txBody>
          <a:bodyPr/>
          <a:lstStyle/>
          <a:p>
            <a:pPr algn="l">
              <a:defRPr sz="2925" b="1">
                <a:solidFill>
                  <a:srgbClr val="FFFFFF"/>
                </a:solidFill>
              </a:defRPr>
            </a:pPr>
            <a:r>
              <a:rPr sz="2925" b="1">
                <a:solidFill>
                  <a:srgbClr val="FFFFFF"/>
                </a:solidFill>
              </a:rPr>
              <a:t>From raw contracts to governed decisions</a:t>
            </a:r>
          </a:p>
        </p:txBody>
      </p:sp>
      <p:sp>
        <p:nvSpPr>
          <p:cNvPr id="4" name="Rectangle: Rounded Corners 3">
            <a:extLst>
              <a:ext uri="{FF2B5EF4-FFF2-40B4-BE49-F238E27FC236}">
                <a16:creationId xmlns:a16="http://schemas.microsoft.com/office/drawing/2014/main" id="{F1C049D9-83C3-4C24-B230-3CDDD68073EA}"/>
              </a:ext>
            </a:extLst>
          </p:cNvPr>
          <p:cNvSpPr>
            <a:spLocks noGrp="1"/>
          </p:cNvSpPr>
          <p:nvPr/>
        </p:nvSpPr>
        <p:spPr>
          <a:xfrm>
            <a:off x="457200" y="1809750"/>
            <a:ext cx="2667000" cy="2438400"/>
          </a:xfrm>
          <a:prstGeom prst="roundRect">
            <a:avLst>
              <a:gd name="adj" fmla="val 1563"/>
            </a:avLst>
          </a:prstGeom>
          <a:solidFill>
            <a:srgbClr val="0E314D"/>
          </a:solidFill>
          <a:ln w="9525">
            <a:solidFill>
              <a:srgbClr val="1769AA"/>
            </a:solidFill>
            <a:prstDash val="solid"/>
          </a:ln>
        </p:spPr>
        <p:txBody>
          <a:bodyPr/>
          <a:lstStyle/>
          <a:p>
            <a:endParaRPr lang="en-IN"/>
          </a:p>
        </p:txBody>
      </p:sp>
      <p:sp>
        <p:nvSpPr>
          <p:cNvPr id="5" name="Rectangle 4">
            <a:extLst>
              <a:ext uri="{FF2B5EF4-FFF2-40B4-BE49-F238E27FC236}">
                <a16:creationId xmlns:a16="http://schemas.microsoft.com/office/drawing/2014/main" id="{C7BEA6EC-4C8B-4122-A90F-9CFD770E1E43}"/>
              </a:ext>
            </a:extLst>
          </p:cNvPr>
          <p:cNvSpPr>
            <a:spLocks noGrp="1"/>
          </p:cNvSpPr>
          <p:nvPr/>
        </p:nvSpPr>
        <p:spPr>
          <a:xfrm>
            <a:off x="628650" y="2057400"/>
            <a:ext cx="2324100" cy="323850"/>
          </a:xfrm>
          <a:prstGeom prst="rect">
            <a:avLst/>
          </a:prstGeom>
          <a:noFill/>
          <a:ln w="0">
            <a:noFill/>
            <a:prstDash val="solid"/>
          </a:ln>
        </p:spPr>
        <p:txBody>
          <a:bodyPr/>
          <a:lstStyle/>
          <a:p>
            <a:pPr algn="ctr">
              <a:defRPr sz="975" b="1">
                <a:solidFill>
                  <a:srgbClr val="70BCE8"/>
                </a:solidFill>
              </a:defRPr>
            </a:pPr>
            <a:r>
              <a:rPr sz="975" b="1">
                <a:solidFill>
                  <a:srgbClr val="70BCE8"/>
                </a:solidFill>
              </a:rPr>
              <a:t>IMPLEMENTED AT SCALE</a:t>
            </a:r>
          </a:p>
        </p:txBody>
      </p:sp>
      <p:sp>
        <p:nvSpPr>
          <p:cNvPr id="6" name="Rectangle 5">
            <a:extLst>
              <a:ext uri="{FF2B5EF4-FFF2-40B4-BE49-F238E27FC236}">
                <a16:creationId xmlns:a16="http://schemas.microsoft.com/office/drawing/2014/main" id="{96FBD7B3-7CE2-48A4-8A60-801B57085F6C}"/>
              </a:ext>
            </a:extLst>
          </p:cNvPr>
          <p:cNvSpPr>
            <a:spLocks noGrp="1"/>
          </p:cNvSpPr>
          <p:nvPr/>
        </p:nvSpPr>
        <p:spPr>
          <a:xfrm>
            <a:off x="628650" y="2781300"/>
            <a:ext cx="2324100" cy="990600"/>
          </a:xfrm>
          <a:prstGeom prst="rect">
            <a:avLst/>
          </a:prstGeom>
          <a:noFill/>
          <a:ln w="0">
            <a:noFill/>
            <a:prstDash val="solid"/>
          </a:ln>
        </p:spPr>
        <p:txBody>
          <a:bodyPr/>
          <a:lstStyle/>
          <a:p>
            <a:pPr algn="ctr">
              <a:defRPr sz="1350" b="1">
                <a:solidFill>
                  <a:srgbClr val="FFFFFF"/>
                </a:solidFill>
              </a:defRPr>
            </a:pPr>
            <a:r>
              <a:rPr sz="1350" b="1">
                <a:solidFill>
                  <a:srgbClr val="FFFFFF"/>
                </a:solidFill>
              </a:rPr>
              <a:t>10,500+ documents</a:t>
            </a:r>
          </a:p>
          <a:p>
            <a:pPr algn="ctr">
              <a:defRPr sz="1350" b="1">
                <a:solidFill>
                  <a:srgbClr val="FFFFFF"/>
                </a:solidFill>
              </a:defRPr>
            </a:pPr>
            <a:r>
              <a:rPr sz="1350" b="1">
                <a:solidFill>
                  <a:srgbClr val="FFFFFF"/>
                </a:solidFill>
              </a:rPr>
              <a:t>408,000 pages</a:t>
            </a:r>
          </a:p>
          <a:p>
            <a:pPr algn="ctr">
              <a:defRPr sz="1350" b="1">
                <a:solidFill>
                  <a:srgbClr val="FFFFFF"/>
                </a:solidFill>
              </a:defRPr>
            </a:pPr>
            <a:r>
              <a:rPr sz="1350" b="1">
                <a:solidFill>
                  <a:srgbClr val="FFFFFF"/>
                </a:solidFill>
              </a:rPr>
              <a:t>328 providers</a:t>
            </a:r>
          </a:p>
        </p:txBody>
      </p:sp>
      <p:sp>
        <p:nvSpPr>
          <p:cNvPr id="7" name="Rectangle: Rounded Corners 6">
            <a:extLst>
              <a:ext uri="{FF2B5EF4-FFF2-40B4-BE49-F238E27FC236}">
                <a16:creationId xmlns:a16="http://schemas.microsoft.com/office/drawing/2014/main" id="{7AD9A61F-08ED-4771-8E96-5801421B1375}"/>
              </a:ext>
            </a:extLst>
          </p:cNvPr>
          <p:cNvSpPr>
            <a:spLocks noGrp="1"/>
          </p:cNvSpPr>
          <p:nvPr/>
        </p:nvSpPr>
        <p:spPr>
          <a:xfrm>
            <a:off x="3327400" y="1809750"/>
            <a:ext cx="2667000" cy="2438400"/>
          </a:xfrm>
          <a:prstGeom prst="roundRect">
            <a:avLst>
              <a:gd name="adj" fmla="val 1563"/>
            </a:avLst>
          </a:prstGeom>
          <a:solidFill>
            <a:srgbClr val="0E314D"/>
          </a:solidFill>
          <a:ln w="9525">
            <a:solidFill>
              <a:srgbClr val="6B4E8C"/>
            </a:solidFill>
            <a:prstDash val="solid"/>
          </a:ln>
        </p:spPr>
        <p:txBody>
          <a:bodyPr/>
          <a:lstStyle/>
          <a:p>
            <a:endParaRPr lang="en-IN"/>
          </a:p>
        </p:txBody>
      </p:sp>
      <p:sp>
        <p:nvSpPr>
          <p:cNvPr id="8" name="Rectangle 7">
            <a:extLst>
              <a:ext uri="{FF2B5EF4-FFF2-40B4-BE49-F238E27FC236}">
                <a16:creationId xmlns:a16="http://schemas.microsoft.com/office/drawing/2014/main" id="{A8558AA1-9995-4CB8-99D4-46EABAB387BD}"/>
              </a:ext>
            </a:extLst>
          </p:cNvPr>
          <p:cNvSpPr>
            <a:spLocks noGrp="1"/>
          </p:cNvSpPr>
          <p:nvPr/>
        </p:nvSpPr>
        <p:spPr>
          <a:xfrm>
            <a:off x="3498850" y="2057400"/>
            <a:ext cx="2324100" cy="323850"/>
          </a:xfrm>
          <a:prstGeom prst="rect">
            <a:avLst/>
          </a:prstGeom>
          <a:noFill/>
          <a:ln w="0">
            <a:noFill/>
            <a:prstDash val="solid"/>
          </a:ln>
        </p:spPr>
        <p:txBody>
          <a:bodyPr/>
          <a:lstStyle/>
          <a:p>
            <a:pPr algn="ctr">
              <a:defRPr sz="975" b="1">
                <a:solidFill>
                  <a:srgbClr val="BCA3D6"/>
                </a:solidFill>
              </a:defRPr>
            </a:pPr>
            <a:r>
              <a:rPr sz="975" b="1">
                <a:solidFill>
                  <a:srgbClr val="BCA3D6"/>
                </a:solidFill>
              </a:rPr>
              <a:t>ENGINEERED FOR COMPLEXITY</a:t>
            </a:r>
          </a:p>
        </p:txBody>
      </p:sp>
      <p:sp>
        <p:nvSpPr>
          <p:cNvPr id="9" name="Rectangle 8">
            <a:extLst>
              <a:ext uri="{FF2B5EF4-FFF2-40B4-BE49-F238E27FC236}">
                <a16:creationId xmlns:a16="http://schemas.microsoft.com/office/drawing/2014/main" id="{4B5615F9-7987-4CA2-BFA6-FC8829885412}"/>
              </a:ext>
            </a:extLst>
          </p:cNvPr>
          <p:cNvSpPr>
            <a:spLocks noGrp="1"/>
          </p:cNvSpPr>
          <p:nvPr/>
        </p:nvSpPr>
        <p:spPr>
          <a:xfrm>
            <a:off x="3498850" y="2781300"/>
            <a:ext cx="2324100" cy="990600"/>
          </a:xfrm>
          <a:prstGeom prst="rect">
            <a:avLst/>
          </a:prstGeom>
          <a:noFill/>
          <a:ln w="0">
            <a:noFill/>
            <a:prstDash val="solid"/>
          </a:ln>
        </p:spPr>
        <p:txBody>
          <a:bodyPr/>
          <a:lstStyle/>
          <a:p>
            <a:pPr algn="ctr">
              <a:defRPr sz="1350" b="1">
                <a:solidFill>
                  <a:srgbClr val="FFFFFF"/>
                </a:solidFill>
              </a:defRPr>
            </a:pPr>
            <a:r>
              <a:rPr sz="1350" b="1">
                <a:solidFill>
                  <a:srgbClr val="FFFFFF"/>
                </a:solidFill>
              </a:rPr>
              <a:t>16-stage pipeline</a:t>
            </a:r>
          </a:p>
          <a:p>
            <a:pPr algn="ctr">
              <a:defRPr sz="1350" b="1">
                <a:solidFill>
                  <a:srgbClr val="FFFFFF"/>
                </a:solidFill>
              </a:defRPr>
            </a:pPr>
            <a:r>
              <a:rPr sz="1350" b="1">
                <a:solidFill>
                  <a:srgbClr val="FFFFFF"/>
                </a:solidFill>
              </a:rPr>
              <a:t>45 Delta tables</a:t>
            </a:r>
          </a:p>
          <a:p>
            <a:pPr algn="ctr">
              <a:defRPr sz="1350" b="1">
                <a:solidFill>
                  <a:srgbClr val="FFFFFF"/>
                </a:solidFill>
              </a:defRPr>
            </a:pPr>
            <a:r>
              <a:rPr sz="1350" b="1">
                <a:solidFill>
                  <a:srgbClr val="FFFFFF"/>
                </a:solidFill>
              </a:rPr>
              <a:t>Supersession-aware state</a:t>
            </a:r>
          </a:p>
        </p:txBody>
      </p:sp>
      <p:sp>
        <p:nvSpPr>
          <p:cNvPr id="10" name="Rectangle: Rounded Corners 9">
            <a:extLst>
              <a:ext uri="{FF2B5EF4-FFF2-40B4-BE49-F238E27FC236}">
                <a16:creationId xmlns:a16="http://schemas.microsoft.com/office/drawing/2014/main" id="{F20E4FEF-C681-4046-8B7A-ECB158F419F5}"/>
              </a:ext>
            </a:extLst>
          </p:cNvPr>
          <p:cNvSpPr>
            <a:spLocks noGrp="1"/>
          </p:cNvSpPr>
          <p:nvPr/>
        </p:nvSpPr>
        <p:spPr>
          <a:xfrm>
            <a:off x="6197600" y="1809750"/>
            <a:ext cx="2667000" cy="2438400"/>
          </a:xfrm>
          <a:prstGeom prst="roundRect">
            <a:avLst>
              <a:gd name="adj" fmla="val 1563"/>
            </a:avLst>
          </a:prstGeom>
          <a:solidFill>
            <a:srgbClr val="0E314D"/>
          </a:solidFill>
          <a:ln w="9525">
            <a:solidFill>
              <a:srgbClr val="007A78"/>
            </a:solidFill>
            <a:prstDash val="solid"/>
          </a:ln>
        </p:spPr>
        <p:txBody>
          <a:bodyPr/>
          <a:lstStyle/>
          <a:p>
            <a:endParaRPr lang="en-IN"/>
          </a:p>
        </p:txBody>
      </p:sp>
      <p:sp>
        <p:nvSpPr>
          <p:cNvPr id="11" name="Rectangle 10">
            <a:extLst>
              <a:ext uri="{FF2B5EF4-FFF2-40B4-BE49-F238E27FC236}">
                <a16:creationId xmlns:a16="http://schemas.microsoft.com/office/drawing/2014/main" id="{A7B08CBF-1E25-400D-B1D6-1612DA461C66}"/>
              </a:ext>
            </a:extLst>
          </p:cNvPr>
          <p:cNvSpPr>
            <a:spLocks noGrp="1"/>
          </p:cNvSpPr>
          <p:nvPr/>
        </p:nvSpPr>
        <p:spPr>
          <a:xfrm>
            <a:off x="6369050" y="2057400"/>
            <a:ext cx="2324100" cy="323850"/>
          </a:xfrm>
          <a:prstGeom prst="rect">
            <a:avLst/>
          </a:prstGeom>
          <a:noFill/>
          <a:ln w="0">
            <a:noFill/>
            <a:prstDash val="solid"/>
          </a:ln>
        </p:spPr>
        <p:txBody>
          <a:bodyPr/>
          <a:lstStyle/>
          <a:p>
            <a:pPr algn="ctr">
              <a:defRPr sz="975" b="1">
                <a:solidFill>
                  <a:srgbClr val="65CDC9"/>
                </a:solidFill>
              </a:defRPr>
            </a:pPr>
            <a:r>
              <a:rPr sz="975" b="1">
                <a:solidFill>
                  <a:srgbClr val="65CDC9"/>
                </a:solidFill>
              </a:rPr>
              <a:t>DESIGNED FOR TRUST</a:t>
            </a:r>
          </a:p>
        </p:txBody>
      </p:sp>
      <p:sp>
        <p:nvSpPr>
          <p:cNvPr id="12" name="Rectangle 11">
            <a:extLst>
              <a:ext uri="{FF2B5EF4-FFF2-40B4-BE49-F238E27FC236}">
                <a16:creationId xmlns:a16="http://schemas.microsoft.com/office/drawing/2014/main" id="{57D15005-133B-4D90-BE0E-84A3E0A4C75C}"/>
              </a:ext>
            </a:extLst>
          </p:cNvPr>
          <p:cNvSpPr>
            <a:spLocks noGrp="1"/>
          </p:cNvSpPr>
          <p:nvPr/>
        </p:nvSpPr>
        <p:spPr>
          <a:xfrm>
            <a:off x="6369050" y="2781300"/>
            <a:ext cx="2324100" cy="990600"/>
          </a:xfrm>
          <a:prstGeom prst="rect">
            <a:avLst/>
          </a:prstGeom>
          <a:noFill/>
          <a:ln w="0">
            <a:noFill/>
            <a:prstDash val="solid"/>
          </a:ln>
        </p:spPr>
        <p:txBody>
          <a:bodyPr/>
          <a:lstStyle/>
          <a:p>
            <a:pPr algn="ctr">
              <a:defRPr sz="1350" b="1">
                <a:solidFill>
                  <a:srgbClr val="FFFFFF"/>
                </a:solidFill>
              </a:defRPr>
            </a:pPr>
            <a:r>
              <a:rPr sz="1350" b="1">
                <a:solidFill>
                  <a:srgbClr val="FFFFFF"/>
                </a:solidFill>
              </a:rPr>
              <a:t>Five quality gates</a:t>
            </a:r>
          </a:p>
          <a:p>
            <a:pPr algn="ctr">
              <a:defRPr sz="1350" b="1">
                <a:solidFill>
                  <a:srgbClr val="FFFFFF"/>
                </a:solidFill>
              </a:defRPr>
            </a:pPr>
            <a:r>
              <a:rPr sz="1350" b="1">
                <a:solidFill>
                  <a:srgbClr val="FFFFFF"/>
                </a:solidFill>
              </a:rPr>
              <a:t>Layered validation</a:t>
            </a:r>
          </a:p>
          <a:p>
            <a:pPr algn="ctr">
              <a:defRPr sz="1350" b="1">
                <a:solidFill>
                  <a:srgbClr val="FFFFFF"/>
                </a:solidFill>
              </a:defRPr>
            </a:pPr>
            <a:r>
              <a:rPr sz="1350" b="1">
                <a:solidFill>
                  <a:srgbClr val="FFFFFF"/>
                </a:solidFill>
              </a:rPr>
              <a:t>Page-level evidence</a:t>
            </a:r>
          </a:p>
        </p:txBody>
      </p:sp>
      <p:sp>
        <p:nvSpPr>
          <p:cNvPr id="13" name="Rectangle: Rounded Corners 12">
            <a:extLst>
              <a:ext uri="{FF2B5EF4-FFF2-40B4-BE49-F238E27FC236}">
                <a16:creationId xmlns:a16="http://schemas.microsoft.com/office/drawing/2014/main" id="{BFCABF61-0FC2-4C94-BA56-26FFCBB096C1}"/>
              </a:ext>
            </a:extLst>
          </p:cNvPr>
          <p:cNvSpPr>
            <a:spLocks noGrp="1"/>
          </p:cNvSpPr>
          <p:nvPr/>
        </p:nvSpPr>
        <p:spPr>
          <a:xfrm>
            <a:off x="9067800" y="1809750"/>
            <a:ext cx="2667000" cy="2438400"/>
          </a:xfrm>
          <a:prstGeom prst="roundRect">
            <a:avLst>
              <a:gd name="adj" fmla="val 1563"/>
            </a:avLst>
          </a:prstGeom>
          <a:solidFill>
            <a:srgbClr val="0E314D"/>
          </a:solidFill>
          <a:ln w="9525">
            <a:solidFill>
              <a:srgbClr val="2D7D5B"/>
            </a:solidFill>
            <a:prstDash val="solid"/>
          </a:ln>
        </p:spPr>
        <p:txBody>
          <a:bodyPr/>
          <a:lstStyle/>
          <a:p>
            <a:endParaRPr lang="en-IN"/>
          </a:p>
        </p:txBody>
      </p:sp>
      <p:sp>
        <p:nvSpPr>
          <p:cNvPr id="14" name="Rectangle 13">
            <a:extLst>
              <a:ext uri="{FF2B5EF4-FFF2-40B4-BE49-F238E27FC236}">
                <a16:creationId xmlns:a16="http://schemas.microsoft.com/office/drawing/2014/main" id="{4655AFC5-A26D-4371-A162-C155282EE309}"/>
              </a:ext>
            </a:extLst>
          </p:cNvPr>
          <p:cNvSpPr>
            <a:spLocks noGrp="1"/>
          </p:cNvSpPr>
          <p:nvPr/>
        </p:nvSpPr>
        <p:spPr>
          <a:xfrm>
            <a:off x="9239250" y="2057400"/>
            <a:ext cx="2324100" cy="323850"/>
          </a:xfrm>
          <a:prstGeom prst="rect">
            <a:avLst/>
          </a:prstGeom>
          <a:noFill/>
          <a:ln w="0">
            <a:noFill/>
            <a:prstDash val="solid"/>
          </a:ln>
        </p:spPr>
        <p:txBody>
          <a:bodyPr/>
          <a:lstStyle/>
          <a:p>
            <a:pPr algn="ctr">
              <a:defRPr sz="975" b="1">
                <a:solidFill>
                  <a:srgbClr val="71C69E"/>
                </a:solidFill>
              </a:defRPr>
            </a:pPr>
            <a:r>
              <a:rPr sz="975" b="1">
                <a:solidFill>
                  <a:srgbClr val="71C69E"/>
                </a:solidFill>
              </a:rPr>
              <a:t>READY FOR NEXT STAGE</a:t>
            </a:r>
          </a:p>
        </p:txBody>
      </p:sp>
      <p:sp>
        <p:nvSpPr>
          <p:cNvPr id="15" name="Rectangle 14">
            <a:extLst>
              <a:ext uri="{FF2B5EF4-FFF2-40B4-BE49-F238E27FC236}">
                <a16:creationId xmlns:a16="http://schemas.microsoft.com/office/drawing/2014/main" id="{748A8960-6DB0-4A4C-BC4B-47D5CAEB2975}"/>
              </a:ext>
            </a:extLst>
          </p:cNvPr>
          <p:cNvSpPr>
            <a:spLocks noGrp="1"/>
          </p:cNvSpPr>
          <p:nvPr/>
        </p:nvSpPr>
        <p:spPr>
          <a:xfrm>
            <a:off x="9239250" y="2781300"/>
            <a:ext cx="2324100" cy="990600"/>
          </a:xfrm>
          <a:prstGeom prst="rect">
            <a:avLst/>
          </a:prstGeom>
          <a:noFill/>
          <a:ln w="0">
            <a:noFill/>
            <a:prstDash val="solid"/>
          </a:ln>
        </p:spPr>
        <p:txBody>
          <a:bodyPr/>
          <a:lstStyle/>
          <a:p>
            <a:pPr algn="ctr">
              <a:defRPr sz="1350" b="1">
                <a:solidFill>
                  <a:srgbClr val="FFFFFF"/>
                </a:solidFill>
              </a:defRPr>
            </a:pPr>
            <a:r>
              <a:rPr sz="1350" b="1">
                <a:solidFill>
                  <a:srgbClr val="FFFFFF"/>
                </a:solidFill>
              </a:rPr>
              <a:t>Controlled adoption</a:t>
            </a:r>
          </a:p>
          <a:p>
            <a:pPr algn="ctr">
              <a:defRPr sz="1350" b="1">
                <a:solidFill>
                  <a:srgbClr val="FFFFFF"/>
                </a:solidFill>
              </a:defRPr>
            </a:pPr>
            <a:r>
              <a:rPr sz="1350" b="1">
                <a:solidFill>
                  <a:srgbClr val="FFFFFF"/>
                </a:solidFill>
              </a:rPr>
              <a:t>Benefits measurement</a:t>
            </a:r>
          </a:p>
          <a:p>
            <a:pPr algn="ctr">
              <a:defRPr sz="1350" b="1">
                <a:solidFill>
                  <a:srgbClr val="FFFFFF"/>
                </a:solidFill>
              </a:defRPr>
            </a:pPr>
            <a:r>
              <a:rPr sz="1350" b="1">
                <a:solidFill>
                  <a:srgbClr val="FFFFFF"/>
                </a:solidFill>
              </a:rPr>
              <a:t>Multi-plan product path</a:t>
            </a:r>
          </a:p>
        </p:txBody>
      </p:sp>
      <p:sp>
        <p:nvSpPr>
          <p:cNvPr id="16" name="Rectangle 15">
            <a:extLst>
              <a:ext uri="{FF2B5EF4-FFF2-40B4-BE49-F238E27FC236}">
                <a16:creationId xmlns:a16="http://schemas.microsoft.com/office/drawing/2014/main" id="{8CCEE1DD-41CE-40F3-AB8C-BEA016E12CE5}"/>
              </a:ext>
            </a:extLst>
          </p:cNvPr>
          <p:cNvSpPr>
            <a:spLocks noGrp="1"/>
          </p:cNvSpPr>
          <p:nvPr/>
        </p:nvSpPr>
        <p:spPr>
          <a:xfrm>
            <a:off x="857250" y="4800600"/>
            <a:ext cx="10477500" cy="304800"/>
          </a:xfrm>
          <a:prstGeom prst="rect">
            <a:avLst/>
          </a:prstGeom>
          <a:noFill/>
          <a:ln w="0">
            <a:noFill/>
            <a:prstDash val="solid"/>
          </a:ln>
        </p:spPr>
        <p:txBody>
          <a:bodyPr/>
          <a:lstStyle/>
          <a:p>
            <a:pPr algn="ctr">
              <a:defRPr sz="1800" b="1">
                <a:solidFill>
                  <a:srgbClr val="BBD3E4"/>
                </a:solidFill>
              </a:defRPr>
            </a:pPr>
            <a:r>
              <a:rPr sz="1800" b="1">
                <a:solidFill>
                  <a:srgbClr val="BBD3E4"/>
                </a:solidFill>
              </a:rPr>
              <a:t>This is not a chatbot over documents.</a:t>
            </a:r>
          </a:p>
        </p:txBody>
      </p:sp>
      <p:sp>
        <p:nvSpPr>
          <p:cNvPr id="17" name="Rectangle 16">
            <a:extLst>
              <a:ext uri="{FF2B5EF4-FFF2-40B4-BE49-F238E27FC236}">
                <a16:creationId xmlns:a16="http://schemas.microsoft.com/office/drawing/2014/main" id="{4F375C25-48CF-466C-8678-FAC1A665880A}"/>
              </a:ext>
            </a:extLst>
          </p:cNvPr>
          <p:cNvSpPr>
            <a:spLocks noGrp="1"/>
          </p:cNvSpPr>
          <p:nvPr/>
        </p:nvSpPr>
        <p:spPr>
          <a:xfrm>
            <a:off x="857250" y="5276850"/>
            <a:ext cx="10477500" cy="723900"/>
          </a:xfrm>
          <a:prstGeom prst="rect">
            <a:avLst/>
          </a:prstGeom>
          <a:noFill/>
          <a:ln w="0">
            <a:noFill/>
            <a:prstDash val="solid"/>
          </a:ln>
        </p:spPr>
        <p:txBody>
          <a:bodyPr/>
          <a:lstStyle/>
          <a:p>
            <a:pPr algn="ctr">
              <a:defRPr sz="2025" b="1">
                <a:solidFill>
                  <a:srgbClr val="FFFFFF"/>
                </a:solidFill>
              </a:defRPr>
            </a:pPr>
            <a:r>
              <a:rPr sz="2025" b="1">
                <a:solidFill>
                  <a:srgbClr val="FFFFFF"/>
                </a:solidFill>
              </a:rPr>
              <a:t>It is an enterprise contract intelligence foundation—from raw contracts to the governing answer, with the evidence to prove it.</a:t>
            </a:r>
          </a:p>
        </p:txBody>
      </p:sp>
      <p:sp>
        <p:nvSpPr>
          <p:cNvPr id="18" name="Rectangle 17">
            <a:extLst>
              <a:ext uri="{FF2B5EF4-FFF2-40B4-BE49-F238E27FC236}">
                <a16:creationId xmlns:a16="http://schemas.microsoft.com/office/drawing/2014/main" id="{EB9D8A66-8655-464D-B794-24245E55247F}"/>
              </a:ext>
            </a:extLst>
          </p:cNvPr>
          <p:cNvSpPr>
            <a:spLocks noGrp="1"/>
          </p:cNvSpPr>
          <p:nvPr/>
        </p:nvSpPr>
        <p:spPr>
          <a:xfrm>
            <a:off x="11239500" y="6496050"/>
            <a:ext cx="476250" cy="152400"/>
          </a:xfrm>
          <a:prstGeom prst="rect">
            <a:avLst/>
          </a:prstGeom>
          <a:noFill/>
          <a:ln w="0">
            <a:noFill/>
            <a:prstDash val="solid"/>
          </a:ln>
        </p:spPr>
        <p:txBody>
          <a:bodyPr/>
          <a:lstStyle/>
          <a:p>
            <a:pPr algn="r">
              <a:defRPr sz="750" b="1">
                <a:solidFill>
                  <a:srgbClr val="7892A8"/>
                </a:solidFill>
              </a:defRPr>
            </a:pPr>
            <a:r>
              <a:rPr sz="750" b="1">
                <a:solidFill>
                  <a:srgbClr val="7892A8"/>
                </a:solidFill>
              </a:rPr>
              <a:t>15</a:t>
            </a:r>
          </a:p>
        </p:txBody>
      </p:sp>
    </p:spTree>
    <p:extLst>
      <p:ext uri="{BB962C8B-B14F-4D97-AF65-F5344CB8AC3E}">
        <p14:creationId xmlns:p14="http://schemas.microsoft.com/office/powerpoint/2010/main" val="20693687"/>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F2DFF56-36C9-4402-9037-99972547F5F3}">
  <we:reference id="wa200010215" version="2.0.0.0" store="en-US" storeType="OMEX"/>
  <we:alternateReferences>
    <we:reference id="WA200010215" version="2.0.0.0" store="" storeType="OMEX"/>
  </we:alternateReferences>
  <we:properties>
    <we:property name="bps.codex_control.document_id" value="&quot;12dd073d-b86c-4159-b2bf-739f9b74ec8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13</TotalTime>
  <Words>3811</Words>
  <Application>Microsoft Office PowerPoint</Application>
  <DocSecurity>0</DocSecurity>
  <PresentationFormat>Widescreen</PresentationFormat>
  <Paragraphs>484</Paragraphs>
  <Slides>15</Slides>
  <Notes>15</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15</vt:i4>
      </vt:variant>
    </vt:vector>
  </HeadingPairs>
  <TitlesOfParts>
    <vt:vector size="17" baseType="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Anukul Dixit</cp:lastModifiedBy>
  <cp:revision>1</cp:revision>
  <dcterms:created xsi:type="dcterms:W3CDTF">2026-08-13T04:41:13Z</dcterms:created>
  <dcterms:modified xsi:type="dcterms:W3CDTF">2026-08-13T05:43:30Z</dcterms:modified>
</cp:coreProperties>
</file>